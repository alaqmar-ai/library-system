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0" y="0"/>
            <a:ext cx="73152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3913632" y="5943600"/>
            <a:ext cx="5230368" cy="73152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SmartLib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8016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146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University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Management System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18288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Architecture Design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06240" y="2468880"/>
            <a:ext cx="91440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4206240" y="2834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3258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documents the architectural design of SmartLib, a web-based university library management system. It covers the key architectural decisions, component structure, data flows, and quality attributes that guide the system's design.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7863840" cy="36576"/>
          </a:xfrm>
          <a:prstGeom prst="rect">
            <a:avLst/>
          </a:prstGeom>
          <a:solidFill>
            <a:srgbClr val="E8D5C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83464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structural organization of the system and its subsystems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data flow, persistence strategy, and security mechanisms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design patterns and architectural styles employed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trade-offs and rationale behind key design decisions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as a reference for future maintenance, extension, and migration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Architectural Goals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371600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371600"/>
            <a:ext cx="64008" cy="123444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Modularity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182880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Independent, self-contained modules that can be developed and tested in isolation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371600"/>
            <a:ext cx="64008" cy="12344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16" name="Text 14"/>
          <p:cNvSpPr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182880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that can accommodate growth in data volume and feature scope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880360"/>
            <a:ext cx="64008" cy="123444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971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Maintainability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33375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 of concerns enabling efficient bug fixes and enhancements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2880360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880360"/>
            <a:ext cx="64008" cy="12344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2971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92040" y="33375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with proper session management and data isolation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4389120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389120"/>
            <a:ext cx="64008" cy="123444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4480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484632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rendering and local data access for fast, responsive interactions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63440" y="4389120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4389120"/>
            <a:ext cx="64008" cy="12344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32" name="Text 30"/>
          <p:cNvSpPr/>
          <p:nvPr/>
        </p:nvSpPr>
        <p:spPr>
          <a:xfrm>
            <a:off x="4892040" y="4480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Usability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892040" y="484632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interfaces tailored to each user role's specific workflows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Context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2926080" y="25603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2B4066"/>
          </a:solidFill>
          <a:ln/>
          <a:effectLst>
            <a:outerShdw sx="100000" sy="100000" kx="0" ky="0" algn="bl" rotWithShape="0" blurRad="63500" dist="38100" dir="16200000">
              <a:srgbClr val="999999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26080" y="265176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SmartLib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Library Management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C4603C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3716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C4603C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3716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75488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C4603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47548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475488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4A6A8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7548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68880" y="1737360"/>
            <a:ext cx="45720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1" name="Shape 19"/>
          <p:cNvSpPr/>
          <p:nvPr/>
        </p:nvSpPr>
        <p:spPr>
          <a:xfrm>
            <a:off x="2880360" y="1773936"/>
            <a:ext cx="36576" cy="78638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2" name="Shape 20"/>
          <p:cNvSpPr/>
          <p:nvPr/>
        </p:nvSpPr>
        <p:spPr>
          <a:xfrm>
            <a:off x="6217920" y="1737360"/>
            <a:ext cx="36576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0" y="1773936"/>
            <a:ext cx="36576" cy="78638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4" name="Shape 22"/>
          <p:cNvSpPr/>
          <p:nvPr/>
        </p:nvSpPr>
        <p:spPr>
          <a:xfrm>
            <a:off x="2468880" y="5120640"/>
            <a:ext cx="45720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5" name="Shape 23"/>
          <p:cNvSpPr/>
          <p:nvPr/>
        </p:nvSpPr>
        <p:spPr>
          <a:xfrm>
            <a:off x="2880360" y="4023360"/>
            <a:ext cx="36576" cy="109728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0" y="5120640"/>
            <a:ext cx="36576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7" name="Shape 25"/>
          <p:cNvSpPr/>
          <p:nvPr/>
        </p:nvSpPr>
        <p:spPr>
          <a:xfrm>
            <a:off x="6217920" y="4023360"/>
            <a:ext cx="36576" cy="1097280"/>
          </a:xfrm>
          <a:prstGeom prst="rect">
            <a:avLst/>
          </a:prstGeom>
          <a:solidFill>
            <a:srgbClr val="6B728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Architectural Style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Single Page Application (SPA) with modular JavaScript architecture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communication between loosely coupled modules using custom events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data persistence layer abstracting storage operations behind a clean API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MVC-inspired separation of concerns — views (HTML/CSS), controllers (JS modules), models (data layer)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Convention-based routing with role-specific page loading and access validation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53492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C4603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5349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97480" y="53492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2B4066"/>
          </a:solidFill>
          <a:ln/>
        </p:spPr>
      </p:sp>
      <p:sp>
        <p:nvSpPr>
          <p:cNvPr id="14" name="Text 12"/>
          <p:cNvSpPr/>
          <p:nvPr/>
        </p:nvSpPr>
        <p:spPr>
          <a:xfrm>
            <a:off x="2697480" y="5349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53492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4A6A8A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5349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MVC-Inspired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12280" y="53492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5349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JS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Architecture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46304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463040"/>
            <a:ext cx="1920240" cy="64008"/>
          </a:xfrm>
          <a:prstGeom prst="rect">
            <a:avLst>
              <a:gd name="adj" fmla="val 42857"/>
            </a:avLst>
          </a:prstGeom>
          <a:solidFill>
            <a:srgbClr val="2B40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64592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51760" y="146304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51760" y="1463040"/>
            <a:ext cx="1920240" cy="64008"/>
          </a:xfrm>
          <a:prstGeom prst="rect">
            <a:avLst>
              <a:gd name="adj" fmla="val 42857"/>
            </a:avLst>
          </a:prstGeom>
          <a:solidFill>
            <a:srgbClr val="C4603C"/>
          </a:solidFill>
          <a:ln/>
        </p:spPr>
      </p:sp>
      <p:sp>
        <p:nvSpPr>
          <p:cNvPr id="15" name="Text 13"/>
          <p:cNvSpPr/>
          <p:nvPr/>
        </p:nvSpPr>
        <p:spPr>
          <a:xfrm>
            <a:off x="2651760" y="164592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Catalog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46304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463040"/>
            <a:ext cx="1920240" cy="64008"/>
          </a:xfrm>
          <a:prstGeom prst="rect">
            <a:avLst>
              <a:gd name="adj" fmla="val 42857"/>
            </a:avLst>
          </a:prstGeom>
          <a:solidFill>
            <a:srgbClr val="2B406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64592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Borrowing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040880" y="146304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0" y="1463040"/>
            <a:ext cx="1920240" cy="64008"/>
          </a:xfrm>
          <a:prstGeom prst="rect">
            <a:avLst>
              <a:gd name="adj" fmla="val 42857"/>
            </a:avLst>
          </a:prstGeom>
          <a:solidFill>
            <a:srgbClr val="C4603C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164592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47472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474720"/>
            <a:ext cx="1920240" cy="64008"/>
          </a:xfrm>
          <a:prstGeom prst="rect">
            <a:avLst>
              <a:gd name="adj" fmla="val 42857"/>
            </a:avLst>
          </a:prstGeom>
          <a:solidFill>
            <a:srgbClr val="2B4066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65760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51760" y="347472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651760" y="3474720"/>
            <a:ext cx="1920240" cy="64008"/>
          </a:xfrm>
          <a:prstGeom prst="rect">
            <a:avLst>
              <a:gd name="adj" fmla="val 42857"/>
            </a:avLst>
          </a:prstGeom>
          <a:solidFill>
            <a:srgbClr val="C4603C"/>
          </a:solidFill>
          <a:ln/>
        </p:spPr>
      </p:sp>
      <p:sp>
        <p:nvSpPr>
          <p:cNvPr id="27" name="Text 25"/>
          <p:cNvSpPr/>
          <p:nvPr/>
        </p:nvSpPr>
        <p:spPr>
          <a:xfrm>
            <a:off x="2651760" y="365760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47472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474720"/>
            <a:ext cx="1920240" cy="64008"/>
          </a:xfrm>
          <a:prstGeom prst="rect">
            <a:avLst>
              <a:gd name="adj" fmla="val 42857"/>
            </a:avLst>
          </a:prstGeom>
          <a:solidFill>
            <a:srgbClr val="2B4066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65760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040880" y="3474720"/>
            <a:ext cx="1920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040880" y="3474720"/>
            <a:ext cx="1920240" cy="64008"/>
          </a:xfrm>
          <a:prstGeom prst="rect">
            <a:avLst>
              <a:gd name="adj" fmla="val 42857"/>
            </a:avLst>
          </a:prstGeom>
          <a:solidFill>
            <a:srgbClr val="C4603C"/>
          </a:solidFill>
          <a:ln/>
        </p:spPr>
      </p:sp>
      <p:sp>
        <p:nvSpPr>
          <p:cNvPr id="33" name="Text 31"/>
          <p:cNvSpPr/>
          <p:nvPr/>
        </p:nvSpPr>
        <p:spPr>
          <a:xfrm>
            <a:off x="7040880" y="365760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Settings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57784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2B4066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55778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Services:   Data Access Layer   |   Event Bus   |   Validation   |   Session Management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Architecture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Entity-relationship model with six core entities: Users, Books, Borrowings, Reservations, Fines, Settings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stored as JSON objects in the browser's localStorage API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 provides CRUD operations with built-in validation and error handling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integrity enforced at the application level through ID-based relationships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read-write operations prevent partial updates and data corruption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key naming convention for organized storage: smartlib_users, smartlib_books, etc.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257800"/>
            <a:ext cx="7863840" cy="36576"/>
          </a:xfrm>
          <a:prstGeom prst="rect">
            <a:avLst/>
          </a:prstGeom>
          <a:solidFill>
            <a:srgbClr val="E8D5CC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553212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C4603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532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0" y="548640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017520" y="553212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2B4066"/>
          </a:solidFill>
          <a:ln/>
        </p:spPr>
      </p:sp>
      <p:sp>
        <p:nvSpPr>
          <p:cNvPr id="16" name="Text 14"/>
          <p:cNvSpPr/>
          <p:nvPr/>
        </p:nvSpPr>
        <p:spPr>
          <a:xfrm>
            <a:off x="3017520" y="5532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548640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120640" y="553212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C4603C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0" y="5532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548640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223760" y="5532120"/>
            <a:ext cx="1645920" cy="457200"/>
          </a:xfrm>
          <a:prstGeom prst="roundRect">
            <a:avLst>
              <a:gd name="adj" fmla="val 10000"/>
            </a:avLst>
          </a:prstGeom>
          <a:solidFill>
            <a:srgbClr val="2B4066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0" y="5532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Flow Diagram — Level 0 (Context)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3017520" y="2560320"/>
            <a:ext cx="3108960" cy="1828800"/>
          </a:xfrm>
          <a:prstGeom prst="ellipse">
            <a:avLst/>
          </a:prstGeom>
          <a:solidFill>
            <a:srgbClr val="2B4066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17520" y="283464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SmartLib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1828800" cy="594360"/>
          </a:xfrm>
          <a:prstGeom prst="rect">
            <a:avLst>
              <a:gd name="adj" fmla="val 7692"/>
            </a:avLst>
          </a:prstGeom>
          <a:solidFill>
            <a:srgbClr val="C4603C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371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2011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Borrow,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Reserve, Pay Fines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675120" y="1371600"/>
            <a:ext cx="1828800" cy="594360"/>
          </a:xfrm>
          <a:prstGeom prst="rect">
            <a:avLst>
              <a:gd name="adj" fmla="val 7692"/>
            </a:avLst>
          </a:prstGeom>
          <a:solidFill>
            <a:srgbClr val="C4603C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0" y="1371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63440" y="2011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Books,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Issue/Return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5029200"/>
            <a:ext cx="1828800" cy="594360"/>
          </a:xfrm>
          <a:prstGeom prst="rect">
            <a:avLst>
              <a:gd name="adj" fmla="val 7692"/>
            </a:avLst>
          </a:prstGeom>
          <a:solidFill>
            <a:srgbClr val="C4603C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50292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94560" y="44805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Users,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System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75120" y="5029200"/>
            <a:ext cx="1828800" cy="594360"/>
          </a:xfrm>
          <a:prstGeom prst="rect">
            <a:avLst>
              <a:gd name="adj" fmla="val 7692"/>
            </a:avLst>
          </a:prstGeom>
          <a:solidFill>
            <a:srgbClr val="C4603C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50292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63440" y="44805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Read/Write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Data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Flow Diagram — Level 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371600"/>
            <a:ext cx="2377440" cy="1371600"/>
          </a:xfrm>
          <a:prstGeom prst="ellipse">
            <a:avLst/>
          </a:prstGeom>
          <a:solidFill>
            <a:srgbClr val="2B4066"/>
          </a:solidFill>
          <a:ln/>
          <a:effectLst>
            <a:outerShdw sx="100000" sy="100000" kx="0" ky="0" algn="bl" rotWithShape="0" blurRad="38100" dist="25400" dir="16200000">
              <a:srgbClr val="AAAAAA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4630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17520" y="1371600"/>
            <a:ext cx="2377440" cy="1371600"/>
          </a:xfrm>
          <a:prstGeom prst="ellipse">
            <a:avLst/>
          </a:prstGeom>
          <a:solidFill>
            <a:srgbClr val="C4603C"/>
          </a:solidFill>
          <a:ln/>
          <a:effectLst>
            <a:outerShdw sx="100000" sy="100000" kx="0" ky="0" algn="bl" rotWithShape="0" blurRad="38100" dist="25400" dir="16200000">
              <a:srgbClr val="AAAAAA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4630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00400" y="16916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0" y="1371600"/>
            <a:ext cx="2377440" cy="1371600"/>
          </a:xfrm>
          <a:prstGeom prst="ellipse">
            <a:avLst/>
          </a:prstGeom>
          <a:solidFill>
            <a:srgbClr val="2B4066"/>
          </a:solidFill>
          <a:ln/>
          <a:effectLst>
            <a:outerShdw sx="100000" sy="100000" kx="0" ky="0" algn="bl" rotWithShape="0" blurRad="38100" dist="25400" dir="16200000">
              <a:srgbClr val="AAAAAA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14630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0" y="16916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657600"/>
            <a:ext cx="2377440" cy="1371600"/>
          </a:xfrm>
          <a:prstGeom prst="ellipse">
            <a:avLst/>
          </a:prstGeom>
          <a:solidFill>
            <a:srgbClr val="C4603C"/>
          </a:solidFill>
          <a:ln/>
          <a:effectLst>
            <a:outerShdw sx="100000" sy="100000" kx="0" ky="0" algn="bl" rotWithShape="0" blurRad="38100" dist="25400" dir="16200000">
              <a:srgbClr val="AAAAAA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37490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39776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17520" y="3657600"/>
            <a:ext cx="2377440" cy="1371600"/>
          </a:xfrm>
          <a:prstGeom prst="ellipse">
            <a:avLst/>
          </a:prstGeom>
          <a:solidFill>
            <a:srgbClr val="2B4066"/>
          </a:solidFill>
          <a:ln/>
          <a:effectLst>
            <a:outerShdw sx="100000" sy="100000" kx="0" ky="0" algn="bl" rotWithShape="0" blurRad="38100" dist="25400" dir="16200000">
              <a:srgbClr val="AAAAAA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749040" y="37490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39776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60720" y="3657600"/>
            <a:ext cx="2377440" cy="1371600"/>
          </a:xfrm>
          <a:prstGeom prst="ellipse">
            <a:avLst/>
          </a:prstGeom>
          <a:solidFill>
            <a:srgbClr val="C4603C"/>
          </a:solidFill>
          <a:ln/>
          <a:effectLst>
            <a:outerShdw sx="100000" sy="100000" kx="0" ky="0" algn="bl" rotWithShape="0" blurRad="38100" dist="25400" dir="16200000">
              <a:srgbClr val="AAAAAA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92240" y="37490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39776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532120"/>
            <a:ext cx="77724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2B40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55321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Users    |    D2: Books    |    D3: Borrowings    |    D4: Reservations    |    D5: Fines    |    D6: Settings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Architecture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 — three distinct permission levels enforced at the page and function level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 using sessionStorage — user credentials validated on each page 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and sanitization on all user-facing forms to prevent injection and data corruption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 — students can only access their own borrowing records, fines, and profile data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password handling with client-side hashing for demonstration purposes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session timeout and forced re-authentication after periods of inactivity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394960"/>
            <a:ext cx="7863840" cy="36576"/>
          </a:xfrm>
          <a:prstGeom prst="rect">
            <a:avLst/>
          </a:prstGeom>
          <a:solidFill>
            <a:srgbClr val="E8D5CC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562356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6235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Full Access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562356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2B406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56235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Librarian: Books + Transactions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562356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C4603C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56235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Read + Self-Service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Architecture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786384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web application — requires only a standard web server or can run from the file system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client-side execution — no server-side runtime, database server, or API dependencies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application logic runs in the user's browser using standard Web APIs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persisted locally in the browser's localStorage — no network calls for data operations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Cross-browser compatible — tested on Chrome, Firefox, Edge, and Safari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Zero-configuration deployment — copy files to any static hosting provider and serve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5029200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2B4066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50292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/ CDN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0" y="50292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603C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206240" y="5029200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C4603C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50292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User's Browser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603C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040880" y="502920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5029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Patterns Used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371600"/>
            <a:ext cx="64008" cy="10058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4447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Pattern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functional area is encapsulated in its own module with a clear public interface, hiding internal implementation details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606040"/>
            <a:ext cx="64008" cy="100584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67919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Observer Pattern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299008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event system enables loose coupling between modules — components subscribe to and emit events without direct dependencies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840480"/>
            <a:ext cx="64008" cy="10058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136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Repository Pattern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224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 provides a collection-like interface for data operations, abstracting the underlying localStorage mechanism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507492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5074920"/>
            <a:ext cx="64008" cy="100584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1480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Pattern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1520" y="545896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rendering uses interchangeable strategies to display different UI components and navigation based on the authenticated user's role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Attributes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371600"/>
            <a:ext cx="40233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371600"/>
            <a:ext cx="4023360" cy="64008"/>
          </a:xfrm>
          <a:prstGeom prst="rect">
            <a:avLst>
              <a:gd name="adj" fmla="val 42857"/>
            </a:avLst>
          </a:prstGeom>
          <a:solidFill>
            <a:srgbClr val="C4603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19659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rendering eliminates server round-trips. Data retrieved from localStorage in microseconds. DOM manipulation optimized for minimal reflows.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0233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371600"/>
            <a:ext cx="4023360" cy="64008"/>
          </a:xfrm>
          <a:prstGeom prst="rect">
            <a:avLst>
              <a:gd name="adj" fmla="val 42857"/>
            </a:avLst>
          </a:prstGeom>
          <a:solidFill>
            <a:srgbClr val="2B4066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19659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local storage survives page refreshes and browser restarts. Validation prevents data corruption. Graceful error handling across all modules.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40233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03320"/>
            <a:ext cx="4023360" cy="64008"/>
          </a:xfrm>
          <a:prstGeom prst="rect">
            <a:avLst>
              <a:gd name="adj" fmla="val 42857"/>
            </a:avLst>
          </a:prstGeom>
          <a:solidFill>
            <a:srgbClr val="C4603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60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Usability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29768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 adapts to all screen sizes. Role-tailored interfaces reduce cognitive load. Consistent visual language and interaction patterns.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3703320"/>
            <a:ext cx="40233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25400" dir="16200000">
              <a:srgbClr val="BBBBBB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703320"/>
            <a:ext cx="4023360" cy="64008"/>
          </a:xfrm>
          <a:prstGeom prst="rect">
            <a:avLst>
              <a:gd name="adj" fmla="val 42857"/>
            </a:avLst>
          </a:prstGeom>
          <a:solidFill>
            <a:srgbClr val="2B4066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4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Maintainability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846320" y="429768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architecture enables independent updates. Consistent coding conventions. Separation of structure (HTML), presentation (CSS), and behavior (JS).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Trade-offs &amp; Decisions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2B406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localStorage vs. Backend Database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82296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18745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server infrastructure complexity. Enables offline capability and instant data access. Trade-off: limited storage (~5MB) and no multi-device sync.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C4603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Vanilla JavaScript vs. Framework (React/Vue)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4747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build complexity and dependencies. Demonstrates core programming skills. Trade-off: more manual DOM management and state handling.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2B406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5720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 Page Application vs. Multi-Page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29200"/>
            <a:ext cx="82296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CCCCC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5074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seamless navigation without full page reloads. Simpler routing with role-based page separation. Trade-off: initial load includes all code.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0" y="65653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 |  Software Architecture Design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" y="54864"/>
            <a:ext cx="9034272" cy="868680"/>
          </a:xfrm>
          <a:prstGeom prst="rect">
            <a:avLst/>
          </a:prstGeom>
          <a:solidFill>
            <a:srgbClr val="2B4066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7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923544"/>
            <a:ext cx="1463040" cy="45720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SmartLib architecture was designed with careful attention to modularity, maintainability, and user experience. Each architectural decision — from the choice of a client-side SPA to the use of localStorage for persistence — was made with a clear understanding of the trade-offs involved.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697480"/>
            <a:ext cx="7863840" cy="36576"/>
          </a:xfrm>
          <a:prstGeom prst="rect">
            <a:avLst/>
          </a:prstGeom>
          <a:solidFill>
            <a:srgbClr val="E8D5C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92608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component architecture enables independent development and testing of each subsystem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access layer provides a clean abstraction over browser storage mechanisms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security model ensures appropriate access control across all system functions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(Module, Observer, Repository, Strategy) promote clean, maintainable code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is designed to facilitate future migration to a server-based solution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40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2192000" cy="73152"/>
          </a:xfrm>
          <a:prstGeom prst="rect">
            <a:avLst/>
          </a:prstGeom>
          <a:solidFill>
            <a:srgbClr val="C4603C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64592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0" y="3474720"/>
            <a:ext cx="1219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475488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SmartLib — Software Architecture Design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5943600"/>
            <a:ext cx="2743200" cy="54864"/>
          </a:xfrm>
          <a:prstGeom prst="rect">
            <a:avLst/>
          </a:prstGeom>
          <a:solidFill>
            <a:srgbClr val="C4603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SmartLib - Software Architecture Design</dc:title>
  <dc:subject>PptxGenJS Presentation</dc:subject>
  <dc:creator>SmartLib Team</dc:creator>
  <cp:lastModifiedBy>SmartLib Team</cp:lastModifiedBy>
  <cp:revision>1</cp:revision>
  <dcterms:created xsi:type="dcterms:W3CDTF">2026-04-06T01:56:30Z</dcterms:created>
  <dcterms:modified xsi:type="dcterms:W3CDTF">2026-04-06T01:56:30Z</dcterms:modified>
</cp:coreProperties>
</file>