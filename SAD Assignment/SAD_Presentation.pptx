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3913632" y="5943600"/>
            <a:ext cx="5230368" cy="73152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SmartLib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28016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14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 Design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06240" y="2468880"/>
            <a:ext cx="91440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788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108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Al-Aqmar Bin Qaid-E Johar (1121250326560)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3383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Hashem Maged Ali Alhasani (0121250326706)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0" y="3657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Sharjeel Muhammad (0121250326923)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39319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Abdullah Saleh Abdullah (0121250326783)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0" y="42062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Ateegalla Fadlalseed Ateegalla Ahmed (0121250326810)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4480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Ibrahim Muhammad (0121250326708)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25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documents the architectural design of SmartLib, a web-based university library management system. It covers the key architectural decisions, component structure, data flows, and quality attributes that guide the system's design.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7863840" cy="36576"/>
          </a:xfrm>
          <a:prstGeom prst="rect">
            <a:avLst/>
          </a:prstGeom>
          <a:solidFill>
            <a:srgbClr val="E8D5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structural organization of the system and its subsystems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data flow, persistence strategy, and security mechanisms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design patterns and architectural styles employed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trade-offs and rationale behind key design decisions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reference for future maintenance, extension, and migration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Goals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64008" cy="12344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self-contained modules that can be developed and tested in isolation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that can accommodate growth in data volume and feature scope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64008" cy="12344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337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enabling efficient bug fixes and enhancements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80360"/>
            <a:ext cx="64008" cy="12344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337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proper session management and data isolation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389120"/>
            <a:ext cx="64008" cy="12344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 and local data access for fast, responsive interactions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438912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389120"/>
            <a:ext cx="64008" cy="12344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4846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interfaces tailored to each user role's specific workflows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Context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25603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2B4066"/>
          </a:solidFill>
          <a:ln/>
          <a:effectLst>
            <a:outerShdw sx="100000" sy="100000" kx="0" ky="0" algn="bl" rotWithShape="0" blurRad="63500" dist="38100" dir="16200000">
              <a:srgbClr val="999999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SmartLib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Management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371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371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75488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460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475488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4A6A8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1737360"/>
            <a:ext cx="45720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Shape 19"/>
          <p:cNvSpPr/>
          <p:nvPr/>
        </p:nvSpPr>
        <p:spPr>
          <a:xfrm>
            <a:off x="2880360" y="1773936"/>
            <a:ext cx="36576" cy="7863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737360"/>
            <a:ext cx="36576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773936"/>
            <a:ext cx="36576" cy="78638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2468880" y="5120640"/>
            <a:ext cx="45720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2880360" y="4023360"/>
            <a:ext cx="36576" cy="10972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5120640"/>
            <a:ext cx="36576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4023360"/>
            <a:ext cx="36576" cy="1097280"/>
          </a:xfrm>
          <a:prstGeom prst="rect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Style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Single Page Application (SPA) with modular JavaScript architecture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communication between loosely coupled modules using custom events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persistence layer abstracting storage operations behind a clean API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MVC-inspired separation of concerns — views (HTML/CSS), controllers (JS modules), models (data layer)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Convention-based routing with role-specific page loading and access validation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3492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53492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53492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4A6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MVC-Inspired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53492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JS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630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63040"/>
            <a:ext cx="192024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14630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463040"/>
            <a:ext cx="192024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645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Catalog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63040"/>
            <a:ext cx="192024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45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4630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463040"/>
            <a:ext cx="192024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645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74720"/>
            <a:ext cx="192024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57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5176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51760" y="3474720"/>
            <a:ext cx="192024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3657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474720"/>
            <a:ext cx="192024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657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4088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40880" y="3474720"/>
            <a:ext cx="192024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3657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5778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2B406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577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Services:   Data Access Layer   |   Event Bus   |   Validation   |   Session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 with six core entities: Users, Books, Borrowings, Reservations, Fines, Settings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as JSON objects in the browser's localStorage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provides CRUD operations with built-in validation and error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 at the application level through ID-based relationships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read-write operations prevent partial updates and data corruption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key naming convention for organized storage: smartlib_users, smartlib_books, etc.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7863840" cy="36576"/>
          </a:xfrm>
          <a:prstGeom prst="rect">
            <a:avLst/>
          </a:prstGeom>
          <a:solidFill>
            <a:srgbClr val="E8D5C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5532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5486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017520" y="5532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5486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20640" y="5532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5486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23760" y="5532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 — Level 0 (Context)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2560320"/>
            <a:ext cx="3108960" cy="1828800"/>
          </a:xfrm>
          <a:prstGeom prst="ellipse">
            <a:avLst/>
          </a:prstGeom>
          <a:solidFill>
            <a:srgbClr val="2B4066"/>
          </a:solidFill>
          <a:ln/>
          <a:effectLst>
            <a:outerShdw sx="100000" sy="100000" kx="0" ky="0" algn="bl" rotWithShape="0" blurRad="50800" dist="25400" dir="162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8346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SmartLib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828800" cy="594360"/>
          </a:xfrm>
          <a:prstGeom prst="rect">
            <a:avLst>
              <a:gd name="adj" fmla="val 7692"/>
            </a:avLst>
          </a:prstGeom>
          <a:solidFill>
            <a:srgbClr val="C460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Borrow,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Pay Fines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1828800" cy="594360"/>
          </a:xfrm>
          <a:prstGeom prst="rect">
            <a:avLst>
              <a:gd name="adj" fmla="val 7692"/>
            </a:avLst>
          </a:prstGeom>
          <a:solidFill>
            <a:srgbClr val="C4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Books,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Issue/Return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5029200"/>
            <a:ext cx="1828800" cy="594360"/>
          </a:xfrm>
          <a:prstGeom prst="rect">
            <a:avLst>
              <a:gd name="adj" fmla="val 7692"/>
            </a:avLst>
          </a:prstGeom>
          <a:solidFill>
            <a:srgbClr val="C4603C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5029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4480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System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5029200"/>
            <a:ext cx="1828800" cy="594360"/>
          </a:xfrm>
          <a:prstGeom prst="rect">
            <a:avLst>
              <a:gd name="adj" fmla="val 7692"/>
            </a:avLst>
          </a:prstGeom>
          <a:solidFill>
            <a:srgbClr val="C4603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5029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480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Data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 — Level 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371600"/>
            <a:ext cx="2377440" cy="1371600"/>
          </a:xfrm>
          <a:prstGeom prst="ellipse">
            <a:avLst/>
          </a:prstGeom>
          <a:solidFill>
            <a:srgbClr val="2B4066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371600"/>
            <a:ext cx="2377440" cy="1371600"/>
          </a:xfrm>
          <a:prstGeom prst="ellipse">
            <a:avLst/>
          </a:prstGeom>
          <a:solidFill>
            <a:srgbClr val="C4603C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2377440" cy="1371600"/>
          </a:xfrm>
          <a:prstGeom prst="ellipse">
            <a:avLst/>
          </a:prstGeom>
          <a:solidFill>
            <a:srgbClr val="2B4066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2377440" cy="1371600"/>
          </a:xfrm>
          <a:prstGeom prst="ellipse">
            <a:avLst/>
          </a:prstGeom>
          <a:solidFill>
            <a:srgbClr val="C4603C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3657600"/>
            <a:ext cx="2377440" cy="1371600"/>
          </a:xfrm>
          <a:prstGeom prst="ellipse">
            <a:avLst/>
          </a:prstGeom>
          <a:solidFill>
            <a:srgbClr val="2B4066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4904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977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657600"/>
            <a:ext cx="2377440" cy="1371600"/>
          </a:xfrm>
          <a:prstGeom prst="ellipse">
            <a:avLst/>
          </a:prstGeom>
          <a:solidFill>
            <a:srgbClr val="C4603C"/>
          </a:solidFill>
          <a:ln/>
          <a:effectLst>
            <a:outerShdw sx="100000" sy="100000" kx="0" ky="0" algn="bl" rotWithShape="0" blurRad="38100" dist="25400" dir="16200000">
              <a:srgbClr val="AAAAAA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3977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532120"/>
            <a:ext cx="77724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B40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532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Users    |    D2: Books    |    D3: Borrowings    |    D4: Reservations    |    D5: Fines    |    D6: Settings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— three distinct permission levels enforced at the page and function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using sessionStorage — user credentials validated on each page 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sanitization on all user-facing forms to prevent injection and data corruption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 — students can only access their own borrowing records, fines, and profile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handling with client-side hashing for demonstration purposes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session timeout and forced re-authentication after periods of inactivity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394960"/>
            <a:ext cx="7863840" cy="36576"/>
          </a:xfrm>
          <a:prstGeom prst="rect">
            <a:avLst/>
          </a:prstGeom>
          <a:solidFill>
            <a:srgbClr val="E8D5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62356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623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Full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562356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5623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Librarian: Books + 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562356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5623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Read + Self-Service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application — requires only a standard web server or can run from the file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client-side execution — no server-side runtime, database server, or API dependencies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logic runs in the user's browser using standard Web APIs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persisted locally in the browser's localStorage — no network calls for data operations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compatible — tested on Chrome, Firefox, Edge, and Safari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Zero-configuration deployment — copy files to any static hosting provider and serve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502920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2B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/ CDN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603C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06240" y="502920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Browser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5029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603C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40880" y="50292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5029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 Used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64008" cy="10058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447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7556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functional area is encapsulated in its own module with a clear public interface, hiding internal implementation details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64008" cy="10058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79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Observer Pattern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9900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event system enables loose coupling between modules — components subscribe to and emit events without direct dependencies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136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Pattern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2245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provides a collection-like interface for data operations, abstracting the underlying localStorage mechanism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5074920"/>
            <a:ext cx="64008" cy="100584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1480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Pattern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4589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rendering uses interchangeable strategies to display different UI components and navigation based on the authenticated user's role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Attributes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402336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9659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 eliminates server round-trips. Data retrieved from localStorage in microseconds. DOM manipulation optimized for minimal reflows.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402336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storage survives page refreshes and browser restarts. Validation prevents data corruption. Graceful error handling across all modules.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03320"/>
            <a:ext cx="4023360" cy="64008"/>
          </a:xfrm>
          <a:prstGeom prst="rect">
            <a:avLst>
              <a:gd name="adj" fmla="val 42857"/>
            </a:avLst>
          </a:prstGeom>
          <a:solidFill>
            <a:srgbClr val="C460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adapts to all screen sizes. Role-tailored interfaces reduce cognitive load. Consistent visual language and interaction patterns.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70332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16200000">
              <a:srgbClr val="BBBBBB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703320"/>
            <a:ext cx="4023360" cy="64008"/>
          </a:xfrm>
          <a:prstGeom prst="rect">
            <a:avLst>
              <a:gd name="adj" fmla="val 42857"/>
            </a:avLst>
          </a:prstGeom>
          <a:solidFill>
            <a:srgbClr val="2B406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4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4297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enables independent updates. Consistent coding conventions. Separation of structure (HTML), presentation (CSS), and behavior (JS).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Trade-offs &amp; Decisions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 vs. Backend Database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server infrastructure complexity. Enables offline capability and instant data access. Trade-off: limited storage (~5MB) and no multi-device sync.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C4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Vanilla JavaScript vs. Framework (React/Vue)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build complexity and dependencies. Demonstrates core programming skills. Trade-off: more manual DOM management and state handling.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2B40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Page Application vs. Multi-Page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CCCCCC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5074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seamless navigation without full page reloads. Simpler routing with role-based page separation. Trade-off: initial load includes all code.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65653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 |  Software Architecture Design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54864"/>
            <a:ext cx="9034272" cy="868680"/>
          </a:xfrm>
          <a:prstGeom prst="rect">
            <a:avLst/>
          </a:prstGeom>
          <a:solidFill>
            <a:srgbClr val="2B406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923544"/>
            <a:ext cx="1463040" cy="45720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258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SmartLib architecture was designed with careful attention to modularity, maintainability, and user experience. Each architectural decision — from the choice of a client-side SPA to the use of localStorage for persistence — was made with a clear understanding of the trade-offs involved.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7863840" cy="36576"/>
          </a:xfrm>
          <a:prstGeom prst="rect">
            <a:avLst/>
          </a:prstGeom>
          <a:solidFill>
            <a:srgbClr val="E8D5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 architecture enables independent development and testing of each subsystem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access layer provides a clean abstraction over browser storage mechanisms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model ensures appropriate access control across all system functions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(Module, Observer, Repository, Strategy) promote clean, maintainable code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designed to facilitate future migration to a server-based solution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4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2000" cy="73152"/>
          </a:xfrm>
          <a:prstGeom prst="rect">
            <a:avLst/>
          </a:prstGeom>
          <a:solidFill>
            <a:srgbClr val="C4603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SmartLib — Software Architecture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5943600"/>
            <a:ext cx="2743200" cy="54864"/>
          </a:xfrm>
          <a:prstGeom prst="rect">
            <a:avLst/>
          </a:prstGeom>
          <a:solidFill>
            <a:srgbClr val="C460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SmartLib - Software Architecture Design</dc:title>
  <dc:subject>PptxGenJS Presentation</dc:subject>
  <dc:creator>SmartLib Team</dc:creator>
  <cp:lastModifiedBy>SmartLib Team</cp:lastModifiedBy>
  <cp:revision>1</cp:revision>
  <dcterms:created xsi:type="dcterms:W3CDTF">2026-05-17T07:16:13Z</dcterms:created>
  <dcterms:modified xsi:type="dcterms:W3CDTF">2026-05-17T07:16:13Z</dcterms:modified>
</cp:coreProperties>
</file>