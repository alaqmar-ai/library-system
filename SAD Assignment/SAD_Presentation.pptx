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1920240"/>
            <a:ext cx="9418320" cy="54864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10312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Smart University Library</a:t>
            </a:r>
            <a:br/>
            <a:r>
              <a:t>Management System (SmartLib)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38328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2200" b="0">
                <a:solidFill>
                  <a:srgbClr val="B2DFDB"/>
                </a:solidFill>
                <a:latin typeface="Calibri"/>
              </a:defRPr>
            </a:pPr>
            <a:r>
              <a:t>System Analysis and Design – Group Assignment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3977639"/>
            <a:ext cx="3931920" cy="36576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20624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600" b="1">
                <a:solidFill>
                  <a:srgbClr val="FFB300"/>
                </a:solidFill>
                <a:latin typeface="Calibri"/>
              </a:defRPr>
            </a:pPr>
            <a:r>
              <a:t>Group Members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5720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Member 1  •  Member 2  •  Member 3  •  Member 4  •  Member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21208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600" b="0">
                <a:solidFill>
                  <a:srgbClr val="B2DFDB"/>
                </a:solidFill>
                <a:latin typeface="Calibri"/>
              </a:defRPr>
            </a:pPr>
            <a: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836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FFFFFF"/>
                </a:solidFill>
                <a:latin typeface="Calibri"/>
              </a:defRPr>
            </a:pPr>
            <a:r>
              <a:t>SmartLib – Smart University Library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999999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1097280" y="1325880"/>
            <a:ext cx="502920" cy="502920"/>
          </a:xfrm>
          <a:prstGeom prst="ellipse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39903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Introduction &amp; Problem Statement</a:t>
            </a:r>
          </a:p>
        </p:txBody>
      </p:sp>
      <p:sp>
        <p:nvSpPr>
          <p:cNvPr id="10" name="Oval 9"/>
          <p:cNvSpPr/>
          <p:nvPr/>
        </p:nvSpPr>
        <p:spPr>
          <a:xfrm>
            <a:off x="1097280" y="1892808"/>
            <a:ext cx="502920" cy="502920"/>
          </a:xfrm>
          <a:prstGeom prst="ellipse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96596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Current Environment Weaknesses</a:t>
            </a:r>
          </a:p>
        </p:txBody>
      </p:sp>
      <p:sp>
        <p:nvSpPr>
          <p:cNvPr id="12" name="Oval 11"/>
          <p:cNvSpPr/>
          <p:nvPr/>
        </p:nvSpPr>
        <p:spPr>
          <a:xfrm>
            <a:off x="1097280" y="2459736"/>
            <a:ext cx="502920" cy="502920"/>
          </a:xfrm>
          <a:prstGeom prst="ellipse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53288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Proposed Improvement – SmartLib</a:t>
            </a:r>
          </a:p>
        </p:txBody>
      </p:sp>
      <p:sp>
        <p:nvSpPr>
          <p:cNvPr id="14" name="Oval 13"/>
          <p:cNvSpPr/>
          <p:nvPr/>
        </p:nvSpPr>
        <p:spPr>
          <a:xfrm>
            <a:off x="1097280" y="3026664"/>
            <a:ext cx="502920" cy="502920"/>
          </a:xfrm>
          <a:prstGeom prst="ellipse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99816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Methodology – Waterfall Model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" y="3593592"/>
            <a:ext cx="502920" cy="502920"/>
          </a:xfrm>
          <a:prstGeom prst="ellipse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666744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Fact-Finding Techniques &amp; Constraints</a:t>
            </a:r>
          </a:p>
        </p:txBody>
      </p:sp>
      <p:sp>
        <p:nvSpPr>
          <p:cNvPr id="18" name="Oval 17"/>
          <p:cNvSpPr/>
          <p:nvPr/>
        </p:nvSpPr>
        <p:spPr>
          <a:xfrm>
            <a:off x="1097280" y="4160520"/>
            <a:ext cx="502920" cy="502920"/>
          </a:xfrm>
          <a:prstGeom prst="ellipse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23367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System Diagrams (Context, DFD, ERD)</a:t>
            </a:r>
          </a:p>
        </p:txBody>
      </p:sp>
      <p:sp>
        <p:nvSpPr>
          <p:cNvPr id="20" name="Oval 19"/>
          <p:cNvSpPr/>
          <p:nvPr/>
        </p:nvSpPr>
        <p:spPr>
          <a:xfrm>
            <a:off x="1097280" y="4727448"/>
            <a:ext cx="502920" cy="502920"/>
          </a:xfrm>
          <a:prstGeom prst="ellipse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80060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Gantt Chart &amp; Project Timeline</a:t>
            </a:r>
          </a:p>
        </p:txBody>
      </p:sp>
      <p:sp>
        <p:nvSpPr>
          <p:cNvPr id="22" name="Oval 21"/>
          <p:cNvSpPr/>
          <p:nvPr/>
        </p:nvSpPr>
        <p:spPr>
          <a:xfrm>
            <a:off x="1097280" y="5294376"/>
            <a:ext cx="502920" cy="502920"/>
          </a:xfrm>
          <a:prstGeom prst="ellipse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36752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Interface Design</a:t>
            </a:r>
          </a:p>
        </p:txBody>
      </p:sp>
      <p:sp>
        <p:nvSpPr>
          <p:cNvPr id="24" name="Oval 23"/>
          <p:cNvSpPr/>
          <p:nvPr/>
        </p:nvSpPr>
        <p:spPr>
          <a:xfrm>
            <a:off x="1097280" y="5861304"/>
            <a:ext cx="502920" cy="502920"/>
          </a:xfrm>
          <a:prstGeom prst="ellipse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934456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Conclusion &amp; Q &amp; A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B2DFDB"/>
                </a:solidFill>
                <a:latin typeface="Calibri"/>
              </a:defRPr>
            </a:pPr>
            <a:r>
              <a:t>Background &amp; Problem Statement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836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FFFFFF"/>
                </a:solidFill>
                <a:latin typeface="Calibri"/>
              </a:defRPr>
            </a:pPr>
            <a:r>
              <a:t>SmartLib – Smart University Library Management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999999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5303520" cy="4937760"/>
          </a:xfrm>
          <a:prstGeom prst="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00695C"/>
                </a:solidFill>
                <a:latin typeface="Calibri"/>
              </a:defRPr>
            </a:pPr>
            <a:r>
              <a:t>Background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202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University library operates on a fully manual, paper-based system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Students face long queues, lost records, and limited catalog access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Librarians spend excessive time on repetitive administrative tasks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No digital tracking of borrowing history, fines, or reservations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Growing student population demands a scalable, modern solution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325880"/>
            <a:ext cx="5303520" cy="4937760"/>
          </a:xfrm>
          <a:prstGeom prst="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00695C"/>
                </a:solidFill>
                <a:latin typeface="Calibri"/>
              </a:defRPr>
            </a:pPr>
            <a:r>
              <a:t>Objectives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9202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Develop a web-based Library Management System to replace paper processes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Enable online catalog search, book borrowing, and digital reservations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Automate fine calculation, notifications, and report generation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Provide role-based dashboards for students, librarians, and admins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Current Environment Weaknesses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B2DFDB"/>
                </a:solidFill>
                <a:latin typeface="Calibri"/>
              </a:defRPr>
            </a:pPr>
            <a:r>
              <a:t>Part 1 of 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836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FFFFFF"/>
                </a:solidFill>
                <a:latin typeface="Calibri"/>
              </a:defRPr>
            </a:pPr>
            <a:r>
              <a:t>SmartLib – Smart University Library Management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999999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417320"/>
            <a:ext cx="73152" cy="64008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173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900" b="1">
                <a:solidFill>
                  <a:srgbClr val="00695C"/>
                </a:solidFill>
                <a:latin typeface="Calibri"/>
              </a:defRPr>
            </a:pPr>
            <a:r>
              <a:t>W1: Manual Record Keeping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737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All borrowing, returns, and member records maintained in paper ledgers – error-prone and time-consuming.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331720"/>
            <a:ext cx="73152" cy="64008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3317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900" b="1">
                <a:solidFill>
                  <a:srgbClr val="00695C"/>
                </a:solidFill>
                <a:latin typeface="Calibri"/>
              </a:defRPr>
            </a:pPr>
            <a:r>
              <a:t>W2: No Online Catalog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651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Students must physically visit the library to check book availability; no search functionality.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46120"/>
            <a:ext cx="73152" cy="64008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2461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900" b="1">
                <a:solidFill>
                  <a:srgbClr val="00695C"/>
                </a:solidFill>
                <a:latin typeface="Calibri"/>
              </a:defRPr>
            </a:pPr>
            <a:r>
              <a:t>W3: Inefficient Borrowing Process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5661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Long queues, manual card stamping, and no real-time tracking of borrowed items.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60520"/>
            <a:ext cx="73152" cy="64008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160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900" b="1">
                <a:solidFill>
                  <a:srgbClr val="00695C"/>
                </a:solidFill>
                <a:latin typeface="Calibri"/>
              </a:defRPr>
            </a:pPr>
            <a:r>
              <a:t>W4: Lost or Damaged Records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4805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Paper records vulnerable to loss, damage, and unauthorized alterations.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074920"/>
            <a:ext cx="73152" cy="64008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0749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900" b="1">
                <a:solidFill>
                  <a:srgbClr val="00695C"/>
                </a:solidFill>
                <a:latin typeface="Calibri"/>
              </a:defRPr>
            </a:pPr>
            <a:r>
              <a:t>W5: No Fine Automation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3949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Overdue fines calculated manually; inconsistencies and disputes are common.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Current Environment Weaknesses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B2DFDB"/>
                </a:solidFill>
                <a:latin typeface="Calibri"/>
              </a:defRPr>
            </a:pPr>
            <a:r>
              <a:t>Part 2 of 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836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FFFFFF"/>
                </a:solidFill>
                <a:latin typeface="Calibri"/>
              </a:defRPr>
            </a:pPr>
            <a:r>
              <a:t>SmartLib – Smart University Library Management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999999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417320"/>
            <a:ext cx="73152" cy="64008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173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900" b="1">
                <a:solidFill>
                  <a:srgbClr val="00695C"/>
                </a:solidFill>
                <a:latin typeface="Calibri"/>
              </a:defRPr>
            </a:pPr>
            <a:r>
              <a:t>W6: No Reservation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737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Students cannot reserve books in advance; popular titles often unavailable.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331720"/>
            <a:ext cx="73152" cy="64008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3317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900" b="1">
                <a:solidFill>
                  <a:srgbClr val="00695C"/>
                </a:solidFill>
                <a:latin typeface="Calibri"/>
              </a:defRPr>
            </a:pPr>
            <a:r>
              <a:t>W7: Limited Reporting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651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No statistical reports on usage patterns, popular books, or overdue trends.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46120"/>
            <a:ext cx="73152" cy="64008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2461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900" b="1">
                <a:solidFill>
                  <a:srgbClr val="00695C"/>
                </a:solidFill>
                <a:latin typeface="Calibri"/>
              </a:defRPr>
            </a:pPr>
            <a:r>
              <a:t>W8: Poor Communication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5661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No automated reminders for due dates, overdue items, or available reservations.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60520"/>
            <a:ext cx="73152" cy="64008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160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900" b="1">
                <a:solidFill>
                  <a:srgbClr val="00695C"/>
                </a:solidFill>
                <a:latin typeface="Calibri"/>
              </a:defRPr>
            </a:pPr>
            <a:r>
              <a:t>W9: Scalability Issues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4805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Paper-based system cannot handle growing student enrollment and book inventory.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074920"/>
            <a:ext cx="73152" cy="64008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0749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900" b="1">
                <a:solidFill>
                  <a:srgbClr val="00695C"/>
                </a:solidFill>
                <a:latin typeface="Calibri"/>
              </a:defRPr>
            </a:pPr>
            <a:r>
              <a:t>W10: No User Accounts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3949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No personalized profiles; students cannot view their borrowing history or fines online.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Proposed Improvement – SmartLib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836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FFFFFF"/>
                </a:solidFill>
                <a:latin typeface="Calibri"/>
              </a:defRPr>
            </a:pPr>
            <a:r>
              <a:t>SmartLib – Smart University Library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999999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A comprehensive web-based platform that digitizes all library operations, providing real-time access for students, librarians, and administrators.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57400"/>
            <a:ext cx="5303520" cy="868680"/>
          </a:xfrm>
          <a:prstGeom prst="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695C"/>
                </a:solidFill>
                <a:latin typeface="Calibri"/>
              </a:defRPr>
            </a:pPr>
            <a:r>
              <a:t>User Management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4144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Registration, login, role-based access control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108960"/>
            <a:ext cx="5303520" cy="868680"/>
          </a:xfrm>
          <a:prstGeom prst="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15468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695C"/>
                </a:solidFill>
                <a:latin typeface="Calibri"/>
              </a:defRPr>
            </a:pPr>
            <a:r>
              <a:t>Catalog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4930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Digital catalog with search, filter, and browse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60520"/>
            <a:ext cx="5303520" cy="868680"/>
          </a:xfrm>
          <a:prstGeom prst="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2062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695C"/>
                </a:solidFill>
                <a:latin typeface="Calibri"/>
              </a:defRPr>
            </a:pPr>
            <a:r>
              <a:t>Borrowing &amp; Returns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54456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Online requests, barcode scanning, due-date tracking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12080"/>
            <a:ext cx="5303520" cy="868680"/>
          </a:xfrm>
          <a:prstGeom prst="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2578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695C"/>
                </a:solidFill>
                <a:latin typeface="Calibri"/>
              </a:defRPr>
            </a:pPr>
            <a:r>
              <a:t>Fine Management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9612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Automated calculation, online payment, dispute handling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057400"/>
            <a:ext cx="5303520" cy="868680"/>
          </a:xfrm>
          <a:prstGeom prst="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21031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695C"/>
                </a:solidFill>
                <a:latin typeface="Calibri"/>
              </a:defRPr>
            </a:pPr>
            <a:r>
              <a:t>Reservations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44144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Book hold requests, queue management, notifications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3108960"/>
            <a:ext cx="5303520" cy="868680"/>
          </a:xfrm>
          <a:prstGeom prst="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315468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695C"/>
                </a:solidFill>
                <a:latin typeface="Calibri"/>
              </a:defRPr>
            </a:pPr>
            <a:r>
              <a:t>Reports &amp; Analytics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4930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Usage statistics, overdue reports, inventory audits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4160520"/>
            <a:ext cx="5303520" cy="868680"/>
          </a:xfrm>
          <a:prstGeom prst="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2062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695C"/>
                </a:solidFill>
                <a:latin typeface="Calibri"/>
              </a:defRPr>
            </a:pPr>
            <a:r>
              <a:t>Notifications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454456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Email/SMS alerts for due dates, reservations, fines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Proposed Improvement – Benefits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836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FFFFFF"/>
                </a:solidFill>
                <a:latin typeface="Calibri"/>
              </a:defRPr>
            </a:pPr>
            <a:r>
              <a:t>SmartLib – Smart University Library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999999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411480" cy="41148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399032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695C"/>
                </a:solidFill>
                <a:latin typeface="Calibri"/>
              </a:defRPr>
            </a:pPr>
            <a:r>
              <a:t>Eliminates Paper Errors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992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Digital records ensure accuracy and data integrity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411480" cy="41148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542032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695C"/>
                </a:solidFill>
                <a:latin typeface="Calibri"/>
              </a:defRPr>
            </a:pPr>
            <a:r>
              <a:t>24/7 Online Access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85292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Search catalog, borrow, and reserve books anytime, anywhere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411480" cy="41148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85032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695C"/>
                </a:solidFill>
                <a:latin typeface="Calibri"/>
              </a:defRPr>
            </a:pPr>
            <a:r>
              <a:t>Automated Fines &amp; Alerts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99592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Reduces disputes; students receive timely reminders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411480" cy="41148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28032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695C"/>
                </a:solidFill>
                <a:latin typeface="Calibri"/>
              </a:defRPr>
            </a:pPr>
            <a:r>
              <a:t>Real-Time Availability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13892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Instant book status updates prevent wasted trips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1417320"/>
            <a:ext cx="411480" cy="41148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1399032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695C"/>
                </a:solidFill>
                <a:latin typeface="Calibri"/>
              </a:defRPr>
            </a:pPr>
            <a:r>
              <a:t>Scalable Architecture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170992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Cloud-ready system grows with university enrollment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2560320"/>
            <a:ext cx="411480" cy="41148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2542032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695C"/>
                </a:solidFill>
                <a:latin typeface="Calibri"/>
              </a:defRPr>
            </a:pPr>
            <a:r>
              <a:t>Data-Driven Decisions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285292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Reports help management optimize resources and budget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3703320"/>
            <a:ext cx="411480" cy="41148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3685032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695C"/>
                </a:solidFill>
                <a:latin typeface="Calibri"/>
              </a:defRPr>
            </a:pPr>
            <a:r>
              <a:t>Enhanced User Experience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399592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Personalized dashboards for each user role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4846320"/>
            <a:ext cx="411480" cy="41148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4828032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695C"/>
                </a:solidFill>
                <a:latin typeface="Calibri"/>
              </a:defRPr>
            </a:pPr>
            <a:r>
              <a:t>Reduced Workload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513892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Librarians freed from repetitive manual tasks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Methodology – Waterfall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836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FFFFFF"/>
                </a:solidFill>
                <a:latin typeface="Calibri"/>
              </a:defRPr>
            </a:pPr>
            <a:r>
              <a:t>SmartLib – Smart University Library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999999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600200"/>
            <a:ext cx="2011680" cy="11887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Requirements</a:t>
            </a:r>
            <a:br/>
            <a:r>
              <a:t>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Gather user needs,</a:t>
            </a:r>
            <a:br/>
            <a:r>
              <a:t>define scope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743200" y="2194560"/>
            <a:ext cx="228600" cy="228600"/>
          </a:xfrm>
          <a:prstGeom prst="rightArrow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971800" y="2148840"/>
            <a:ext cx="2011680" cy="118872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System</a:t>
            </a:r>
            <a:br/>
            <a:r>
              <a:t>Design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338328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Architecture, DFDs,</a:t>
            </a:r>
            <a:br/>
            <a:r>
              <a:t>ERD, UI mockups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983480" y="2743200"/>
            <a:ext cx="228600" cy="228600"/>
          </a:xfrm>
          <a:prstGeom prst="rightArrow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12080" y="2697480"/>
            <a:ext cx="2011680" cy="11887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Implementation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393192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Coding, database</a:t>
            </a:r>
            <a:br/>
            <a:r>
              <a:t>setup, integration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223760" y="3291840"/>
            <a:ext cx="228600" cy="228600"/>
          </a:xfrm>
          <a:prstGeom prst="rightArrow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52360" y="3246120"/>
            <a:ext cx="2011680" cy="118872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Testing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448056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Unit, integration,</a:t>
            </a:r>
            <a:br/>
            <a:r>
              <a:t>UAT testing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464040" y="3840480"/>
            <a:ext cx="228600" cy="228600"/>
          </a:xfrm>
          <a:prstGeom prst="rightArrow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692640" y="3794760"/>
            <a:ext cx="2011680" cy="11887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Deployment &amp;</a:t>
            </a:r>
            <a:br/>
            <a:r>
              <a:t>Maintenance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502920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Go-live, training,</a:t>
            </a:r>
            <a:br/>
            <a:r>
              <a:t>ongoing support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212080"/>
            <a:ext cx="11064240" cy="1097280"/>
          </a:xfrm>
          <a:prstGeom prst="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2578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900" b="1">
                <a:solidFill>
                  <a:srgbClr val="00695C"/>
                </a:solidFill>
                <a:latin typeface="Calibri"/>
              </a:defRPr>
            </a:pPr>
            <a:r>
              <a:t>Why Waterfall?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 Well-defined requirements unlikely to change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 Sequential phases provide clear milestones and documentation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 Suitable for academic projects with fixed deadlines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 Easier progress tracking and deliverable management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Waterfall Phases Applied to SmartLib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836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FFFFFF"/>
                </a:solidFill>
                <a:latin typeface="Calibri"/>
              </a:defRPr>
            </a:pPr>
            <a:r>
              <a:t>SmartLib – Smart University Library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999999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743200" cy="8229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600" b="1">
                <a:solidFill>
                  <a:srgbClr val="FFFFFF"/>
                </a:solidFill>
                <a:latin typeface="Calibri"/>
              </a:defRPr>
            </a:pPr>
            <a:r>
              <a:t>Requirements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41732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Interviewed librarians &amp; students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Surveyed 150+ users on pain points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Documented functional &amp; non-functional requirements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77440"/>
            <a:ext cx="2743200" cy="8229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600" b="1">
                <a:solidFill>
                  <a:srgbClr val="FFFFFF"/>
                </a:solidFill>
                <a:latin typeface="Calibri"/>
              </a:defRPr>
            </a:pPr>
            <a:r>
              <a:t>System 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37744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Created Context Diagram, DFD Level 0 &amp; 1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Designed ERD with 8 entities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Developed UI mockups for all user roles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337560"/>
            <a:ext cx="2743200" cy="8229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600" b="1">
                <a:solidFill>
                  <a:srgbClr val="FFFFFF"/>
                </a:solidFill>
                <a:latin typeface="Calibri"/>
              </a:defRPr>
            </a:pPr>
            <a:r>
              <a:t>Implementation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33756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PHP/Laravel backend with MySQL database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Responsive frontend (HTML/CSS/JS)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RESTful API for mobile integration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297680"/>
            <a:ext cx="2743200" cy="8229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600" b="1">
                <a:solidFill>
                  <a:srgbClr val="FFFFFF"/>
                </a:solidFill>
                <a:latin typeface="Calibri"/>
              </a:defRPr>
            </a:pPr>
            <a:r>
              <a:t>Testing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29768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Unit tests for each module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Integration testing across modules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User Acceptance Testing with library staff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257800"/>
            <a:ext cx="2743200" cy="8229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600" b="1">
                <a:solidFill>
                  <a:srgbClr val="FFFFFF"/>
                </a:solidFill>
                <a:latin typeface="Calibri"/>
              </a:defRPr>
            </a:pPr>
            <a:r>
              <a:t>Deployment &amp; Maintenance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525780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Staged rollout: pilot → full deployment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User training sessions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Post-launch monitoring and bug fixes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Fact-Finding Techniques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836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FFFFFF"/>
                </a:solidFill>
                <a:latin typeface="Calibri"/>
              </a:defRPr>
            </a:pPr>
            <a:r>
              <a:t>SmartLib – Smart University Library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999999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11064240" cy="1143000"/>
          </a:xfrm>
          <a:prstGeom prst="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630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00695C"/>
                </a:solidFill>
                <a:latin typeface="Calibri"/>
              </a:defRPr>
            </a:pPr>
            <a:r>
              <a:t>Interviews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783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Conducted with head librarian, 3 staff members, and 5 students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3055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1">
                <a:solidFill>
                  <a:srgbClr val="00897B"/>
                </a:solidFill>
                <a:latin typeface="Calibri"/>
              </a:defRPr>
            </a:pPr>
            <a:r>
              <a:t>Key Finding: Manual fine tracking causes 30% of student complaints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679192"/>
            <a:ext cx="11064240" cy="1143000"/>
          </a:xfrm>
          <a:prstGeom prst="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72491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00695C"/>
                </a:solidFill>
                <a:latin typeface="Calibri"/>
              </a:defRPr>
            </a:pPr>
            <a:r>
              <a:t>Questionnaires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04495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Distributed to 150+ students across 6 faculties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392424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1">
                <a:solidFill>
                  <a:srgbClr val="00897B"/>
                </a:solidFill>
                <a:latin typeface="Calibri"/>
              </a:defRPr>
            </a:pPr>
            <a:r>
              <a:t>Key Finding: 85% want online catalog search; 72% want digital reservations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941064"/>
            <a:ext cx="11064240" cy="1143000"/>
          </a:xfrm>
          <a:prstGeom prst="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986784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00695C"/>
                </a:solidFill>
                <a:latin typeface="Calibri"/>
              </a:defRPr>
            </a:pPr>
            <a:r>
              <a:t>Observation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306824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Spent 2 weeks observing daily library operations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654296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1">
                <a:solidFill>
                  <a:srgbClr val="00897B"/>
                </a:solidFill>
                <a:latin typeface="Calibri"/>
              </a:defRPr>
            </a:pPr>
            <a:r>
              <a:t>Key Finding: Average checkout time is 8 minutes – target is under 1 minute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202936"/>
            <a:ext cx="11064240" cy="1143000"/>
          </a:xfrm>
          <a:prstGeom prst="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248656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00695C"/>
                </a:solidFill>
                <a:latin typeface="Calibri"/>
              </a:defRPr>
            </a:pPr>
            <a:r>
              <a:t>Document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568696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Analyzed borrowing logs, fine records, and inventory sheets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9161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1">
                <a:solidFill>
                  <a:srgbClr val="00897B"/>
                </a:solidFill>
                <a:latin typeface="Calibri"/>
              </a:defRPr>
            </a:pPr>
            <a:r>
              <a:t>Key Finding: 12% of paper records have inconsistencies or missing data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Project Constraints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836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FFFFFF"/>
                </a:solidFill>
                <a:latin typeface="Calibri"/>
              </a:defRPr>
            </a:pPr>
            <a:r>
              <a:t>SmartLib – Smart University Library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999999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371600"/>
            <a:ext cx="5303520" cy="1005840"/>
          </a:xfrm>
          <a:prstGeom prst="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508760"/>
            <a:ext cx="457200" cy="4572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41732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695C"/>
                </a:solidFill>
                <a:latin typeface="Calibri"/>
              </a:defRPr>
            </a:pPr>
            <a:r>
              <a:t>Budget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755648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Limited to university IT department allocation (~$15,000)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560320"/>
            <a:ext cx="5303520" cy="1005840"/>
          </a:xfrm>
          <a:prstGeom prst="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697480"/>
            <a:ext cx="457200" cy="4572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60604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695C"/>
                </a:solidFill>
                <a:latin typeface="Calibri"/>
              </a:defRPr>
            </a:pPr>
            <a:r>
              <a:t>Timeline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2944368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Must be completed within one academic semester (14 weeks)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749040"/>
            <a:ext cx="5303520" cy="1005840"/>
          </a:xfrm>
          <a:prstGeom prst="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3886200"/>
            <a:ext cx="457200" cy="4572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379476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695C"/>
                </a:solidFill>
                <a:latin typeface="Calibri"/>
              </a:defRPr>
            </a:pPr>
            <a:r>
              <a:t>Technology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133088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Must use existing university server infrastructure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937760"/>
            <a:ext cx="5303520" cy="1005840"/>
          </a:xfrm>
          <a:prstGeom prst="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5074920"/>
            <a:ext cx="457200" cy="4572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98348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695C"/>
                </a:solidFill>
                <a:latin typeface="Calibri"/>
              </a:defRPr>
            </a:pPr>
            <a:r>
              <a:t>Staffing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321808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Development team limited to 5 group members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1371600"/>
            <a:ext cx="5303520" cy="1005840"/>
          </a:xfrm>
          <a:prstGeom prst="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55080" y="1508760"/>
            <a:ext cx="457200" cy="4572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60" y="141732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695C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1755648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Must interface with existing student enrollment system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2560320"/>
            <a:ext cx="5303520" cy="1005840"/>
          </a:xfrm>
          <a:prstGeom prst="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55080" y="2697480"/>
            <a:ext cx="457200" cy="4572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260604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695C"/>
                </a:solidFill>
                <a:latin typeface="Calibri"/>
              </a:defRPr>
            </a:pPr>
            <a:r>
              <a:t>Security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0" y="2944368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Comply with university data protection policies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3749040"/>
            <a:ext cx="5303520" cy="1005840"/>
          </a:xfrm>
          <a:prstGeom prst="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55080" y="3886200"/>
            <a:ext cx="457200" cy="4572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95160" y="379476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695C"/>
                </a:solidFill>
                <a:latin typeface="Calibri"/>
              </a:defRPr>
            </a:pPr>
            <a:r>
              <a:t>Training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95160" y="4133088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Library staff have limited technical skills – UI must be intuitive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4937760"/>
            <a:ext cx="5303520" cy="1005840"/>
          </a:xfrm>
          <a:prstGeom prst="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55080" y="5074920"/>
            <a:ext cx="457200" cy="4572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60" y="498348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695C"/>
                </a:solidFill>
                <a:latin typeface="Calibri"/>
              </a:defRPr>
            </a:pPr>
            <a:r>
              <a:t>Availability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60" y="5321808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System must achieve 99.5% uptime during library hours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Project Timeline – Gantt Chart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836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FFFFFF"/>
                </a:solidFill>
                <a:latin typeface="Calibri"/>
              </a:defRPr>
            </a:pPr>
            <a:r>
              <a:t>SmartLib – Smart University Library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999999"/>
                </a:solidFill>
                <a:latin typeface="Calibri"/>
              </a:defRPr>
            </a:pPr>
            <a:r>
              <a:t>12</a:t>
            </a:r>
          </a:p>
        </p:txBody>
      </p:sp>
      <p:pic>
        <p:nvPicPr>
          <p:cNvPr id="8" name="Picture 7" descr="gantt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08760"/>
            <a:ext cx="112471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Context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836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FFFFFF"/>
                </a:solidFill>
                <a:latin typeface="Calibri"/>
              </a:defRPr>
            </a:pPr>
            <a:r>
              <a:t>SmartLib – Smart University Library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999999"/>
                </a:solidFill>
                <a:latin typeface="Calibri"/>
              </a:defRPr>
            </a:pPr>
            <a:r>
              <a:t>13</a:t>
            </a:r>
          </a:p>
        </p:txBody>
      </p:sp>
      <p:pic>
        <p:nvPicPr>
          <p:cNvPr id="8" name="Picture 7" descr="context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508760"/>
            <a:ext cx="9418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Data Flow Diagram – Level 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836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FFFFFF"/>
                </a:solidFill>
                <a:latin typeface="Calibri"/>
              </a:defRPr>
            </a:pPr>
            <a:r>
              <a:t>SmartLib – Smart University Library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999999"/>
                </a:solidFill>
                <a:latin typeface="Calibri"/>
              </a:defRPr>
            </a:pPr>
            <a:r>
              <a:t>14</a:t>
            </a:r>
          </a:p>
        </p:txBody>
      </p:sp>
      <p:pic>
        <p:nvPicPr>
          <p:cNvPr id="8" name="Picture 7" descr="dfd_level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508760"/>
            <a:ext cx="9418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Data Flow Diagram – Level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B2DFDB"/>
                </a:solidFill>
                <a:latin typeface="Calibri"/>
              </a:defRPr>
            </a:pPr>
            <a:r>
              <a:t>Process: Book Borrowing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836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FFFFFF"/>
                </a:solidFill>
                <a:latin typeface="Calibri"/>
              </a:defRPr>
            </a:pPr>
            <a:r>
              <a:t>SmartLib – Smart University Library Management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999999"/>
                </a:solidFill>
                <a:latin typeface="Calibri"/>
              </a:defRPr>
            </a:pPr>
            <a:r>
              <a:t>15</a:t>
            </a:r>
          </a:p>
        </p:txBody>
      </p:sp>
      <p:pic>
        <p:nvPicPr>
          <p:cNvPr id="9" name="Picture 8" descr="dfd_level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508760"/>
            <a:ext cx="9418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Entity Relationship Diagram (ERD)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836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FFFFFF"/>
                </a:solidFill>
                <a:latin typeface="Calibri"/>
              </a:defRPr>
            </a:pPr>
            <a:r>
              <a:t>SmartLib – Smart University Library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999999"/>
                </a:solidFill>
                <a:latin typeface="Calibri"/>
              </a:defRPr>
            </a:pPr>
            <a:r>
              <a:t>16</a:t>
            </a:r>
          </a:p>
        </p:txBody>
      </p:sp>
      <p:pic>
        <p:nvPicPr>
          <p:cNvPr id="8" name="Picture 7" descr="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508760"/>
            <a:ext cx="9418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Interface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B2DFDB"/>
                </a:solidFill>
                <a:latin typeface="Calibri"/>
              </a:defRPr>
            </a:pPr>
            <a:r>
              <a:t>Part 1 – Login, Dashboard &amp; 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836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FFFFFF"/>
                </a:solidFill>
                <a:latin typeface="Calibri"/>
              </a:defRPr>
            </a:pPr>
            <a:r>
              <a:t>SmartLib – Smart University Library Management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999999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600" b="1">
                <a:solidFill>
                  <a:srgbClr val="00695C"/>
                </a:solidFill>
                <a:latin typeface="Calibri"/>
              </a:defRPr>
            </a:pPr>
            <a:r>
              <a:t>Login Page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28800"/>
            <a:ext cx="3657600" cy="42062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i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74520"/>
            <a:ext cx="3566160" cy="411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206240" y="1508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600" b="1">
                <a:solidFill>
                  <a:srgbClr val="00695C"/>
                </a:solidFill>
                <a:latin typeface="Calibri"/>
              </a:defRPr>
            </a:pPr>
            <a:r>
              <a:t>Student Dashboard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1828800"/>
            <a:ext cx="3657600" cy="42062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ui_student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874520"/>
            <a:ext cx="3566160" cy="4114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046720" y="1508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600" b="1">
                <a:solidFill>
                  <a:srgbClr val="00695C"/>
                </a:solidFill>
                <a:latin typeface="Calibri"/>
              </a:defRPr>
            </a:pPr>
            <a:r>
              <a:t>Book Search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1828800"/>
            <a:ext cx="3657600" cy="42062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i_book_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1874520"/>
            <a:ext cx="356616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Interface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B2DFDB"/>
                </a:solidFill>
                <a:latin typeface="Calibri"/>
              </a:defRPr>
            </a:pPr>
            <a:r>
              <a:t>Part 2 – Book Details, Borrowings, Librarian &amp; Admin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836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FFFFFF"/>
                </a:solidFill>
                <a:latin typeface="Calibri"/>
              </a:defRPr>
            </a:pPr>
            <a:r>
              <a:t>SmartLib – Smart University Library Management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999999"/>
                </a:solidFill>
                <a:latin typeface="Calibri"/>
              </a:defRPr>
            </a:pPr>
            <a: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400" b="1">
                <a:solidFill>
                  <a:srgbClr val="00695C"/>
                </a:solidFill>
                <a:latin typeface="Calibri"/>
              </a:defRPr>
            </a:pPr>
            <a:r>
              <a:t>Book Details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828800"/>
            <a:ext cx="2926080" cy="42062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i_book_det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1865376"/>
            <a:ext cx="2852928" cy="411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6324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400" b="1">
                <a:solidFill>
                  <a:srgbClr val="00695C"/>
                </a:solidFill>
                <a:latin typeface="Calibri"/>
              </a:defRPr>
            </a:pPr>
            <a:r>
              <a:t>My Borrowings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40" y="1828800"/>
            <a:ext cx="2926080" cy="42062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ui_my_borrow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9816" y="1865376"/>
            <a:ext cx="2852928" cy="4114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85216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400" b="1">
                <a:solidFill>
                  <a:srgbClr val="00695C"/>
                </a:solidFill>
                <a:latin typeface="Calibri"/>
              </a:defRPr>
            </a:pPr>
            <a:r>
              <a:t>Librarian Dashboard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0" y="1828800"/>
            <a:ext cx="2926080" cy="42062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i_librarian_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8736" y="1865376"/>
            <a:ext cx="2852928" cy="4114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64108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400" b="1">
                <a:solidFill>
                  <a:srgbClr val="00695C"/>
                </a:solidFill>
                <a:latin typeface="Calibri"/>
              </a:defRPr>
            </a:pPr>
            <a:r>
              <a:t>Admin Dashboard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41080" y="1828800"/>
            <a:ext cx="2926080" cy="42062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ui_admin_dash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7656" y="1865376"/>
            <a:ext cx="2852928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836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FFFFFF"/>
                </a:solidFill>
                <a:latin typeface="Calibri"/>
              </a:defRPr>
            </a:pPr>
            <a:r>
              <a:t>SmartLib – Smart University Library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999999"/>
                </a:solidFill>
                <a:latin typeface="Calibri"/>
              </a:defRPr>
            </a:pPr>
            <a:r>
              <a:t>19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5303520" cy="4937760"/>
          </a:xfrm>
          <a:prstGeom prst="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00695C"/>
                </a:solidFill>
                <a:latin typeface="Calibri"/>
              </a:defRPr>
            </a:pPr>
            <a:r>
              <a:t>Summary of Findings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9202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Current paper-based system has 10 critical weaknesses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SmartLib addresses every weakness with digital solutions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Waterfall methodology ensures structured, on-time delivery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Comprehensive diagrams validate system design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User-friendly interfaces designed for all skill levels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Project is feasible within budget and timeline constraints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325880"/>
            <a:ext cx="5303520" cy="4937760"/>
          </a:xfrm>
          <a:prstGeom prst="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00695C"/>
                </a:solidFill>
                <a:latin typeface="Calibri"/>
              </a:defRPr>
            </a:pPr>
            <a:r>
              <a:t>Expected Impact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9202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Checkout time reduced from 8 min to under 1 min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Eliminate 100% of paper record inconsistencies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24/7 catalog access for 5,000+ students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80% reduction in librarian administrative workload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Automated fine management eliminates disputes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Data-driven insights for library resource planning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0" y="2103120"/>
            <a:ext cx="6675120" cy="54864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3774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38328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2800" b="0">
                <a:solidFill>
                  <a:srgbClr val="B2DFDB"/>
                </a:solidFill>
                <a:latin typeface="Calibri"/>
              </a:defRPr>
            </a:pPr>
            <a:r>
              <a:t>Questions &amp; Answers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4114800"/>
            <a:ext cx="3931920" cy="36576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38912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600" b="1">
                <a:solidFill>
                  <a:srgbClr val="FFB300"/>
                </a:solidFill>
                <a:latin typeface="Calibri"/>
              </a:defRPr>
            </a:pPr>
            <a:r>
              <a:t>Presented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75488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Member 1  •  Member 2  •  Member 3  •  Member 4  •  Member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30352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500" b="0">
                <a:solidFill>
                  <a:srgbClr val="B2DFDB"/>
                </a:solidFill>
                <a:latin typeface="Calibri"/>
              </a:defRPr>
            </a:pPr>
            <a:r>
              <a:t>System Analysis and Design – April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