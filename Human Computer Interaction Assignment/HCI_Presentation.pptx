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2B4066"/>
          </a:solidFill>
          <a:ln/>
        </p:spPr>
      </p:sp>
      <p:sp>
        <p:nvSpPr>
          <p:cNvPr id="3" name="Shape 1"/>
          <p:cNvSpPr/>
          <p:nvPr/>
        </p:nvSpPr>
        <p:spPr>
          <a:xfrm>
            <a:off x="3840480" y="0"/>
            <a:ext cx="73152" cy="6858000"/>
          </a:xfrm>
          <a:prstGeom prst="rect">
            <a:avLst/>
          </a:prstGeom>
          <a:solidFill>
            <a:srgbClr val="C4603C"/>
          </a:solidFill>
          <a:ln/>
        </p:spPr>
      </p:sp>
      <p:sp>
        <p:nvSpPr>
          <p:cNvPr id="4" name="Shape 2"/>
          <p:cNvSpPr/>
          <p:nvPr/>
        </p:nvSpPr>
        <p:spPr>
          <a:xfrm>
            <a:off x="3913632" y="5943600"/>
            <a:ext cx="5230368" cy="73152"/>
          </a:xfrm>
          <a:prstGeom prst="rect">
            <a:avLst/>
          </a:prstGeom>
          <a:solidFill>
            <a:srgbClr val="C4603C"/>
          </a:solidFill>
          <a:ln/>
        </p:spPr>
      </p:sp>
      <p:sp>
        <p:nvSpPr>
          <p:cNvPr id="5" name="Text 3"/>
          <p:cNvSpPr/>
          <p:nvPr/>
        </p:nvSpPr>
        <p:spPr>
          <a:xfrm>
            <a:off x="457200" y="914400"/>
            <a:ext cx="3200400" cy="82296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SmartLib</a:t>
            </a:r>
            <a:endParaRPr lang="en-US" sz="4000" dirty="0"/>
          </a:p>
        </p:txBody>
      </p:sp>
      <p:sp>
        <p:nvSpPr>
          <p:cNvPr id="6" name="Shape 4"/>
          <p:cNvSpPr/>
          <p:nvPr/>
        </p:nvSpPr>
        <p:spPr>
          <a:xfrm>
            <a:off x="457200" y="1828800"/>
            <a:ext cx="1280160" cy="54864"/>
          </a:xfrm>
          <a:prstGeom prst="rect">
            <a:avLst/>
          </a:prstGeom>
          <a:solidFill>
            <a:srgbClr val="C4603C"/>
          </a:solidFill>
          <a:ln/>
        </p:spPr>
      </p:sp>
      <p:sp>
        <p:nvSpPr>
          <p:cNvPr id="7" name="Text 5"/>
          <p:cNvSpPr/>
          <p:nvPr/>
        </p:nvSpPr>
        <p:spPr>
          <a:xfrm>
            <a:off x="457200" y="2057400"/>
            <a:ext cx="3200400" cy="914400"/>
          </a:xfrm>
          <a:prstGeom prst="rect">
            <a:avLst/>
          </a:prstGeom>
          <a:noFill/>
          <a:ln/>
        </p:spPr>
        <p:txBody>
          <a:bodyPr wrap="square" rtlCol="0" anchor="ctr"/>
          <a:lstStyle/>
          <a:p>
            <a:pPr indent="0" marL="0">
              <a:lnSpc>
                <a:spcPct val="130000"/>
              </a:lnSpc>
              <a:buNone/>
            </a:pPr>
            <a:r>
              <a:rPr lang="en-US" sz="1600" dirty="0">
                <a:solidFill>
                  <a:srgbClr val="AABBCC"/>
                </a:solidFill>
                <a:latin typeface="Calibri" pitchFamily="34" charset="0"/>
                <a:ea typeface="Calibri" pitchFamily="34" charset="-122"/>
                <a:cs typeface="Calibri" pitchFamily="34" charset="-120"/>
              </a:rPr>
              <a:t>Smart University</a:t>
            </a:r>
            <a:endParaRPr lang="en-US" sz="1600" dirty="0"/>
          </a:p>
          <a:p>
            <a:pPr indent="0" marL="0">
              <a:lnSpc>
                <a:spcPct val="130000"/>
              </a:lnSpc>
              <a:buNone/>
            </a:pPr>
            <a:r>
              <a:rPr lang="en-US" sz="1600" dirty="0">
                <a:solidFill>
                  <a:srgbClr val="AABBCC"/>
                </a:solidFill>
                <a:latin typeface="Calibri" pitchFamily="34" charset="0"/>
                <a:ea typeface="Calibri" pitchFamily="34" charset="-122"/>
                <a:cs typeface="Calibri" pitchFamily="34" charset="-120"/>
              </a:rPr>
              <a:t>Library Management System</a:t>
            </a:r>
            <a:endParaRPr lang="en-US" sz="1600" dirty="0"/>
          </a:p>
        </p:txBody>
      </p:sp>
      <p:sp>
        <p:nvSpPr>
          <p:cNvPr id="8" name="Text 6"/>
          <p:cNvSpPr/>
          <p:nvPr/>
        </p:nvSpPr>
        <p:spPr>
          <a:xfrm>
            <a:off x="457200" y="3200400"/>
            <a:ext cx="3200400" cy="411480"/>
          </a:xfrm>
          <a:prstGeom prst="rect">
            <a:avLst/>
          </a:prstGeom>
          <a:noFill/>
          <a:ln/>
        </p:spPr>
        <p:txBody>
          <a:bodyPr wrap="square" rtlCol="0" anchor="ctr"/>
          <a:lstStyle/>
          <a:p>
            <a:pPr indent="0" marL="0">
              <a:buNone/>
            </a:pPr>
            <a:r>
              <a:rPr lang="en-US" sz="1200" dirty="0">
                <a:solidFill>
                  <a:srgbClr val="7A8FAA"/>
                </a:solidFill>
                <a:latin typeface="Calibri" pitchFamily="34" charset="0"/>
                <a:ea typeface="Calibri" pitchFamily="34" charset="-122"/>
                <a:cs typeface="Calibri" pitchFamily="34" charset="-120"/>
              </a:rPr>
              <a:t>Human Computer Interaction</a:t>
            </a:r>
            <a:endParaRPr lang="en-US" sz="1200" dirty="0"/>
          </a:p>
        </p:txBody>
      </p:sp>
      <p:sp>
        <p:nvSpPr>
          <p:cNvPr id="9" name="Text 7"/>
          <p:cNvSpPr/>
          <p:nvPr/>
        </p:nvSpPr>
        <p:spPr>
          <a:xfrm>
            <a:off x="457200" y="3566160"/>
            <a:ext cx="3200400" cy="411480"/>
          </a:xfrm>
          <a:prstGeom prst="rect">
            <a:avLst/>
          </a:prstGeom>
          <a:noFill/>
          <a:ln/>
        </p:spPr>
        <p:txBody>
          <a:bodyPr wrap="square" rtlCol="0" anchor="ctr"/>
          <a:lstStyle/>
          <a:p>
            <a:pPr indent="0" marL="0">
              <a:buNone/>
            </a:pPr>
            <a:r>
              <a:rPr lang="en-US" sz="1200" dirty="0">
                <a:solidFill>
                  <a:srgbClr val="7A8FAA"/>
                </a:solidFill>
                <a:latin typeface="Calibri" pitchFamily="34" charset="0"/>
                <a:ea typeface="Calibri" pitchFamily="34" charset="-122"/>
                <a:cs typeface="Calibri" pitchFamily="34" charset="-120"/>
              </a:rPr>
              <a:t>Group Assignment</a:t>
            </a:r>
            <a:endParaRPr lang="en-US" sz="1200" dirty="0"/>
          </a:p>
        </p:txBody>
      </p:sp>
      <p:sp>
        <p:nvSpPr>
          <p:cNvPr id="10" name="Text 8"/>
          <p:cNvSpPr/>
          <p:nvPr/>
        </p:nvSpPr>
        <p:spPr>
          <a:xfrm>
            <a:off x="4206240" y="1188720"/>
            <a:ext cx="4572000" cy="822960"/>
          </a:xfrm>
          <a:prstGeom prst="rect">
            <a:avLst/>
          </a:prstGeom>
          <a:noFill/>
          <a:ln/>
        </p:spPr>
        <p:txBody>
          <a:bodyPr wrap="square" rtlCol="0" anchor="ctr"/>
          <a:lstStyle/>
          <a:p>
            <a:pPr indent="0" marL="0">
              <a:lnSpc>
                <a:spcPct val="120000"/>
              </a:lnSpc>
              <a:buNone/>
            </a:pPr>
            <a:r>
              <a:rPr lang="en-US" sz="2200" b="1" dirty="0">
                <a:solidFill>
                  <a:srgbClr val="2B4066"/>
                </a:solidFill>
                <a:latin typeface="Georgia" pitchFamily="34" charset="0"/>
                <a:ea typeface="Georgia" pitchFamily="34" charset="-122"/>
                <a:cs typeface="Georgia" pitchFamily="34" charset="-120"/>
              </a:rPr>
              <a:t>Human Computer Interaction</a:t>
            </a:r>
            <a:endParaRPr lang="en-US" sz="2200" dirty="0"/>
          </a:p>
          <a:p>
            <a:pPr indent="0" marL="0">
              <a:lnSpc>
                <a:spcPct val="120000"/>
              </a:lnSpc>
              <a:buNone/>
            </a:pPr>
            <a:r>
              <a:rPr lang="en-US" sz="2200" b="1" dirty="0">
                <a:solidFill>
                  <a:srgbClr val="2B4066"/>
                </a:solidFill>
                <a:latin typeface="Georgia" pitchFamily="34" charset="0"/>
                <a:ea typeface="Georgia" pitchFamily="34" charset="-122"/>
                <a:cs typeface="Georgia" pitchFamily="34" charset="-120"/>
              </a:rPr>
              <a:t>Group Assignment</a:t>
            </a:r>
            <a:endParaRPr lang="en-US" sz="2200" dirty="0"/>
          </a:p>
        </p:txBody>
      </p:sp>
      <p:sp>
        <p:nvSpPr>
          <p:cNvPr id="11" name="Shape 9"/>
          <p:cNvSpPr/>
          <p:nvPr/>
        </p:nvSpPr>
        <p:spPr>
          <a:xfrm>
            <a:off x="4206240" y="2148840"/>
            <a:ext cx="914400" cy="45720"/>
          </a:xfrm>
          <a:prstGeom prst="rect">
            <a:avLst/>
          </a:prstGeom>
          <a:solidFill>
            <a:srgbClr val="C4603C"/>
          </a:solidFill>
          <a:ln/>
        </p:spPr>
      </p:sp>
      <p:sp>
        <p:nvSpPr>
          <p:cNvPr id="12" name="Text 10"/>
          <p:cNvSpPr/>
          <p:nvPr/>
        </p:nvSpPr>
        <p:spPr>
          <a:xfrm>
            <a:off x="4206240" y="2377440"/>
            <a:ext cx="4572000" cy="32004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Lecturer: Ms. Ajeerah</a:t>
            </a:r>
            <a:endParaRPr lang="en-US" sz="1200" dirty="0"/>
          </a:p>
        </p:txBody>
      </p:sp>
      <p:sp>
        <p:nvSpPr>
          <p:cNvPr id="13" name="Text 11"/>
          <p:cNvSpPr/>
          <p:nvPr/>
        </p:nvSpPr>
        <p:spPr>
          <a:xfrm>
            <a:off x="4206240" y="2788920"/>
            <a:ext cx="4572000" cy="292608"/>
          </a:xfrm>
          <a:prstGeom prst="rect">
            <a:avLst/>
          </a:prstGeom>
          <a:noFill/>
          <a:ln/>
        </p:spPr>
        <p:txBody>
          <a:bodyPr wrap="square" rtlCol="0" anchor="ctr"/>
          <a:lstStyle/>
          <a:p>
            <a:pPr indent="0" marL="0">
              <a:buNone/>
            </a:pPr>
            <a:r>
              <a:rPr lang="en-US" sz="1300" b="1" dirty="0">
                <a:solidFill>
                  <a:srgbClr val="2B4066"/>
                </a:solidFill>
                <a:latin typeface="Georgia" pitchFamily="34" charset="0"/>
                <a:ea typeface="Georgia" pitchFamily="34" charset="-122"/>
                <a:cs typeface="Georgia" pitchFamily="34" charset="-120"/>
              </a:rPr>
              <a:t>Group Members</a:t>
            </a:r>
            <a:endParaRPr lang="en-US" sz="1300" dirty="0"/>
          </a:p>
        </p:txBody>
      </p:sp>
      <p:sp>
        <p:nvSpPr>
          <p:cNvPr id="14" name="Text 12"/>
          <p:cNvSpPr/>
          <p:nvPr/>
        </p:nvSpPr>
        <p:spPr>
          <a:xfrm>
            <a:off x="4389120" y="310896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1.</a:t>
            </a:r>
            <a:endParaRPr lang="en-US" sz="1050" dirty="0"/>
          </a:p>
        </p:txBody>
      </p:sp>
      <p:sp>
        <p:nvSpPr>
          <p:cNvPr id="15" name="Text 13"/>
          <p:cNvSpPr/>
          <p:nvPr/>
        </p:nvSpPr>
        <p:spPr>
          <a:xfrm>
            <a:off x="4709160" y="310896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Al-Aqmar Bin Qaid-E Johar (1121250326560)</a:t>
            </a:r>
            <a:endParaRPr lang="en-US" sz="1050" dirty="0"/>
          </a:p>
        </p:txBody>
      </p:sp>
      <p:sp>
        <p:nvSpPr>
          <p:cNvPr id="16" name="Text 14"/>
          <p:cNvSpPr/>
          <p:nvPr/>
        </p:nvSpPr>
        <p:spPr>
          <a:xfrm>
            <a:off x="4389120" y="338328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2.</a:t>
            </a:r>
            <a:endParaRPr lang="en-US" sz="1050" dirty="0"/>
          </a:p>
        </p:txBody>
      </p:sp>
      <p:sp>
        <p:nvSpPr>
          <p:cNvPr id="17" name="Text 15"/>
          <p:cNvSpPr/>
          <p:nvPr/>
        </p:nvSpPr>
        <p:spPr>
          <a:xfrm>
            <a:off x="4709160" y="338328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Hashem Maged Ali Alhasani (0121250326706)</a:t>
            </a:r>
            <a:endParaRPr lang="en-US" sz="1050" dirty="0"/>
          </a:p>
        </p:txBody>
      </p:sp>
      <p:sp>
        <p:nvSpPr>
          <p:cNvPr id="18" name="Text 16"/>
          <p:cNvSpPr/>
          <p:nvPr/>
        </p:nvSpPr>
        <p:spPr>
          <a:xfrm>
            <a:off x="4389120" y="365760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3.</a:t>
            </a:r>
            <a:endParaRPr lang="en-US" sz="1050" dirty="0"/>
          </a:p>
        </p:txBody>
      </p:sp>
      <p:sp>
        <p:nvSpPr>
          <p:cNvPr id="19" name="Text 17"/>
          <p:cNvSpPr/>
          <p:nvPr/>
        </p:nvSpPr>
        <p:spPr>
          <a:xfrm>
            <a:off x="4709160" y="365760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Sharjeel Muhammad (0121250326923)</a:t>
            </a:r>
            <a:endParaRPr lang="en-US" sz="1050" dirty="0"/>
          </a:p>
        </p:txBody>
      </p:sp>
      <p:sp>
        <p:nvSpPr>
          <p:cNvPr id="20" name="Text 18"/>
          <p:cNvSpPr/>
          <p:nvPr/>
        </p:nvSpPr>
        <p:spPr>
          <a:xfrm>
            <a:off x="4389120" y="393192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4.</a:t>
            </a:r>
            <a:endParaRPr lang="en-US" sz="1050" dirty="0"/>
          </a:p>
        </p:txBody>
      </p:sp>
      <p:sp>
        <p:nvSpPr>
          <p:cNvPr id="21" name="Text 19"/>
          <p:cNvSpPr/>
          <p:nvPr/>
        </p:nvSpPr>
        <p:spPr>
          <a:xfrm>
            <a:off x="4709160" y="393192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Abdullah Saleh Abdullah (0121250326783)</a:t>
            </a:r>
            <a:endParaRPr lang="en-US" sz="1050" dirty="0"/>
          </a:p>
        </p:txBody>
      </p:sp>
      <p:sp>
        <p:nvSpPr>
          <p:cNvPr id="22" name="Text 20"/>
          <p:cNvSpPr/>
          <p:nvPr/>
        </p:nvSpPr>
        <p:spPr>
          <a:xfrm>
            <a:off x="4389120" y="420624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5.</a:t>
            </a:r>
            <a:endParaRPr lang="en-US" sz="1050" dirty="0"/>
          </a:p>
        </p:txBody>
      </p:sp>
      <p:sp>
        <p:nvSpPr>
          <p:cNvPr id="23" name="Text 21"/>
          <p:cNvSpPr/>
          <p:nvPr/>
        </p:nvSpPr>
        <p:spPr>
          <a:xfrm>
            <a:off x="4709160" y="420624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Ateegalla Fadlalseed Ateegalla Ahmed (0121250326810)</a:t>
            </a:r>
            <a:endParaRPr lang="en-US" sz="1050" dirty="0"/>
          </a:p>
        </p:txBody>
      </p:sp>
      <p:sp>
        <p:nvSpPr>
          <p:cNvPr id="24" name="Text 22"/>
          <p:cNvSpPr/>
          <p:nvPr/>
        </p:nvSpPr>
        <p:spPr>
          <a:xfrm>
            <a:off x="4389120" y="4480560"/>
            <a:ext cx="32004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6.</a:t>
            </a:r>
            <a:endParaRPr lang="en-US" sz="1050" dirty="0"/>
          </a:p>
        </p:txBody>
      </p:sp>
      <p:sp>
        <p:nvSpPr>
          <p:cNvPr id="25" name="Text 23"/>
          <p:cNvSpPr/>
          <p:nvPr/>
        </p:nvSpPr>
        <p:spPr>
          <a:xfrm>
            <a:off x="4709160" y="4480560"/>
            <a:ext cx="4069080" cy="256032"/>
          </a:xfrm>
          <a:prstGeom prst="rect">
            <a:avLst/>
          </a:prstGeom>
          <a:noFill/>
          <a:ln/>
        </p:spPr>
        <p:txBody>
          <a:bodyPr wrap="square" rtlCol="0" anchor="ctr"/>
          <a:lstStyle/>
          <a:p>
            <a:pPr algn="l" indent="0" marL="0">
              <a:buNone/>
            </a:pPr>
            <a:r>
              <a:rPr lang="en-US" sz="1050" dirty="0">
                <a:solidFill>
                  <a:srgbClr val="1A1A2E"/>
                </a:solidFill>
                <a:latin typeface="Calibri" pitchFamily="34" charset="0"/>
                <a:ea typeface="Calibri" pitchFamily="34" charset="-122"/>
                <a:cs typeface="Calibri" pitchFamily="34" charset="-120"/>
              </a:rPr>
              <a:t>Ibrahim Muhammad (0121250326708)</a:t>
            </a:r>
            <a:endParaRPr lang="en-US" sz="1050" dirty="0"/>
          </a:p>
        </p:txBody>
      </p:sp>
      <p:sp>
        <p:nvSpPr>
          <p:cNvPr id="26" name="Text 24"/>
          <p:cNvSpPr/>
          <p:nvPr/>
        </p:nvSpPr>
        <p:spPr>
          <a:xfrm>
            <a:off x="4206240" y="5120640"/>
            <a:ext cx="457200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Agenda</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548640" y="1271016"/>
            <a:ext cx="384048" cy="384048"/>
          </a:xfrm>
          <a:prstGeom prst="roundRect">
            <a:avLst>
              <a:gd name="adj" fmla="val 14286"/>
            </a:avLst>
          </a:prstGeom>
          <a:solidFill>
            <a:srgbClr val="C4603C"/>
          </a:solidFill>
          <a:ln/>
        </p:spPr>
      </p:sp>
      <p:sp>
        <p:nvSpPr>
          <p:cNvPr id="11" name="Text 9"/>
          <p:cNvSpPr/>
          <p:nvPr/>
        </p:nvSpPr>
        <p:spPr>
          <a:xfrm>
            <a:off x="548640" y="127101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2" name="Text 10"/>
          <p:cNvSpPr/>
          <p:nvPr/>
        </p:nvSpPr>
        <p:spPr>
          <a:xfrm>
            <a:off x="1097280" y="1234440"/>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Introduction &amp; Problem Statement</a:t>
            </a:r>
            <a:endParaRPr lang="en-US" sz="1450" dirty="0"/>
          </a:p>
        </p:txBody>
      </p:sp>
      <p:sp>
        <p:nvSpPr>
          <p:cNvPr id="13" name="Text 11"/>
          <p:cNvSpPr/>
          <p:nvPr/>
        </p:nvSpPr>
        <p:spPr>
          <a:xfrm>
            <a:off x="1097280" y="1536192"/>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Understanding the need for SmartLib</a:t>
            </a:r>
            <a:endParaRPr lang="en-US" sz="1150" dirty="0"/>
          </a:p>
        </p:txBody>
      </p:sp>
      <p:sp>
        <p:nvSpPr>
          <p:cNvPr id="14" name="Shape 12"/>
          <p:cNvSpPr/>
          <p:nvPr/>
        </p:nvSpPr>
        <p:spPr>
          <a:xfrm>
            <a:off x="548640" y="1975104"/>
            <a:ext cx="384048" cy="384048"/>
          </a:xfrm>
          <a:prstGeom prst="roundRect">
            <a:avLst>
              <a:gd name="adj" fmla="val 14286"/>
            </a:avLst>
          </a:prstGeom>
          <a:solidFill>
            <a:srgbClr val="2B4066"/>
          </a:solidFill>
          <a:ln/>
        </p:spPr>
      </p:sp>
      <p:sp>
        <p:nvSpPr>
          <p:cNvPr id="15" name="Text 13"/>
          <p:cNvSpPr/>
          <p:nvPr/>
        </p:nvSpPr>
        <p:spPr>
          <a:xfrm>
            <a:off x="548640" y="19751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1097280" y="1938528"/>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Application Overview</a:t>
            </a:r>
            <a:endParaRPr lang="en-US" sz="1450" dirty="0"/>
          </a:p>
        </p:txBody>
      </p:sp>
      <p:sp>
        <p:nvSpPr>
          <p:cNvPr id="17" name="Text 15"/>
          <p:cNvSpPr/>
          <p:nvPr/>
        </p:nvSpPr>
        <p:spPr>
          <a:xfrm>
            <a:off x="1097280" y="2240280"/>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Target users and key features</a:t>
            </a:r>
            <a:endParaRPr lang="en-US" sz="1150" dirty="0"/>
          </a:p>
        </p:txBody>
      </p:sp>
      <p:sp>
        <p:nvSpPr>
          <p:cNvPr id="18" name="Shape 16"/>
          <p:cNvSpPr/>
          <p:nvPr/>
        </p:nvSpPr>
        <p:spPr>
          <a:xfrm>
            <a:off x="548640" y="2679192"/>
            <a:ext cx="384048" cy="384048"/>
          </a:xfrm>
          <a:prstGeom prst="roundRect">
            <a:avLst>
              <a:gd name="adj" fmla="val 14286"/>
            </a:avLst>
          </a:prstGeom>
          <a:solidFill>
            <a:srgbClr val="C4603C"/>
          </a:solidFill>
          <a:ln/>
        </p:spPr>
      </p:sp>
      <p:sp>
        <p:nvSpPr>
          <p:cNvPr id="19" name="Text 17"/>
          <p:cNvSpPr/>
          <p:nvPr/>
        </p:nvSpPr>
        <p:spPr>
          <a:xfrm>
            <a:off x="548640" y="26791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0" name="Text 18"/>
          <p:cNvSpPr/>
          <p:nvPr/>
        </p:nvSpPr>
        <p:spPr>
          <a:xfrm>
            <a:off x="1097280" y="2642616"/>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Functional &amp; Non-Functional Requirements</a:t>
            </a:r>
            <a:endParaRPr lang="en-US" sz="1450" dirty="0"/>
          </a:p>
        </p:txBody>
      </p:sp>
      <p:sp>
        <p:nvSpPr>
          <p:cNvPr id="21" name="Text 19"/>
          <p:cNvSpPr/>
          <p:nvPr/>
        </p:nvSpPr>
        <p:spPr>
          <a:xfrm>
            <a:off x="1097280" y="2944368"/>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System capabilities and quality attributes</a:t>
            </a:r>
            <a:endParaRPr lang="en-US" sz="1150" dirty="0"/>
          </a:p>
        </p:txBody>
      </p:sp>
      <p:sp>
        <p:nvSpPr>
          <p:cNvPr id="22" name="Shape 20"/>
          <p:cNvSpPr/>
          <p:nvPr/>
        </p:nvSpPr>
        <p:spPr>
          <a:xfrm>
            <a:off x="548640" y="3383280"/>
            <a:ext cx="384048" cy="384048"/>
          </a:xfrm>
          <a:prstGeom prst="roundRect">
            <a:avLst>
              <a:gd name="adj" fmla="val 14286"/>
            </a:avLst>
          </a:prstGeom>
          <a:solidFill>
            <a:srgbClr val="2B4066"/>
          </a:solidFill>
          <a:ln/>
        </p:spPr>
      </p:sp>
      <p:sp>
        <p:nvSpPr>
          <p:cNvPr id="23" name="Text 21"/>
          <p:cNvSpPr/>
          <p:nvPr/>
        </p:nvSpPr>
        <p:spPr>
          <a:xfrm>
            <a:off x="548640" y="338328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4" name="Text 22"/>
          <p:cNvSpPr/>
          <p:nvPr/>
        </p:nvSpPr>
        <p:spPr>
          <a:xfrm>
            <a:off x="1097280" y="3346704"/>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Application Flowchart</a:t>
            </a:r>
            <a:endParaRPr lang="en-US" sz="1450" dirty="0"/>
          </a:p>
        </p:txBody>
      </p:sp>
      <p:sp>
        <p:nvSpPr>
          <p:cNvPr id="25" name="Text 23"/>
          <p:cNvSpPr/>
          <p:nvPr/>
        </p:nvSpPr>
        <p:spPr>
          <a:xfrm>
            <a:off x="1097280" y="3648456"/>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User journey and interaction flow</a:t>
            </a:r>
            <a:endParaRPr lang="en-US" sz="1150" dirty="0"/>
          </a:p>
        </p:txBody>
      </p:sp>
      <p:sp>
        <p:nvSpPr>
          <p:cNvPr id="26" name="Shape 24"/>
          <p:cNvSpPr/>
          <p:nvPr/>
        </p:nvSpPr>
        <p:spPr>
          <a:xfrm>
            <a:off x="548640" y="4087368"/>
            <a:ext cx="384048" cy="384048"/>
          </a:xfrm>
          <a:prstGeom prst="roundRect">
            <a:avLst>
              <a:gd name="adj" fmla="val 14286"/>
            </a:avLst>
          </a:prstGeom>
          <a:solidFill>
            <a:srgbClr val="C4603C"/>
          </a:solidFill>
          <a:ln/>
        </p:spPr>
      </p:sp>
      <p:sp>
        <p:nvSpPr>
          <p:cNvPr id="27" name="Text 25"/>
          <p:cNvSpPr/>
          <p:nvPr/>
        </p:nvSpPr>
        <p:spPr>
          <a:xfrm>
            <a:off x="548640" y="40873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8" name="Text 26"/>
          <p:cNvSpPr/>
          <p:nvPr/>
        </p:nvSpPr>
        <p:spPr>
          <a:xfrm>
            <a:off x="1097280" y="4050792"/>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Shneiderman's Eight Golden Rules</a:t>
            </a:r>
            <a:endParaRPr lang="en-US" sz="1450" dirty="0"/>
          </a:p>
        </p:txBody>
      </p:sp>
      <p:sp>
        <p:nvSpPr>
          <p:cNvPr id="29" name="Text 27"/>
          <p:cNvSpPr/>
          <p:nvPr/>
        </p:nvSpPr>
        <p:spPr>
          <a:xfrm>
            <a:off x="1097280" y="4352544"/>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HCI principles applied to SmartLib</a:t>
            </a:r>
            <a:endParaRPr lang="en-US" sz="1150" dirty="0"/>
          </a:p>
        </p:txBody>
      </p:sp>
      <p:sp>
        <p:nvSpPr>
          <p:cNvPr id="30" name="Shape 28"/>
          <p:cNvSpPr/>
          <p:nvPr/>
        </p:nvSpPr>
        <p:spPr>
          <a:xfrm>
            <a:off x="548640" y="4791456"/>
            <a:ext cx="384048" cy="384048"/>
          </a:xfrm>
          <a:prstGeom prst="roundRect">
            <a:avLst>
              <a:gd name="adj" fmla="val 14286"/>
            </a:avLst>
          </a:prstGeom>
          <a:solidFill>
            <a:srgbClr val="2B4066"/>
          </a:solidFill>
          <a:ln/>
        </p:spPr>
      </p:sp>
      <p:sp>
        <p:nvSpPr>
          <p:cNvPr id="31" name="Text 29"/>
          <p:cNvSpPr/>
          <p:nvPr/>
        </p:nvSpPr>
        <p:spPr>
          <a:xfrm>
            <a:off x="548640" y="4791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2" name="Text 30"/>
          <p:cNvSpPr/>
          <p:nvPr/>
        </p:nvSpPr>
        <p:spPr>
          <a:xfrm>
            <a:off x="1097280" y="4754880"/>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Interface Design &amp; Mockups</a:t>
            </a:r>
            <a:endParaRPr lang="en-US" sz="1450" dirty="0"/>
          </a:p>
        </p:txBody>
      </p:sp>
      <p:sp>
        <p:nvSpPr>
          <p:cNvPr id="33" name="Text 31"/>
          <p:cNvSpPr/>
          <p:nvPr/>
        </p:nvSpPr>
        <p:spPr>
          <a:xfrm>
            <a:off x="1097280" y="5056632"/>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Login, Dashboard, Search, and Profile screens</a:t>
            </a:r>
            <a:endParaRPr lang="en-US" sz="1150" dirty="0"/>
          </a:p>
        </p:txBody>
      </p:sp>
      <p:sp>
        <p:nvSpPr>
          <p:cNvPr id="34" name="Shape 32"/>
          <p:cNvSpPr/>
          <p:nvPr/>
        </p:nvSpPr>
        <p:spPr>
          <a:xfrm>
            <a:off x="548640" y="5495544"/>
            <a:ext cx="384048" cy="384048"/>
          </a:xfrm>
          <a:prstGeom prst="roundRect">
            <a:avLst>
              <a:gd name="adj" fmla="val 14286"/>
            </a:avLst>
          </a:prstGeom>
          <a:solidFill>
            <a:srgbClr val="C4603C"/>
          </a:solidFill>
          <a:ln/>
        </p:spPr>
      </p:sp>
      <p:sp>
        <p:nvSpPr>
          <p:cNvPr id="35" name="Text 33"/>
          <p:cNvSpPr/>
          <p:nvPr/>
        </p:nvSpPr>
        <p:spPr>
          <a:xfrm>
            <a:off x="548640" y="54955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7</a:t>
            </a:r>
            <a:endParaRPr lang="en-US" sz="1500" dirty="0"/>
          </a:p>
        </p:txBody>
      </p:sp>
      <p:sp>
        <p:nvSpPr>
          <p:cNvPr id="36" name="Text 34"/>
          <p:cNvSpPr/>
          <p:nvPr/>
        </p:nvSpPr>
        <p:spPr>
          <a:xfrm>
            <a:off x="1097280" y="5458968"/>
            <a:ext cx="4572000" cy="320040"/>
          </a:xfrm>
          <a:prstGeom prst="rect">
            <a:avLst/>
          </a:prstGeom>
          <a:noFill/>
          <a:ln/>
        </p:spPr>
        <p:txBody>
          <a:bodyPr wrap="square" rtlCol="0" anchor="ctr"/>
          <a:lstStyle/>
          <a:p>
            <a:pPr indent="0" marL="0">
              <a:buNone/>
            </a:pPr>
            <a:r>
              <a:rPr lang="en-US" sz="1450" b="1" dirty="0">
                <a:solidFill>
                  <a:srgbClr val="2B4066"/>
                </a:solidFill>
                <a:latin typeface="Georgia" pitchFamily="34" charset="0"/>
                <a:ea typeface="Georgia" pitchFamily="34" charset="-122"/>
                <a:cs typeface="Georgia" pitchFamily="34" charset="-120"/>
              </a:rPr>
              <a:t>Conclusion &amp; References</a:t>
            </a:r>
            <a:endParaRPr lang="en-US" sz="1450" dirty="0"/>
          </a:p>
        </p:txBody>
      </p:sp>
      <p:sp>
        <p:nvSpPr>
          <p:cNvPr id="37" name="Text 35"/>
          <p:cNvSpPr/>
          <p:nvPr/>
        </p:nvSpPr>
        <p:spPr>
          <a:xfrm>
            <a:off x="1097280" y="5760720"/>
            <a:ext cx="6858000" cy="32004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Summary and academic sources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Introduction</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365760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What is SmartLib?</a:t>
            </a:r>
            <a:endParaRPr lang="en-US" sz="1600" dirty="0"/>
          </a:p>
        </p:txBody>
      </p:sp>
      <p:sp>
        <p:nvSpPr>
          <p:cNvPr id="11" name="Shape 9"/>
          <p:cNvSpPr/>
          <p:nvPr/>
        </p:nvSpPr>
        <p:spPr>
          <a:xfrm>
            <a:off x="640080" y="1627632"/>
            <a:ext cx="731520" cy="36576"/>
          </a:xfrm>
          <a:prstGeom prst="rect">
            <a:avLst/>
          </a:prstGeom>
          <a:solidFill>
            <a:srgbClr val="C4603C"/>
          </a:solidFill>
          <a:ln/>
        </p:spPr>
      </p:sp>
      <p:sp>
        <p:nvSpPr>
          <p:cNvPr id="12" name="Text 10"/>
          <p:cNvSpPr/>
          <p:nvPr/>
        </p:nvSpPr>
        <p:spPr>
          <a:xfrm>
            <a:off x="640080" y="1783080"/>
            <a:ext cx="7863840" cy="1097280"/>
          </a:xfrm>
          <a:prstGeom prst="rect">
            <a:avLst/>
          </a:prstGeom>
          <a:noFill/>
          <a:ln/>
        </p:spPr>
        <p:txBody>
          <a:bodyPr wrap="square" rtlCol="0" anchor="t"/>
          <a:lstStyle/>
          <a:p>
            <a:pPr indent="0" marL="0">
              <a:lnSpc>
                <a:spcPct val="135000"/>
              </a:lnSpc>
              <a:buNone/>
            </a:pPr>
            <a:r>
              <a:rPr lang="en-US" sz="1350" dirty="0">
                <a:solidFill>
                  <a:srgbClr val="1A1A2E"/>
                </a:solidFill>
                <a:latin typeface="Calibri" pitchFamily="34" charset="0"/>
                <a:ea typeface="Calibri" pitchFamily="34" charset="-122"/>
                <a:cs typeface="Calibri" pitchFamily="34" charset="-120"/>
              </a:rPr>
              <a:t>SmartLib is a comprehensive web-based library management system designed for university environments. It aims to replace traditional manual library processes with an intuitive, accessible digital platform that serves students, librarians, and administrators through carefully designed human-computer interfaces.</a:t>
            </a:r>
            <a:endParaRPr lang="en-US" sz="1350" dirty="0"/>
          </a:p>
        </p:txBody>
      </p:sp>
      <p:sp>
        <p:nvSpPr>
          <p:cNvPr id="13" name="Text 11"/>
          <p:cNvSpPr/>
          <p:nvPr/>
        </p:nvSpPr>
        <p:spPr>
          <a:xfrm>
            <a:off x="640080" y="2971800"/>
            <a:ext cx="3657600" cy="365760"/>
          </a:xfrm>
          <a:prstGeom prst="rect">
            <a:avLst/>
          </a:prstGeom>
          <a:noFill/>
          <a:ln/>
        </p:spPr>
        <p:txBody>
          <a:bodyPr wrap="square" rtlCol="0" anchor="ctr"/>
          <a:lstStyle/>
          <a:p>
            <a:pPr indent="0" marL="0">
              <a:buNone/>
            </a:pPr>
            <a:r>
              <a:rPr lang="en-US" sz="1600" b="1" dirty="0">
                <a:solidFill>
                  <a:srgbClr val="C4603C"/>
                </a:solidFill>
                <a:latin typeface="Georgia" pitchFamily="34" charset="0"/>
                <a:ea typeface="Georgia" pitchFamily="34" charset="-122"/>
                <a:cs typeface="Georgia" pitchFamily="34" charset="-120"/>
              </a:rPr>
              <a:t>Problem Statement</a:t>
            </a:r>
            <a:endParaRPr lang="en-US" sz="1600" dirty="0"/>
          </a:p>
        </p:txBody>
      </p:sp>
      <p:sp>
        <p:nvSpPr>
          <p:cNvPr id="14" name="Shape 12"/>
          <p:cNvSpPr/>
          <p:nvPr/>
        </p:nvSpPr>
        <p:spPr>
          <a:xfrm>
            <a:off x="640080" y="3364992"/>
            <a:ext cx="731520" cy="36576"/>
          </a:xfrm>
          <a:prstGeom prst="rect">
            <a:avLst/>
          </a:prstGeom>
          <a:solidFill>
            <a:srgbClr val="C4603C"/>
          </a:solidFill>
          <a:ln/>
        </p:spPr>
      </p:sp>
      <p:sp>
        <p:nvSpPr>
          <p:cNvPr id="15" name="Text 13"/>
          <p:cNvSpPr/>
          <p:nvPr/>
        </p:nvSpPr>
        <p:spPr>
          <a:xfrm>
            <a:off x="640080" y="3520440"/>
            <a:ext cx="7863840" cy="2560320"/>
          </a:xfrm>
          <a:prstGeom prst="rect">
            <a:avLst/>
          </a:prstGeom>
          <a:noFill/>
          <a:ln/>
        </p:spPr>
        <p:txBody>
          <a:bodyPr wrap="square" rtlCol="0" anchor="t"/>
          <a:lstStyle/>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Manual, paper-based library systems are slow, error-prone, and difficult to scale</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Students must physically visit the library to search for or reserve books</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No real-time visibility into book availability causes frustration and wasted trips</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Fine calculation and record-keeping is inconsistent without automation</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Librarians spend excessive time on repetitive administrative tasks</a:t>
            </a:r>
            <a:endParaRPr lang="en-US" sz="1250" dirty="0"/>
          </a:p>
        </p:txBody>
      </p:sp>
      <p:sp>
        <p:nvSpPr>
          <p:cNvPr id="16" name="Shape 14"/>
          <p:cNvSpPr/>
          <p:nvPr/>
        </p:nvSpPr>
        <p:spPr>
          <a:xfrm>
            <a:off x="640080" y="5669280"/>
            <a:ext cx="7863840" cy="640080"/>
          </a:xfrm>
          <a:prstGeom prst="rect">
            <a:avLst>
              <a:gd name="adj" fmla="val 7143"/>
            </a:avLst>
          </a:prstGeom>
          <a:solidFill>
            <a:srgbClr val="E8D5CC"/>
          </a:solidFill>
          <a:ln/>
        </p:spPr>
      </p:sp>
      <p:sp>
        <p:nvSpPr>
          <p:cNvPr id="17" name="Shape 15"/>
          <p:cNvSpPr/>
          <p:nvPr/>
        </p:nvSpPr>
        <p:spPr>
          <a:xfrm>
            <a:off x="640080" y="5669280"/>
            <a:ext cx="73152" cy="640080"/>
          </a:xfrm>
          <a:prstGeom prst="rect">
            <a:avLst/>
          </a:prstGeom>
          <a:solidFill>
            <a:srgbClr val="C4603C"/>
          </a:solidFill>
          <a:ln/>
        </p:spPr>
      </p:sp>
      <p:sp>
        <p:nvSpPr>
          <p:cNvPr id="18" name="Text 16"/>
          <p:cNvSpPr/>
          <p:nvPr/>
        </p:nvSpPr>
        <p:spPr>
          <a:xfrm>
            <a:off x="914400" y="5715000"/>
            <a:ext cx="7498080" cy="548640"/>
          </a:xfrm>
          <a:prstGeom prst="rect">
            <a:avLst/>
          </a:prstGeom>
          <a:noFill/>
          <a:ln/>
        </p:spPr>
        <p:txBody>
          <a:bodyPr wrap="square" rtlCol="0" anchor="ctr"/>
          <a:lstStyle/>
          <a:p>
            <a:pPr indent="0" marL="0">
              <a:buNone/>
            </a:pPr>
            <a:r>
              <a:rPr lang="en-US" sz="1150" i="1" dirty="0">
                <a:solidFill>
                  <a:srgbClr val="2B4066"/>
                </a:solidFill>
                <a:latin typeface="Georgia" pitchFamily="34" charset="0"/>
                <a:ea typeface="Georgia" pitchFamily="34" charset="-122"/>
                <a:cs typeface="Georgia" pitchFamily="34" charset="-120"/>
              </a:rPr>
              <a:t>"A well-designed HCI system reduces cognitive load and empowers users to accomplish tasks efficiently."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Application Overview</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3657600" cy="36576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Target Users</a:t>
            </a:r>
            <a:endParaRPr lang="en-US" sz="1500" dirty="0"/>
          </a:p>
        </p:txBody>
      </p:sp>
      <p:sp>
        <p:nvSpPr>
          <p:cNvPr id="11" name="Shape 9"/>
          <p:cNvSpPr/>
          <p:nvPr/>
        </p:nvSpPr>
        <p:spPr>
          <a:xfrm>
            <a:off x="640080" y="1627632"/>
            <a:ext cx="731520" cy="36576"/>
          </a:xfrm>
          <a:prstGeom prst="rect">
            <a:avLst/>
          </a:prstGeom>
          <a:solidFill>
            <a:srgbClr val="C4603C"/>
          </a:solidFill>
          <a:ln/>
        </p:spPr>
      </p:sp>
      <p:sp>
        <p:nvSpPr>
          <p:cNvPr id="12" name="Shape 10"/>
          <p:cNvSpPr/>
          <p:nvPr/>
        </p:nvSpPr>
        <p:spPr>
          <a:xfrm>
            <a:off x="640080" y="1828800"/>
            <a:ext cx="2377440" cy="914400"/>
          </a:xfrm>
          <a:prstGeom prst="roundRect">
            <a:avLst>
              <a:gd name="adj" fmla="val 6000"/>
            </a:avLst>
          </a:prstGeom>
          <a:solidFill>
            <a:srgbClr val="FFFFFF"/>
          </a:solidFill>
          <a:ln/>
          <a:effectLst>
            <a:outerShdw sx="100000" sy="100000" kx="0" ky="0" algn="bl" rotWithShape="0" blurRad="38100" dist="12700" dir="16200000">
              <a:srgbClr val="CCCCCC">
                <a:alpha val="25000"/>
              </a:srgbClr>
            </a:outerShdw>
          </a:effectLst>
        </p:spPr>
      </p:sp>
      <p:sp>
        <p:nvSpPr>
          <p:cNvPr id="13" name="Shape 11"/>
          <p:cNvSpPr/>
          <p:nvPr/>
        </p:nvSpPr>
        <p:spPr>
          <a:xfrm>
            <a:off x="640080" y="1828800"/>
            <a:ext cx="2377440" cy="54864"/>
          </a:xfrm>
          <a:prstGeom prst="rect">
            <a:avLst>
              <a:gd name="adj" fmla="val 50000"/>
            </a:avLst>
          </a:prstGeom>
          <a:solidFill>
            <a:srgbClr val="C4603C"/>
          </a:solidFill>
          <a:ln/>
        </p:spPr>
      </p:sp>
      <p:sp>
        <p:nvSpPr>
          <p:cNvPr id="14" name="Text 12"/>
          <p:cNvSpPr/>
          <p:nvPr/>
        </p:nvSpPr>
        <p:spPr>
          <a:xfrm>
            <a:off x="777240" y="1965960"/>
            <a:ext cx="2103120" cy="320040"/>
          </a:xfrm>
          <a:prstGeom prst="rect">
            <a:avLst/>
          </a:prstGeom>
          <a:noFill/>
          <a:ln/>
        </p:spPr>
        <p:txBody>
          <a:bodyPr wrap="square" rtlCol="0" anchor="ctr"/>
          <a:lstStyle/>
          <a:p>
            <a:pPr indent="0" marL="0">
              <a:buNone/>
            </a:pPr>
            <a:r>
              <a:rPr lang="en-US" sz="1300" b="1" dirty="0">
                <a:solidFill>
                  <a:srgbClr val="C4603C"/>
                </a:solidFill>
                <a:latin typeface="Georgia" pitchFamily="34" charset="0"/>
                <a:ea typeface="Georgia" pitchFamily="34" charset="-122"/>
                <a:cs typeface="Georgia" pitchFamily="34" charset="-120"/>
              </a:rPr>
              <a:t>Students</a:t>
            </a:r>
            <a:endParaRPr lang="en-US" sz="1300" dirty="0"/>
          </a:p>
        </p:txBody>
      </p:sp>
      <p:sp>
        <p:nvSpPr>
          <p:cNvPr id="15" name="Text 13"/>
          <p:cNvSpPr/>
          <p:nvPr/>
        </p:nvSpPr>
        <p:spPr>
          <a:xfrm>
            <a:off x="777240" y="2286000"/>
            <a:ext cx="2103120" cy="36576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Search, borrow, reserve, and manage books</a:t>
            </a:r>
            <a:endParaRPr lang="en-US" sz="1050" dirty="0"/>
          </a:p>
        </p:txBody>
      </p:sp>
      <p:sp>
        <p:nvSpPr>
          <p:cNvPr id="16" name="Shape 14"/>
          <p:cNvSpPr/>
          <p:nvPr/>
        </p:nvSpPr>
        <p:spPr>
          <a:xfrm>
            <a:off x="3291840" y="1828800"/>
            <a:ext cx="2377440" cy="914400"/>
          </a:xfrm>
          <a:prstGeom prst="roundRect">
            <a:avLst>
              <a:gd name="adj" fmla="val 6000"/>
            </a:avLst>
          </a:prstGeom>
          <a:solidFill>
            <a:srgbClr val="FFFFFF"/>
          </a:solidFill>
          <a:ln/>
          <a:effectLst>
            <a:outerShdw sx="100000" sy="100000" kx="0" ky="0" algn="bl" rotWithShape="0" blurRad="38100" dist="12700" dir="16200000">
              <a:srgbClr val="CCCCCC">
                <a:alpha val="25000"/>
              </a:srgbClr>
            </a:outerShdw>
          </a:effectLst>
        </p:spPr>
      </p:sp>
      <p:sp>
        <p:nvSpPr>
          <p:cNvPr id="17" name="Shape 15"/>
          <p:cNvSpPr/>
          <p:nvPr/>
        </p:nvSpPr>
        <p:spPr>
          <a:xfrm>
            <a:off x="3291840" y="1828800"/>
            <a:ext cx="2377440" cy="54864"/>
          </a:xfrm>
          <a:prstGeom prst="rect">
            <a:avLst>
              <a:gd name="adj" fmla="val 50000"/>
            </a:avLst>
          </a:prstGeom>
          <a:solidFill>
            <a:srgbClr val="2B4066"/>
          </a:solidFill>
          <a:ln/>
        </p:spPr>
      </p:sp>
      <p:sp>
        <p:nvSpPr>
          <p:cNvPr id="18" name="Text 16"/>
          <p:cNvSpPr/>
          <p:nvPr/>
        </p:nvSpPr>
        <p:spPr>
          <a:xfrm>
            <a:off x="3429000" y="1965960"/>
            <a:ext cx="2103120" cy="320040"/>
          </a:xfrm>
          <a:prstGeom prst="rect">
            <a:avLst/>
          </a:prstGeom>
          <a:noFill/>
          <a:ln/>
        </p:spPr>
        <p:txBody>
          <a:bodyPr wrap="square" rtlCol="0" anchor="ctr"/>
          <a:lstStyle/>
          <a:p>
            <a:pPr indent="0" marL="0">
              <a:buNone/>
            </a:pPr>
            <a:r>
              <a:rPr lang="en-US" sz="1300" b="1" dirty="0">
                <a:solidFill>
                  <a:srgbClr val="2B4066"/>
                </a:solidFill>
                <a:latin typeface="Georgia" pitchFamily="34" charset="0"/>
                <a:ea typeface="Georgia" pitchFamily="34" charset="-122"/>
                <a:cs typeface="Georgia" pitchFamily="34" charset="-120"/>
              </a:rPr>
              <a:t>Librarians</a:t>
            </a:r>
            <a:endParaRPr lang="en-US" sz="1300" dirty="0"/>
          </a:p>
        </p:txBody>
      </p:sp>
      <p:sp>
        <p:nvSpPr>
          <p:cNvPr id="19" name="Text 17"/>
          <p:cNvSpPr/>
          <p:nvPr/>
        </p:nvSpPr>
        <p:spPr>
          <a:xfrm>
            <a:off x="3429000" y="2286000"/>
            <a:ext cx="2103120" cy="36576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Process transactions, manage catalog</a:t>
            </a:r>
            <a:endParaRPr lang="en-US" sz="1050" dirty="0"/>
          </a:p>
        </p:txBody>
      </p:sp>
      <p:sp>
        <p:nvSpPr>
          <p:cNvPr id="20" name="Shape 18"/>
          <p:cNvSpPr/>
          <p:nvPr/>
        </p:nvSpPr>
        <p:spPr>
          <a:xfrm>
            <a:off x="5943600" y="1828800"/>
            <a:ext cx="2377440" cy="914400"/>
          </a:xfrm>
          <a:prstGeom prst="roundRect">
            <a:avLst>
              <a:gd name="adj" fmla="val 6000"/>
            </a:avLst>
          </a:prstGeom>
          <a:solidFill>
            <a:srgbClr val="FFFFFF"/>
          </a:solidFill>
          <a:ln/>
          <a:effectLst>
            <a:outerShdw sx="100000" sy="100000" kx="0" ky="0" algn="bl" rotWithShape="0" blurRad="38100" dist="12700" dir="16200000">
              <a:srgbClr val="CCCCCC">
                <a:alpha val="25000"/>
              </a:srgbClr>
            </a:outerShdw>
          </a:effectLst>
        </p:spPr>
      </p:sp>
      <p:sp>
        <p:nvSpPr>
          <p:cNvPr id="21" name="Shape 19"/>
          <p:cNvSpPr/>
          <p:nvPr/>
        </p:nvSpPr>
        <p:spPr>
          <a:xfrm>
            <a:off x="5943600" y="1828800"/>
            <a:ext cx="2377440" cy="54864"/>
          </a:xfrm>
          <a:prstGeom prst="rect">
            <a:avLst>
              <a:gd name="adj" fmla="val 50000"/>
            </a:avLst>
          </a:prstGeom>
          <a:solidFill>
            <a:srgbClr val="1A1A2E"/>
          </a:solidFill>
          <a:ln/>
        </p:spPr>
      </p:sp>
      <p:sp>
        <p:nvSpPr>
          <p:cNvPr id="22" name="Text 20"/>
          <p:cNvSpPr/>
          <p:nvPr/>
        </p:nvSpPr>
        <p:spPr>
          <a:xfrm>
            <a:off x="6080760" y="1965960"/>
            <a:ext cx="2103120" cy="320040"/>
          </a:xfrm>
          <a:prstGeom prst="rect">
            <a:avLst/>
          </a:prstGeom>
          <a:noFill/>
          <a:ln/>
        </p:spPr>
        <p:txBody>
          <a:bodyPr wrap="square" rtlCol="0" anchor="ctr"/>
          <a:lstStyle/>
          <a:p>
            <a:pPr indent="0" marL="0">
              <a:buNone/>
            </a:pPr>
            <a:r>
              <a:rPr lang="en-US" sz="1300" b="1" dirty="0">
                <a:solidFill>
                  <a:srgbClr val="1A1A2E"/>
                </a:solidFill>
                <a:latin typeface="Georgia" pitchFamily="34" charset="0"/>
                <a:ea typeface="Georgia" pitchFamily="34" charset="-122"/>
                <a:cs typeface="Georgia" pitchFamily="34" charset="-120"/>
              </a:rPr>
              <a:t>Administrators</a:t>
            </a:r>
            <a:endParaRPr lang="en-US" sz="1300" dirty="0"/>
          </a:p>
        </p:txBody>
      </p:sp>
      <p:sp>
        <p:nvSpPr>
          <p:cNvPr id="23" name="Text 21"/>
          <p:cNvSpPr/>
          <p:nvPr/>
        </p:nvSpPr>
        <p:spPr>
          <a:xfrm>
            <a:off x="6080760" y="2286000"/>
            <a:ext cx="2103120" cy="36576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System oversight, reports, user management</a:t>
            </a:r>
            <a:endParaRPr lang="en-US" sz="1050" dirty="0"/>
          </a:p>
        </p:txBody>
      </p:sp>
      <p:sp>
        <p:nvSpPr>
          <p:cNvPr id="24" name="Text 22"/>
          <p:cNvSpPr/>
          <p:nvPr/>
        </p:nvSpPr>
        <p:spPr>
          <a:xfrm>
            <a:off x="640080" y="3017520"/>
            <a:ext cx="3657600" cy="36576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Key Features</a:t>
            </a:r>
            <a:endParaRPr lang="en-US" sz="1500" dirty="0"/>
          </a:p>
        </p:txBody>
      </p:sp>
      <p:sp>
        <p:nvSpPr>
          <p:cNvPr id="25" name="Shape 23"/>
          <p:cNvSpPr/>
          <p:nvPr/>
        </p:nvSpPr>
        <p:spPr>
          <a:xfrm>
            <a:off x="640080" y="3410712"/>
            <a:ext cx="731520" cy="36576"/>
          </a:xfrm>
          <a:prstGeom prst="rect">
            <a:avLst/>
          </a:prstGeom>
          <a:solidFill>
            <a:srgbClr val="C4603C"/>
          </a:solidFill>
          <a:ln/>
        </p:spPr>
      </p:sp>
      <p:sp>
        <p:nvSpPr>
          <p:cNvPr id="26" name="Shape 24"/>
          <p:cNvSpPr/>
          <p:nvPr/>
        </p:nvSpPr>
        <p:spPr>
          <a:xfrm>
            <a:off x="457200" y="36118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27" name="Shape 25"/>
          <p:cNvSpPr/>
          <p:nvPr/>
        </p:nvSpPr>
        <p:spPr>
          <a:xfrm>
            <a:off x="457200" y="3611880"/>
            <a:ext cx="1554480" cy="54864"/>
          </a:xfrm>
          <a:prstGeom prst="rect">
            <a:avLst>
              <a:gd name="adj" fmla="val 50000"/>
            </a:avLst>
          </a:prstGeom>
          <a:solidFill>
            <a:srgbClr val="C4603C"/>
          </a:solidFill>
          <a:ln/>
        </p:spPr>
      </p:sp>
      <p:sp>
        <p:nvSpPr>
          <p:cNvPr id="28" name="Text 26"/>
          <p:cNvSpPr/>
          <p:nvPr/>
        </p:nvSpPr>
        <p:spPr>
          <a:xfrm>
            <a:off x="548640" y="37490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Book Catalog</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&amp; Search</a:t>
            </a:r>
            <a:endParaRPr lang="en-US" sz="1200" dirty="0"/>
          </a:p>
        </p:txBody>
      </p:sp>
      <p:sp>
        <p:nvSpPr>
          <p:cNvPr id="29" name="Shape 27"/>
          <p:cNvSpPr/>
          <p:nvPr/>
        </p:nvSpPr>
        <p:spPr>
          <a:xfrm>
            <a:off x="2194560" y="36118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30" name="Shape 28"/>
          <p:cNvSpPr/>
          <p:nvPr/>
        </p:nvSpPr>
        <p:spPr>
          <a:xfrm>
            <a:off x="2194560" y="3611880"/>
            <a:ext cx="1554480" cy="54864"/>
          </a:xfrm>
          <a:prstGeom prst="rect">
            <a:avLst>
              <a:gd name="adj" fmla="val 50000"/>
            </a:avLst>
          </a:prstGeom>
          <a:solidFill>
            <a:srgbClr val="C4603C"/>
          </a:solidFill>
          <a:ln/>
        </p:spPr>
      </p:sp>
      <p:sp>
        <p:nvSpPr>
          <p:cNvPr id="31" name="Text 29"/>
          <p:cNvSpPr/>
          <p:nvPr/>
        </p:nvSpPr>
        <p:spPr>
          <a:xfrm>
            <a:off x="2286000" y="37490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Borrow &amp;</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Return</a:t>
            </a:r>
            <a:endParaRPr lang="en-US" sz="1200" dirty="0"/>
          </a:p>
        </p:txBody>
      </p:sp>
      <p:sp>
        <p:nvSpPr>
          <p:cNvPr id="32" name="Shape 30"/>
          <p:cNvSpPr/>
          <p:nvPr/>
        </p:nvSpPr>
        <p:spPr>
          <a:xfrm>
            <a:off x="3931920" y="36118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33" name="Shape 31"/>
          <p:cNvSpPr/>
          <p:nvPr/>
        </p:nvSpPr>
        <p:spPr>
          <a:xfrm>
            <a:off x="3931920" y="3611880"/>
            <a:ext cx="1554480" cy="54864"/>
          </a:xfrm>
          <a:prstGeom prst="rect">
            <a:avLst>
              <a:gd name="adj" fmla="val 50000"/>
            </a:avLst>
          </a:prstGeom>
          <a:solidFill>
            <a:srgbClr val="C4603C"/>
          </a:solidFill>
          <a:ln/>
        </p:spPr>
      </p:sp>
      <p:sp>
        <p:nvSpPr>
          <p:cNvPr id="34" name="Text 32"/>
          <p:cNvSpPr/>
          <p:nvPr/>
        </p:nvSpPr>
        <p:spPr>
          <a:xfrm>
            <a:off x="4023360" y="37490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Reservations</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&amp; Holds</a:t>
            </a:r>
            <a:endParaRPr lang="en-US" sz="1200" dirty="0"/>
          </a:p>
        </p:txBody>
      </p:sp>
      <p:sp>
        <p:nvSpPr>
          <p:cNvPr id="35" name="Shape 33"/>
          <p:cNvSpPr/>
          <p:nvPr/>
        </p:nvSpPr>
        <p:spPr>
          <a:xfrm>
            <a:off x="5669280" y="36118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36" name="Shape 34"/>
          <p:cNvSpPr/>
          <p:nvPr/>
        </p:nvSpPr>
        <p:spPr>
          <a:xfrm>
            <a:off x="5669280" y="3611880"/>
            <a:ext cx="1554480" cy="54864"/>
          </a:xfrm>
          <a:prstGeom prst="rect">
            <a:avLst>
              <a:gd name="adj" fmla="val 50000"/>
            </a:avLst>
          </a:prstGeom>
          <a:solidFill>
            <a:srgbClr val="C4603C"/>
          </a:solidFill>
          <a:ln/>
        </p:spPr>
      </p:sp>
      <p:sp>
        <p:nvSpPr>
          <p:cNvPr id="37" name="Text 35"/>
          <p:cNvSpPr/>
          <p:nvPr/>
        </p:nvSpPr>
        <p:spPr>
          <a:xfrm>
            <a:off x="5760720" y="37490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Fine</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Management</a:t>
            </a:r>
            <a:endParaRPr lang="en-US" sz="1200" dirty="0"/>
          </a:p>
        </p:txBody>
      </p:sp>
      <p:sp>
        <p:nvSpPr>
          <p:cNvPr id="38" name="Shape 36"/>
          <p:cNvSpPr/>
          <p:nvPr/>
        </p:nvSpPr>
        <p:spPr>
          <a:xfrm>
            <a:off x="7406640" y="36118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39" name="Shape 37"/>
          <p:cNvSpPr/>
          <p:nvPr/>
        </p:nvSpPr>
        <p:spPr>
          <a:xfrm>
            <a:off x="7406640" y="3611880"/>
            <a:ext cx="1554480" cy="54864"/>
          </a:xfrm>
          <a:prstGeom prst="rect">
            <a:avLst>
              <a:gd name="adj" fmla="val 50000"/>
            </a:avLst>
          </a:prstGeom>
          <a:solidFill>
            <a:srgbClr val="C4603C"/>
          </a:solidFill>
          <a:ln/>
        </p:spPr>
      </p:sp>
      <p:sp>
        <p:nvSpPr>
          <p:cNvPr id="40" name="Text 38"/>
          <p:cNvSpPr/>
          <p:nvPr/>
        </p:nvSpPr>
        <p:spPr>
          <a:xfrm>
            <a:off x="7498080" y="37490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QR Code</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Integration</a:t>
            </a:r>
            <a:endParaRPr lang="en-US" sz="1200" dirty="0"/>
          </a:p>
        </p:txBody>
      </p:sp>
      <p:sp>
        <p:nvSpPr>
          <p:cNvPr id="41" name="Shape 39"/>
          <p:cNvSpPr/>
          <p:nvPr/>
        </p:nvSpPr>
        <p:spPr>
          <a:xfrm>
            <a:off x="457200" y="49834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42" name="Shape 40"/>
          <p:cNvSpPr/>
          <p:nvPr/>
        </p:nvSpPr>
        <p:spPr>
          <a:xfrm>
            <a:off x="457200" y="4983480"/>
            <a:ext cx="1554480" cy="54864"/>
          </a:xfrm>
          <a:prstGeom prst="rect">
            <a:avLst>
              <a:gd name="adj" fmla="val 50000"/>
            </a:avLst>
          </a:prstGeom>
          <a:solidFill>
            <a:srgbClr val="2B4066"/>
          </a:solidFill>
          <a:ln/>
        </p:spPr>
      </p:sp>
      <p:sp>
        <p:nvSpPr>
          <p:cNvPr id="43" name="Text 41"/>
          <p:cNvSpPr/>
          <p:nvPr/>
        </p:nvSpPr>
        <p:spPr>
          <a:xfrm>
            <a:off x="548640" y="51206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Notifications</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&amp; Alerts</a:t>
            </a:r>
            <a:endParaRPr lang="en-US" sz="1200" dirty="0"/>
          </a:p>
        </p:txBody>
      </p:sp>
      <p:sp>
        <p:nvSpPr>
          <p:cNvPr id="44" name="Shape 42"/>
          <p:cNvSpPr/>
          <p:nvPr/>
        </p:nvSpPr>
        <p:spPr>
          <a:xfrm>
            <a:off x="2194560" y="49834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45" name="Shape 43"/>
          <p:cNvSpPr/>
          <p:nvPr/>
        </p:nvSpPr>
        <p:spPr>
          <a:xfrm>
            <a:off x="2194560" y="4983480"/>
            <a:ext cx="1554480" cy="54864"/>
          </a:xfrm>
          <a:prstGeom prst="rect">
            <a:avLst>
              <a:gd name="adj" fmla="val 50000"/>
            </a:avLst>
          </a:prstGeom>
          <a:solidFill>
            <a:srgbClr val="2B4066"/>
          </a:solidFill>
          <a:ln/>
        </p:spPr>
      </p:sp>
      <p:sp>
        <p:nvSpPr>
          <p:cNvPr id="46" name="Text 44"/>
          <p:cNvSpPr/>
          <p:nvPr/>
        </p:nvSpPr>
        <p:spPr>
          <a:xfrm>
            <a:off x="2286000" y="51206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User</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Dashboard</a:t>
            </a:r>
            <a:endParaRPr lang="en-US" sz="1200" dirty="0"/>
          </a:p>
        </p:txBody>
      </p:sp>
      <p:sp>
        <p:nvSpPr>
          <p:cNvPr id="47" name="Shape 45"/>
          <p:cNvSpPr/>
          <p:nvPr/>
        </p:nvSpPr>
        <p:spPr>
          <a:xfrm>
            <a:off x="3931920" y="49834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48" name="Shape 46"/>
          <p:cNvSpPr/>
          <p:nvPr/>
        </p:nvSpPr>
        <p:spPr>
          <a:xfrm>
            <a:off x="3931920" y="4983480"/>
            <a:ext cx="1554480" cy="54864"/>
          </a:xfrm>
          <a:prstGeom prst="rect">
            <a:avLst>
              <a:gd name="adj" fmla="val 50000"/>
            </a:avLst>
          </a:prstGeom>
          <a:solidFill>
            <a:srgbClr val="2B4066"/>
          </a:solidFill>
          <a:ln/>
        </p:spPr>
      </p:sp>
      <p:sp>
        <p:nvSpPr>
          <p:cNvPr id="49" name="Text 47"/>
          <p:cNvSpPr/>
          <p:nvPr/>
        </p:nvSpPr>
        <p:spPr>
          <a:xfrm>
            <a:off x="4023360" y="51206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Admin</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Dashboard</a:t>
            </a:r>
            <a:endParaRPr lang="en-US" sz="1200" dirty="0"/>
          </a:p>
        </p:txBody>
      </p:sp>
      <p:sp>
        <p:nvSpPr>
          <p:cNvPr id="50" name="Shape 48"/>
          <p:cNvSpPr/>
          <p:nvPr/>
        </p:nvSpPr>
        <p:spPr>
          <a:xfrm>
            <a:off x="5669280" y="49834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51" name="Shape 49"/>
          <p:cNvSpPr/>
          <p:nvPr/>
        </p:nvSpPr>
        <p:spPr>
          <a:xfrm>
            <a:off x="5669280" y="4983480"/>
            <a:ext cx="1554480" cy="54864"/>
          </a:xfrm>
          <a:prstGeom prst="rect">
            <a:avLst>
              <a:gd name="adj" fmla="val 50000"/>
            </a:avLst>
          </a:prstGeom>
          <a:solidFill>
            <a:srgbClr val="2B4066"/>
          </a:solidFill>
          <a:ln/>
        </p:spPr>
      </p:sp>
      <p:sp>
        <p:nvSpPr>
          <p:cNvPr id="52" name="Text 50"/>
          <p:cNvSpPr/>
          <p:nvPr/>
        </p:nvSpPr>
        <p:spPr>
          <a:xfrm>
            <a:off x="5760720" y="51206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Reports &amp;</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Analytics</a:t>
            </a:r>
            <a:endParaRPr lang="en-US" sz="1200" dirty="0"/>
          </a:p>
        </p:txBody>
      </p:sp>
      <p:sp>
        <p:nvSpPr>
          <p:cNvPr id="53" name="Shape 51"/>
          <p:cNvSpPr/>
          <p:nvPr/>
        </p:nvSpPr>
        <p:spPr>
          <a:xfrm>
            <a:off x="7406640" y="4983480"/>
            <a:ext cx="1554480" cy="1188720"/>
          </a:xfrm>
          <a:prstGeom prst="rect">
            <a:avLst>
              <a:gd name="adj" fmla="val 4615"/>
            </a:avLst>
          </a:prstGeom>
          <a:solidFill>
            <a:srgbClr val="FFFFFF"/>
          </a:solidFill>
          <a:ln/>
          <a:effectLst>
            <a:outerShdw sx="100000" sy="100000" kx="0" ky="0" algn="bl" rotWithShape="0" blurRad="50800" dist="25400" dir="16200000">
              <a:srgbClr val="CCCCCC">
                <a:alpha val="30000"/>
              </a:srgbClr>
            </a:outerShdw>
          </a:effectLst>
        </p:spPr>
      </p:sp>
      <p:sp>
        <p:nvSpPr>
          <p:cNvPr id="54" name="Shape 52"/>
          <p:cNvSpPr/>
          <p:nvPr/>
        </p:nvSpPr>
        <p:spPr>
          <a:xfrm>
            <a:off x="7406640" y="4983480"/>
            <a:ext cx="1554480" cy="54864"/>
          </a:xfrm>
          <a:prstGeom prst="rect">
            <a:avLst>
              <a:gd name="adj" fmla="val 50000"/>
            </a:avLst>
          </a:prstGeom>
          <a:solidFill>
            <a:srgbClr val="2B4066"/>
          </a:solidFill>
          <a:ln/>
        </p:spPr>
      </p:sp>
      <p:sp>
        <p:nvSpPr>
          <p:cNvPr id="55" name="Text 53"/>
          <p:cNvSpPr/>
          <p:nvPr/>
        </p:nvSpPr>
        <p:spPr>
          <a:xfrm>
            <a:off x="7498080" y="5120640"/>
            <a:ext cx="1371600" cy="914400"/>
          </a:xfrm>
          <a:prstGeom prst="rect">
            <a:avLst/>
          </a:prstGeom>
          <a:noFill/>
          <a:ln/>
        </p:spPr>
        <p:txBody>
          <a:bodyPr wrap="square" rtlCol="0" anchor="ctr"/>
          <a:lstStyle/>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User</a:t>
            </a:r>
            <a:endParaRPr lang="en-US" sz="1200" dirty="0"/>
          </a:p>
          <a:p>
            <a:pPr algn="ctr" indent="0" marL="0">
              <a:lnSpc>
                <a:spcPct val="120000"/>
              </a:lnSpc>
              <a:buNone/>
            </a:pPr>
            <a:r>
              <a:rPr lang="en-US" sz="1200" dirty="0">
                <a:solidFill>
                  <a:srgbClr val="1A1A2E"/>
                </a:solidFill>
                <a:latin typeface="Calibri" pitchFamily="34" charset="0"/>
                <a:ea typeface="Calibri" pitchFamily="34" charset="-122"/>
                <a:cs typeface="Calibri" pitchFamily="34" charset="-120"/>
              </a:rPr>
              <a:t>Registration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Functional Requirements (Part 1)</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457200" y="1261872"/>
            <a:ext cx="594360" cy="347472"/>
          </a:xfrm>
          <a:prstGeom prst="roundRect">
            <a:avLst>
              <a:gd name="adj" fmla="val 13158"/>
            </a:avLst>
          </a:prstGeom>
          <a:solidFill>
            <a:srgbClr val="C4603C"/>
          </a:solidFill>
          <a:ln/>
        </p:spPr>
      </p:sp>
      <p:sp>
        <p:nvSpPr>
          <p:cNvPr id="11" name="Text 9"/>
          <p:cNvSpPr/>
          <p:nvPr/>
        </p:nvSpPr>
        <p:spPr>
          <a:xfrm>
            <a:off x="457200" y="1261872"/>
            <a:ext cx="59436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FR1</a:t>
            </a:r>
            <a:endParaRPr lang="en-US" sz="1100" dirty="0"/>
          </a:p>
        </p:txBody>
      </p:sp>
      <p:sp>
        <p:nvSpPr>
          <p:cNvPr id="12" name="Text 10"/>
          <p:cNvSpPr/>
          <p:nvPr/>
        </p:nvSpPr>
        <p:spPr>
          <a:xfrm>
            <a:off x="1188720" y="1188720"/>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User Registration &amp; Authentication</a:t>
            </a:r>
            <a:endParaRPr lang="en-US" sz="1400" dirty="0"/>
          </a:p>
        </p:txBody>
      </p:sp>
      <p:sp>
        <p:nvSpPr>
          <p:cNvPr id="13" name="Text 11"/>
          <p:cNvSpPr/>
          <p:nvPr/>
        </p:nvSpPr>
        <p:spPr>
          <a:xfrm>
            <a:off x="1188720" y="1554480"/>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Users can register with student/staff ID and login securely. Password recovery via email is supported.</a:t>
            </a:r>
            <a:endParaRPr lang="en-US" sz="1150" dirty="0"/>
          </a:p>
        </p:txBody>
      </p:sp>
      <p:sp>
        <p:nvSpPr>
          <p:cNvPr id="14" name="Shape 12"/>
          <p:cNvSpPr/>
          <p:nvPr/>
        </p:nvSpPr>
        <p:spPr>
          <a:xfrm>
            <a:off x="457200" y="2103120"/>
            <a:ext cx="8229600" cy="9144"/>
          </a:xfrm>
          <a:prstGeom prst="rect">
            <a:avLst/>
          </a:prstGeom>
          <a:solidFill>
            <a:srgbClr val="E8D5CC"/>
          </a:solidFill>
          <a:ln/>
        </p:spPr>
      </p:sp>
      <p:sp>
        <p:nvSpPr>
          <p:cNvPr id="15" name="Shape 13"/>
          <p:cNvSpPr/>
          <p:nvPr/>
        </p:nvSpPr>
        <p:spPr>
          <a:xfrm>
            <a:off x="457200" y="2286000"/>
            <a:ext cx="594360" cy="347472"/>
          </a:xfrm>
          <a:prstGeom prst="roundRect">
            <a:avLst>
              <a:gd name="adj" fmla="val 13158"/>
            </a:avLst>
          </a:prstGeom>
          <a:solidFill>
            <a:srgbClr val="C4603C"/>
          </a:solidFill>
          <a:ln/>
        </p:spPr>
      </p:sp>
      <p:sp>
        <p:nvSpPr>
          <p:cNvPr id="16" name="Text 14"/>
          <p:cNvSpPr/>
          <p:nvPr/>
        </p:nvSpPr>
        <p:spPr>
          <a:xfrm>
            <a:off x="457200" y="2286000"/>
            <a:ext cx="59436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FR2</a:t>
            </a:r>
            <a:endParaRPr lang="en-US" sz="1100" dirty="0"/>
          </a:p>
        </p:txBody>
      </p:sp>
      <p:sp>
        <p:nvSpPr>
          <p:cNvPr id="17" name="Text 15"/>
          <p:cNvSpPr/>
          <p:nvPr/>
        </p:nvSpPr>
        <p:spPr>
          <a:xfrm>
            <a:off x="1188720" y="2212848"/>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Book Search &amp; Catalog Browsing</a:t>
            </a:r>
            <a:endParaRPr lang="en-US" sz="1400" dirty="0"/>
          </a:p>
        </p:txBody>
      </p:sp>
      <p:sp>
        <p:nvSpPr>
          <p:cNvPr id="18" name="Text 16"/>
          <p:cNvSpPr/>
          <p:nvPr/>
        </p:nvSpPr>
        <p:spPr>
          <a:xfrm>
            <a:off x="1188720" y="2578608"/>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Advanced search by title, author, ISBN, or category. Real-time filtering and sorting of results.</a:t>
            </a:r>
            <a:endParaRPr lang="en-US" sz="1150" dirty="0"/>
          </a:p>
        </p:txBody>
      </p:sp>
      <p:sp>
        <p:nvSpPr>
          <p:cNvPr id="19" name="Shape 17"/>
          <p:cNvSpPr/>
          <p:nvPr/>
        </p:nvSpPr>
        <p:spPr>
          <a:xfrm>
            <a:off x="457200" y="3127248"/>
            <a:ext cx="8229600" cy="9144"/>
          </a:xfrm>
          <a:prstGeom prst="rect">
            <a:avLst/>
          </a:prstGeom>
          <a:solidFill>
            <a:srgbClr val="E8D5CC"/>
          </a:solidFill>
          <a:ln/>
        </p:spPr>
      </p:sp>
      <p:sp>
        <p:nvSpPr>
          <p:cNvPr id="20" name="Shape 18"/>
          <p:cNvSpPr/>
          <p:nvPr/>
        </p:nvSpPr>
        <p:spPr>
          <a:xfrm>
            <a:off x="457200" y="3310128"/>
            <a:ext cx="594360" cy="347472"/>
          </a:xfrm>
          <a:prstGeom prst="roundRect">
            <a:avLst>
              <a:gd name="adj" fmla="val 13158"/>
            </a:avLst>
          </a:prstGeom>
          <a:solidFill>
            <a:srgbClr val="C4603C"/>
          </a:solidFill>
          <a:ln/>
        </p:spPr>
      </p:sp>
      <p:sp>
        <p:nvSpPr>
          <p:cNvPr id="21" name="Text 19"/>
          <p:cNvSpPr/>
          <p:nvPr/>
        </p:nvSpPr>
        <p:spPr>
          <a:xfrm>
            <a:off x="457200" y="3310128"/>
            <a:ext cx="59436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FR3</a:t>
            </a:r>
            <a:endParaRPr lang="en-US" sz="1100" dirty="0"/>
          </a:p>
        </p:txBody>
      </p:sp>
      <p:sp>
        <p:nvSpPr>
          <p:cNvPr id="22" name="Text 20"/>
          <p:cNvSpPr/>
          <p:nvPr/>
        </p:nvSpPr>
        <p:spPr>
          <a:xfrm>
            <a:off x="1188720" y="3236976"/>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Book Borrowing</a:t>
            </a:r>
            <a:endParaRPr lang="en-US" sz="1400" dirty="0"/>
          </a:p>
        </p:txBody>
      </p:sp>
      <p:sp>
        <p:nvSpPr>
          <p:cNvPr id="23" name="Text 21"/>
          <p:cNvSpPr/>
          <p:nvPr/>
        </p:nvSpPr>
        <p:spPr>
          <a:xfrm>
            <a:off x="1188720" y="3602736"/>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Students can borrow available books with automatic due date assignment. Borrowing limits enforced per user role.</a:t>
            </a:r>
            <a:endParaRPr lang="en-US" sz="1150" dirty="0"/>
          </a:p>
        </p:txBody>
      </p:sp>
      <p:sp>
        <p:nvSpPr>
          <p:cNvPr id="24" name="Shape 22"/>
          <p:cNvSpPr/>
          <p:nvPr/>
        </p:nvSpPr>
        <p:spPr>
          <a:xfrm>
            <a:off x="457200" y="4151376"/>
            <a:ext cx="8229600" cy="9144"/>
          </a:xfrm>
          <a:prstGeom prst="rect">
            <a:avLst/>
          </a:prstGeom>
          <a:solidFill>
            <a:srgbClr val="E8D5CC"/>
          </a:solidFill>
          <a:ln/>
        </p:spPr>
      </p:sp>
      <p:sp>
        <p:nvSpPr>
          <p:cNvPr id="25" name="Shape 23"/>
          <p:cNvSpPr/>
          <p:nvPr/>
        </p:nvSpPr>
        <p:spPr>
          <a:xfrm>
            <a:off x="457200" y="4334256"/>
            <a:ext cx="594360" cy="347472"/>
          </a:xfrm>
          <a:prstGeom prst="roundRect">
            <a:avLst>
              <a:gd name="adj" fmla="val 13158"/>
            </a:avLst>
          </a:prstGeom>
          <a:solidFill>
            <a:srgbClr val="C4603C"/>
          </a:solidFill>
          <a:ln/>
        </p:spPr>
      </p:sp>
      <p:sp>
        <p:nvSpPr>
          <p:cNvPr id="26" name="Text 24"/>
          <p:cNvSpPr/>
          <p:nvPr/>
        </p:nvSpPr>
        <p:spPr>
          <a:xfrm>
            <a:off x="457200" y="4334256"/>
            <a:ext cx="59436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FR4</a:t>
            </a:r>
            <a:endParaRPr lang="en-US" sz="1100" dirty="0"/>
          </a:p>
        </p:txBody>
      </p:sp>
      <p:sp>
        <p:nvSpPr>
          <p:cNvPr id="27" name="Text 25"/>
          <p:cNvSpPr/>
          <p:nvPr/>
        </p:nvSpPr>
        <p:spPr>
          <a:xfrm>
            <a:off x="1188720" y="4261104"/>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Book Returning</a:t>
            </a:r>
            <a:endParaRPr lang="en-US" sz="1400" dirty="0"/>
          </a:p>
        </p:txBody>
      </p:sp>
      <p:sp>
        <p:nvSpPr>
          <p:cNvPr id="28" name="Text 26"/>
          <p:cNvSpPr/>
          <p:nvPr/>
        </p:nvSpPr>
        <p:spPr>
          <a:xfrm>
            <a:off x="1188720" y="4626864"/>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Librarians process returns with automatic overdue detection. System updates availability status instantly.</a:t>
            </a:r>
            <a:endParaRPr lang="en-US" sz="1150" dirty="0"/>
          </a:p>
        </p:txBody>
      </p:sp>
      <p:sp>
        <p:nvSpPr>
          <p:cNvPr id="29" name="Shape 27"/>
          <p:cNvSpPr/>
          <p:nvPr/>
        </p:nvSpPr>
        <p:spPr>
          <a:xfrm>
            <a:off x="457200" y="5175504"/>
            <a:ext cx="8229600" cy="9144"/>
          </a:xfrm>
          <a:prstGeom prst="rect">
            <a:avLst/>
          </a:prstGeom>
          <a:solidFill>
            <a:srgbClr val="E8D5CC"/>
          </a:solidFill>
          <a:ln/>
        </p:spPr>
      </p:sp>
      <p:sp>
        <p:nvSpPr>
          <p:cNvPr id="30" name="Shape 28"/>
          <p:cNvSpPr/>
          <p:nvPr/>
        </p:nvSpPr>
        <p:spPr>
          <a:xfrm>
            <a:off x="457200" y="5358384"/>
            <a:ext cx="594360" cy="347472"/>
          </a:xfrm>
          <a:prstGeom prst="roundRect">
            <a:avLst>
              <a:gd name="adj" fmla="val 13158"/>
            </a:avLst>
          </a:prstGeom>
          <a:solidFill>
            <a:srgbClr val="C4603C"/>
          </a:solidFill>
          <a:ln/>
        </p:spPr>
      </p:sp>
      <p:sp>
        <p:nvSpPr>
          <p:cNvPr id="31" name="Text 29"/>
          <p:cNvSpPr/>
          <p:nvPr/>
        </p:nvSpPr>
        <p:spPr>
          <a:xfrm>
            <a:off x="457200" y="5358384"/>
            <a:ext cx="59436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FR5</a:t>
            </a:r>
            <a:endParaRPr lang="en-US" sz="1100" dirty="0"/>
          </a:p>
        </p:txBody>
      </p:sp>
      <p:sp>
        <p:nvSpPr>
          <p:cNvPr id="32" name="Text 30"/>
          <p:cNvSpPr/>
          <p:nvPr/>
        </p:nvSpPr>
        <p:spPr>
          <a:xfrm>
            <a:off x="1188720" y="5285232"/>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Book Reservation</a:t>
            </a:r>
            <a:endParaRPr lang="en-US" sz="1400" dirty="0"/>
          </a:p>
        </p:txBody>
      </p:sp>
      <p:sp>
        <p:nvSpPr>
          <p:cNvPr id="33" name="Text 31"/>
          <p:cNvSpPr/>
          <p:nvPr/>
        </p:nvSpPr>
        <p:spPr>
          <a:xfrm>
            <a:off x="1188720" y="5650992"/>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Users can reserve books currently on loan. Automatic notification when reserved book becomes available.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Functional Requirements (Part 2)</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457200" y="1261872"/>
            <a:ext cx="685800" cy="347472"/>
          </a:xfrm>
          <a:prstGeom prst="roundRect">
            <a:avLst>
              <a:gd name="adj" fmla="val 13158"/>
            </a:avLst>
          </a:prstGeom>
          <a:solidFill>
            <a:srgbClr val="2B4066"/>
          </a:solidFill>
          <a:ln/>
        </p:spPr>
      </p:sp>
      <p:sp>
        <p:nvSpPr>
          <p:cNvPr id="11" name="Text 9"/>
          <p:cNvSpPr/>
          <p:nvPr/>
        </p:nvSpPr>
        <p:spPr>
          <a:xfrm>
            <a:off x="457200" y="1261872"/>
            <a:ext cx="685800" cy="347472"/>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FR6</a:t>
            </a:r>
            <a:endParaRPr lang="en-US" sz="1050" dirty="0"/>
          </a:p>
        </p:txBody>
      </p:sp>
      <p:sp>
        <p:nvSpPr>
          <p:cNvPr id="12" name="Text 10"/>
          <p:cNvSpPr/>
          <p:nvPr/>
        </p:nvSpPr>
        <p:spPr>
          <a:xfrm>
            <a:off x="1280160" y="1188720"/>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Fine Calculation &amp; Payment</a:t>
            </a:r>
            <a:endParaRPr lang="en-US" sz="1400" dirty="0"/>
          </a:p>
        </p:txBody>
      </p:sp>
      <p:sp>
        <p:nvSpPr>
          <p:cNvPr id="13" name="Text 11"/>
          <p:cNvSpPr/>
          <p:nvPr/>
        </p:nvSpPr>
        <p:spPr>
          <a:xfrm>
            <a:off x="1280160" y="1554480"/>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Automatic calculation of overdue fines based on days late. Payment tracking and receipt generation.</a:t>
            </a:r>
            <a:endParaRPr lang="en-US" sz="1150" dirty="0"/>
          </a:p>
        </p:txBody>
      </p:sp>
      <p:sp>
        <p:nvSpPr>
          <p:cNvPr id="14" name="Shape 12"/>
          <p:cNvSpPr/>
          <p:nvPr/>
        </p:nvSpPr>
        <p:spPr>
          <a:xfrm>
            <a:off x="457200" y="2103120"/>
            <a:ext cx="8229600" cy="9144"/>
          </a:xfrm>
          <a:prstGeom prst="rect">
            <a:avLst/>
          </a:prstGeom>
          <a:solidFill>
            <a:srgbClr val="E8D5CC"/>
          </a:solidFill>
          <a:ln/>
        </p:spPr>
      </p:sp>
      <p:sp>
        <p:nvSpPr>
          <p:cNvPr id="15" name="Shape 13"/>
          <p:cNvSpPr/>
          <p:nvPr/>
        </p:nvSpPr>
        <p:spPr>
          <a:xfrm>
            <a:off x="457200" y="2286000"/>
            <a:ext cx="685800" cy="347472"/>
          </a:xfrm>
          <a:prstGeom prst="roundRect">
            <a:avLst>
              <a:gd name="adj" fmla="val 13158"/>
            </a:avLst>
          </a:prstGeom>
          <a:solidFill>
            <a:srgbClr val="2B4066"/>
          </a:solidFill>
          <a:ln/>
        </p:spPr>
      </p:sp>
      <p:sp>
        <p:nvSpPr>
          <p:cNvPr id="16" name="Text 14"/>
          <p:cNvSpPr/>
          <p:nvPr/>
        </p:nvSpPr>
        <p:spPr>
          <a:xfrm>
            <a:off x="457200" y="2286000"/>
            <a:ext cx="685800" cy="347472"/>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FR7</a:t>
            </a:r>
            <a:endParaRPr lang="en-US" sz="1050" dirty="0"/>
          </a:p>
        </p:txBody>
      </p:sp>
      <p:sp>
        <p:nvSpPr>
          <p:cNvPr id="17" name="Text 15"/>
          <p:cNvSpPr/>
          <p:nvPr/>
        </p:nvSpPr>
        <p:spPr>
          <a:xfrm>
            <a:off x="1280160" y="2212848"/>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Notifications &amp; Alerts</a:t>
            </a:r>
            <a:endParaRPr lang="en-US" sz="1400" dirty="0"/>
          </a:p>
        </p:txBody>
      </p:sp>
      <p:sp>
        <p:nvSpPr>
          <p:cNvPr id="18" name="Text 16"/>
          <p:cNvSpPr/>
          <p:nvPr/>
        </p:nvSpPr>
        <p:spPr>
          <a:xfrm>
            <a:off x="1280160" y="2578608"/>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Push and email notifications for due dates, reservations, and fine reminders. Configurable preferences.</a:t>
            </a:r>
            <a:endParaRPr lang="en-US" sz="1150" dirty="0"/>
          </a:p>
        </p:txBody>
      </p:sp>
      <p:sp>
        <p:nvSpPr>
          <p:cNvPr id="19" name="Shape 17"/>
          <p:cNvSpPr/>
          <p:nvPr/>
        </p:nvSpPr>
        <p:spPr>
          <a:xfrm>
            <a:off x="457200" y="3127248"/>
            <a:ext cx="8229600" cy="9144"/>
          </a:xfrm>
          <a:prstGeom prst="rect">
            <a:avLst/>
          </a:prstGeom>
          <a:solidFill>
            <a:srgbClr val="E8D5CC"/>
          </a:solidFill>
          <a:ln/>
        </p:spPr>
      </p:sp>
      <p:sp>
        <p:nvSpPr>
          <p:cNvPr id="20" name="Shape 18"/>
          <p:cNvSpPr/>
          <p:nvPr/>
        </p:nvSpPr>
        <p:spPr>
          <a:xfrm>
            <a:off x="457200" y="3310128"/>
            <a:ext cx="685800" cy="347472"/>
          </a:xfrm>
          <a:prstGeom prst="roundRect">
            <a:avLst>
              <a:gd name="adj" fmla="val 13158"/>
            </a:avLst>
          </a:prstGeom>
          <a:solidFill>
            <a:srgbClr val="2B4066"/>
          </a:solidFill>
          <a:ln/>
        </p:spPr>
      </p:sp>
      <p:sp>
        <p:nvSpPr>
          <p:cNvPr id="21" name="Text 19"/>
          <p:cNvSpPr/>
          <p:nvPr/>
        </p:nvSpPr>
        <p:spPr>
          <a:xfrm>
            <a:off x="457200" y="3310128"/>
            <a:ext cx="685800" cy="347472"/>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FR8</a:t>
            </a:r>
            <a:endParaRPr lang="en-US" sz="1050" dirty="0"/>
          </a:p>
        </p:txBody>
      </p:sp>
      <p:sp>
        <p:nvSpPr>
          <p:cNvPr id="22" name="Text 20"/>
          <p:cNvSpPr/>
          <p:nvPr/>
        </p:nvSpPr>
        <p:spPr>
          <a:xfrm>
            <a:off x="1280160" y="3236976"/>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User Dashboard</a:t>
            </a:r>
            <a:endParaRPr lang="en-US" sz="1400" dirty="0"/>
          </a:p>
        </p:txBody>
      </p:sp>
      <p:sp>
        <p:nvSpPr>
          <p:cNvPr id="23" name="Text 21"/>
          <p:cNvSpPr/>
          <p:nvPr/>
        </p:nvSpPr>
        <p:spPr>
          <a:xfrm>
            <a:off x="1280160" y="3602736"/>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Personalised dashboard showing current loans, pending reservations, fine status, and reading history.</a:t>
            </a:r>
            <a:endParaRPr lang="en-US" sz="1150" dirty="0"/>
          </a:p>
        </p:txBody>
      </p:sp>
      <p:sp>
        <p:nvSpPr>
          <p:cNvPr id="24" name="Shape 22"/>
          <p:cNvSpPr/>
          <p:nvPr/>
        </p:nvSpPr>
        <p:spPr>
          <a:xfrm>
            <a:off x="457200" y="4151376"/>
            <a:ext cx="8229600" cy="9144"/>
          </a:xfrm>
          <a:prstGeom prst="rect">
            <a:avLst/>
          </a:prstGeom>
          <a:solidFill>
            <a:srgbClr val="E8D5CC"/>
          </a:solidFill>
          <a:ln/>
        </p:spPr>
      </p:sp>
      <p:sp>
        <p:nvSpPr>
          <p:cNvPr id="25" name="Shape 23"/>
          <p:cNvSpPr/>
          <p:nvPr/>
        </p:nvSpPr>
        <p:spPr>
          <a:xfrm>
            <a:off x="457200" y="4334256"/>
            <a:ext cx="685800" cy="347472"/>
          </a:xfrm>
          <a:prstGeom prst="roundRect">
            <a:avLst>
              <a:gd name="adj" fmla="val 13158"/>
            </a:avLst>
          </a:prstGeom>
          <a:solidFill>
            <a:srgbClr val="2B4066"/>
          </a:solidFill>
          <a:ln/>
        </p:spPr>
      </p:sp>
      <p:sp>
        <p:nvSpPr>
          <p:cNvPr id="26" name="Text 24"/>
          <p:cNvSpPr/>
          <p:nvPr/>
        </p:nvSpPr>
        <p:spPr>
          <a:xfrm>
            <a:off x="457200" y="4334256"/>
            <a:ext cx="685800" cy="347472"/>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FR9</a:t>
            </a:r>
            <a:endParaRPr lang="en-US" sz="1050" dirty="0"/>
          </a:p>
        </p:txBody>
      </p:sp>
      <p:sp>
        <p:nvSpPr>
          <p:cNvPr id="27" name="Text 25"/>
          <p:cNvSpPr/>
          <p:nvPr/>
        </p:nvSpPr>
        <p:spPr>
          <a:xfrm>
            <a:off x="1280160" y="4261104"/>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Admin Dashboard &amp; Reports</a:t>
            </a:r>
            <a:endParaRPr lang="en-US" sz="1400" dirty="0"/>
          </a:p>
        </p:txBody>
      </p:sp>
      <p:sp>
        <p:nvSpPr>
          <p:cNvPr id="28" name="Text 26"/>
          <p:cNvSpPr/>
          <p:nvPr/>
        </p:nvSpPr>
        <p:spPr>
          <a:xfrm>
            <a:off x="1280160" y="4626864"/>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Comprehensive analytics on circulation trends, popular books, user activity, and inventory status.</a:t>
            </a:r>
            <a:endParaRPr lang="en-US" sz="1150" dirty="0"/>
          </a:p>
        </p:txBody>
      </p:sp>
      <p:sp>
        <p:nvSpPr>
          <p:cNvPr id="29" name="Shape 27"/>
          <p:cNvSpPr/>
          <p:nvPr/>
        </p:nvSpPr>
        <p:spPr>
          <a:xfrm>
            <a:off x="457200" y="5175504"/>
            <a:ext cx="8229600" cy="9144"/>
          </a:xfrm>
          <a:prstGeom prst="rect">
            <a:avLst/>
          </a:prstGeom>
          <a:solidFill>
            <a:srgbClr val="E8D5CC"/>
          </a:solidFill>
          <a:ln/>
        </p:spPr>
      </p:sp>
      <p:sp>
        <p:nvSpPr>
          <p:cNvPr id="30" name="Shape 28"/>
          <p:cNvSpPr/>
          <p:nvPr/>
        </p:nvSpPr>
        <p:spPr>
          <a:xfrm>
            <a:off x="457200" y="5358384"/>
            <a:ext cx="685800" cy="347472"/>
          </a:xfrm>
          <a:prstGeom prst="roundRect">
            <a:avLst>
              <a:gd name="adj" fmla="val 13158"/>
            </a:avLst>
          </a:prstGeom>
          <a:solidFill>
            <a:srgbClr val="2B4066"/>
          </a:solidFill>
          <a:ln/>
        </p:spPr>
      </p:sp>
      <p:sp>
        <p:nvSpPr>
          <p:cNvPr id="31" name="Text 29"/>
          <p:cNvSpPr/>
          <p:nvPr/>
        </p:nvSpPr>
        <p:spPr>
          <a:xfrm>
            <a:off x="457200" y="5358384"/>
            <a:ext cx="685800" cy="347472"/>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FR10</a:t>
            </a:r>
            <a:endParaRPr lang="en-US" sz="1050" dirty="0"/>
          </a:p>
        </p:txBody>
      </p:sp>
      <p:sp>
        <p:nvSpPr>
          <p:cNvPr id="32" name="Text 30"/>
          <p:cNvSpPr/>
          <p:nvPr/>
        </p:nvSpPr>
        <p:spPr>
          <a:xfrm>
            <a:off x="1280160" y="5285232"/>
            <a:ext cx="7315200" cy="347472"/>
          </a:xfrm>
          <a:prstGeom prst="rect">
            <a:avLst/>
          </a:prstGeom>
          <a:noFill/>
          <a:ln/>
        </p:spPr>
        <p:txBody>
          <a:bodyPr wrap="square" rtlCol="0" anchor="ctr"/>
          <a:lstStyle/>
          <a:p>
            <a:pPr indent="0" marL="0">
              <a:buNone/>
            </a:pPr>
            <a:r>
              <a:rPr lang="en-US" sz="1400" b="1" dirty="0">
                <a:solidFill>
                  <a:srgbClr val="2B4066"/>
                </a:solidFill>
                <a:latin typeface="Georgia" pitchFamily="34" charset="0"/>
                <a:ea typeface="Georgia" pitchFamily="34" charset="-122"/>
                <a:cs typeface="Georgia" pitchFamily="34" charset="-120"/>
              </a:rPr>
              <a:t>QR Code Integration</a:t>
            </a:r>
            <a:endParaRPr lang="en-US" sz="1400" dirty="0"/>
          </a:p>
        </p:txBody>
      </p:sp>
      <p:sp>
        <p:nvSpPr>
          <p:cNvPr id="33" name="Text 31"/>
          <p:cNvSpPr/>
          <p:nvPr/>
        </p:nvSpPr>
        <p:spPr>
          <a:xfrm>
            <a:off x="1280160" y="5650992"/>
            <a:ext cx="7315200" cy="502920"/>
          </a:xfrm>
          <a:prstGeom prst="rect">
            <a:avLst/>
          </a:prstGeom>
          <a:noFill/>
          <a:ln/>
        </p:spPr>
        <p:txBody>
          <a:bodyPr wrap="square" rtlCol="0" anchor="ctr"/>
          <a:lstStyle/>
          <a:p>
            <a:pPr indent="0" marL="0">
              <a:lnSpc>
                <a:spcPct val="120000"/>
              </a:lnSpc>
              <a:buNone/>
            </a:pPr>
            <a:r>
              <a:rPr lang="en-US" sz="1150" dirty="0">
                <a:solidFill>
                  <a:srgbClr val="6B7280"/>
                </a:solidFill>
                <a:latin typeface="Calibri" pitchFamily="34" charset="0"/>
                <a:ea typeface="Calibri" pitchFamily="34" charset="-122"/>
                <a:cs typeface="Calibri" pitchFamily="34" charset="-120"/>
              </a:rPr>
              <a:t>QR code scanning for rapid book identification during borrowing, returning, and inventory checks.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Non-Functional Requirements</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457200" y="1234440"/>
            <a:ext cx="914400" cy="411480"/>
          </a:xfrm>
          <a:prstGeom prst="rect">
            <a:avLst/>
          </a:prstGeom>
          <a:solidFill>
            <a:srgbClr val="2B4066"/>
          </a:solidFill>
          <a:ln/>
        </p:spPr>
      </p:sp>
      <p:sp>
        <p:nvSpPr>
          <p:cNvPr id="11" name="Text 9"/>
          <p:cNvSpPr/>
          <p:nvPr/>
        </p:nvSpPr>
        <p:spPr>
          <a:xfrm>
            <a:off x="457200" y="1234440"/>
            <a:ext cx="91440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ID</a:t>
            </a:r>
            <a:endParaRPr lang="en-US" sz="1100" dirty="0"/>
          </a:p>
        </p:txBody>
      </p:sp>
      <p:sp>
        <p:nvSpPr>
          <p:cNvPr id="12" name="Shape 10"/>
          <p:cNvSpPr/>
          <p:nvPr/>
        </p:nvSpPr>
        <p:spPr>
          <a:xfrm>
            <a:off x="1371600" y="1234440"/>
            <a:ext cx="1645920" cy="411480"/>
          </a:xfrm>
          <a:prstGeom prst="rect">
            <a:avLst/>
          </a:prstGeom>
          <a:solidFill>
            <a:srgbClr val="2B4066"/>
          </a:solidFill>
          <a:ln/>
        </p:spPr>
      </p:sp>
      <p:sp>
        <p:nvSpPr>
          <p:cNvPr id="13" name="Text 11"/>
          <p:cNvSpPr/>
          <p:nvPr/>
        </p:nvSpPr>
        <p:spPr>
          <a:xfrm>
            <a:off x="1371600" y="1234440"/>
            <a:ext cx="164592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Category</a:t>
            </a:r>
            <a:endParaRPr lang="en-US" sz="1100" dirty="0"/>
          </a:p>
        </p:txBody>
      </p:sp>
      <p:sp>
        <p:nvSpPr>
          <p:cNvPr id="14" name="Shape 12"/>
          <p:cNvSpPr/>
          <p:nvPr/>
        </p:nvSpPr>
        <p:spPr>
          <a:xfrm>
            <a:off x="3017520" y="1234440"/>
            <a:ext cx="5669280" cy="411480"/>
          </a:xfrm>
          <a:prstGeom prst="rect">
            <a:avLst/>
          </a:prstGeom>
          <a:solidFill>
            <a:srgbClr val="2B4066"/>
          </a:solidFill>
          <a:ln/>
        </p:spPr>
      </p:sp>
      <p:sp>
        <p:nvSpPr>
          <p:cNvPr id="15" name="Text 13"/>
          <p:cNvSpPr/>
          <p:nvPr/>
        </p:nvSpPr>
        <p:spPr>
          <a:xfrm>
            <a:off x="3017520" y="1234440"/>
            <a:ext cx="566928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Requirement</a:t>
            </a:r>
            <a:endParaRPr lang="en-US" sz="1100" dirty="0"/>
          </a:p>
        </p:txBody>
      </p:sp>
      <p:sp>
        <p:nvSpPr>
          <p:cNvPr id="16" name="Shape 14"/>
          <p:cNvSpPr/>
          <p:nvPr/>
        </p:nvSpPr>
        <p:spPr>
          <a:xfrm>
            <a:off x="457200" y="1645920"/>
            <a:ext cx="914400" cy="640080"/>
          </a:xfrm>
          <a:prstGeom prst="rect">
            <a:avLst/>
          </a:prstGeom>
          <a:solidFill>
            <a:srgbClr val="FFFFFF"/>
          </a:solidFill>
          <a:ln/>
        </p:spPr>
      </p:sp>
      <p:sp>
        <p:nvSpPr>
          <p:cNvPr id="17" name="Text 15"/>
          <p:cNvSpPr/>
          <p:nvPr/>
        </p:nvSpPr>
        <p:spPr>
          <a:xfrm>
            <a:off x="457200" y="164592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NFR1</a:t>
            </a:r>
            <a:endParaRPr lang="en-US" sz="1050" dirty="0"/>
          </a:p>
        </p:txBody>
      </p:sp>
      <p:sp>
        <p:nvSpPr>
          <p:cNvPr id="18" name="Shape 16"/>
          <p:cNvSpPr/>
          <p:nvPr/>
        </p:nvSpPr>
        <p:spPr>
          <a:xfrm>
            <a:off x="1371600" y="1645920"/>
            <a:ext cx="1645920" cy="640080"/>
          </a:xfrm>
          <a:prstGeom prst="rect">
            <a:avLst/>
          </a:prstGeom>
          <a:solidFill>
            <a:srgbClr val="FFFFFF"/>
          </a:solidFill>
          <a:ln/>
        </p:spPr>
      </p:sp>
      <p:sp>
        <p:nvSpPr>
          <p:cNvPr id="19" name="Text 17"/>
          <p:cNvSpPr/>
          <p:nvPr/>
        </p:nvSpPr>
        <p:spPr>
          <a:xfrm>
            <a:off x="1371600" y="164592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Performance</a:t>
            </a:r>
            <a:endParaRPr lang="en-US" sz="1050" dirty="0"/>
          </a:p>
        </p:txBody>
      </p:sp>
      <p:sp>
        <p:nvSpPr>
          <p:cNvPr id="20" name="Shape 18"/>
          <p:cNvSpPr/>
          <p:nvPr/>
        </p:nvSpPr>
        <p:spPr>
          <a:xfrm>
            <a:off x="3017520" y="1645920"/>
            <a:ext cx="5669280" cy="640080"/>
          </a:xfrm>
          <a:prstGeom prst="rect">
            <a:avLst/>
          </a:prstGeom>
          <a:solidFill>
            <a:srgbClr val="FFFFFF"/>
          </a:solidFill>
          <a:ln/>
        </p:spPr>
      </p:sp>
      <p:sp>
        <p:nvSpPr>
          <p:cNvPr id="21" name="Text 19"/>
          <p:cNvSpPr/>
          <p:nvPr/>
        </p:nvSpPr>
        <p:spPr>
          <a:xfrm>
            <a:off x="3154680" y="164592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Page load time under 3 seconds; search results returned within 1 second</a:t>
            </a:r>
            <a:endParaRPr lang="en-US" sz="1050" dirty="0"/>
          </a:p>
        </p:txBody>
      </p:sp>
      <p:sp>
        <p:nvSpPr>
          <p:cNvPr id="22" name="Shape 20"/>
          <p:cNvSpPr/>
          <p:nvPr/>
        </p:nvSpPr>
        <p:spPr>
          <a:xfrm>
            <a:off x="457200" y="2286000"/>
            <a:ext cx="914400" cy="640080"/>
          </a:xfrm>
          <a:prstGeom prst="rect">
            <a:avLst/>
          </a:prstGeom>
          <a:solidFill>
            <a:srgbClr val="E8D5CC"/>
          </a:solidFill>
          <a:ln/>
        </p:spPr>
      </p:sp>
      <p:sp>
        <p:nvSpPr>
          <p:cNvPr id="23" name="Text 21"/>
          <p:cNvSpPr/>
          <p:nvPr/>
        </p:nvSpPr>
        <p:spPr>
          <a:xfrm>
            <a:off x="457200" y="228600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NFR2</a:t>
            </a:r>
            <a:endParaRPr lang="en-US" sz="1050" dirty="0"/>
          </a:p>
        </p:txBody>
      </p:sp>
      <p:sp>
        <p:nvSpPr>
          <p:cNvPr id="24" name="Shape 22"/>
          <p:cNvSpPr/>
          <p:nvPr/>
        </p:nvSpPr>
        <p:spPr>
          <a:xfrm>
            <a:off x="1371600" y="2286000"/>
            <a:ext cx="1645920" cy="640080"/>
          </a:xfrm>
          <a:prstGeom prst="rect">
            <a:avLst/>
          </a:prstGeom>
          <a:solidFill>
            <a:srgbClr val="E8D5CC"/>
          </a:solidFill>
          <a:ln/>
        </p:spPr>
      </p:sp>
      <p:sp>
        <p:nvSpPr>
          <p:cNvPr id="25" name="Text 23"/>
          <p:cNvSpPr/>
          <p:nvPr/>
        </p:nvSpPr>
        <p:spPr>
          <a:xfrm>
            <a:off x="1371600" y="228600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Usability</a:t>
            </a:r>
            <a:endParaRPr lang="en-US" sz="1050" dirty="0"/>
          </a:p>
        </p:txBody>
      </p:sp>
      <p:sp>
        <p:nvSpPr>
          <p:cNvPr id="26" name="Shape 24"/>
          <p:cNvSpPr/>
          <p:nvPr/>
        </p:nvSpPr>
        <p:spPr>
          <a:xfrm>
            <a:off x="3017520" y="2286000"/>
            <a:ext cx="5669280" cy="640080"/>
          </a:xfrm>
          <a:prstGeom prst="rect">
            <a:avLst/>
          </a:prstGeom>
          <a:solidFill>
            <a:srgbClr val="E8D5CC"/>
          </a:solidFill>
          <a:ln/>
        </p:spPr>
      </p:sp>
      <p:sp>
        <p:nvSpPr>
          <p:cNvPr id="27" name="Text 25"/>
          <p:cNvSpPr/>
          <p:nvPr/>
        </p:nvSpPr>
        <p:spPr>
          <a:xfrm>
            <a:off x="3154680" y="228600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Interface learnable within 10 minutes for new users; WCAG 2.1 AA compliant</a:t>
            </a:r>
            <a:endParaRPr lang="en-US" sz="1050" dirty="0"/>
          </a:p>
        </p:txBody>
      </p:sp>
      <p:sp>
        <p:nvSpPr>
          <p:cNvPr id="28" name="Shape 26"/>
          <p:cNvSpPr/>
          <p:nvPr/>
        </p:nvSpPr>
        <p:spPr>
          <a:xfrm>
            <a:off x="457200" y="2926080"/>
            <a:ext cx="914400" cy="640080"/>
          </a:xfrm>
          <a:prstGeom prst="rect">
            <a:avLst/>
          </a:prstGeom>
          <a:solidFill>
            <a:srgbClr val="FFFFFF"/>
          </a:solidFill>
          <a:ln/>
        </p:spPr>
      </p:sp>
      <p:sp>
        <p:nvSpPr>
          <p:cNvPr id="29" name="Text 27"/>
          <p:cNvSpPr/>
          <p:nvPr/>
        </p:nvSpPr>
        <p:spPr>
          <a:xfrm>
            <a:off x="457200" y="292608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NFR3</a:t>
            </a:r>
            <a:endParaRPr lang="en-US" sz="1050" dirty="0"/>
          </a:p>
        </p:txBody>
      </p:sp>
      <p:sp>
        <p:nvSpPr>
          <p:cNvPr id="30" name="Shape 28"/>
          <p:cNvSpPr/>
          <p:nvPr/>
        </p:nvSpPr>
        <p:spPr>
          <a:xfrm>
            <a:off x="1371600" y="2926080"/>
            <a:ext cx="1645920" cy="640080"/>
          </a:xfrm>
          <a:prstGeom prst="rect">
            <a:avLst/>
          </a:prstGeom>
          <a:solidFill>
            <a:srgbClr val="FFFFFF"/>
          </a:solidFill>
          <a:ln/>
        </p:spPr>
      </p:sp>
      <p:sp>
        <p:nvSpPr>
          <p:cNvPr id="31" name="Text 29"/>
          <p:cNvSpPr/>
          <p:nvPr/>
        </p:nvSpPr>
        <p:spPr>
          <a:xfrm>
            <a:off x="1371600" y="292608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Reliability</a:t>
            </a:r>
            <a:endParaRPr lang="en-US" sz="1050" dirty="0"/>
          </a:p>
        </p:txBody>
      </p:sp>
      <p:sp>
        <p:nvSpPr>
          <p:cNvPr id="32" name="Shape 30"/>
          <p:cNvSpPr/>
          <p:nvPr/>
        </p:nvSpPr>
        <p:spPr>
          <a:xfrm>
            <a:off x="3017520" y="2926080"/>
            <a:ext cx="5669280" cy="640080"/>
          </a:xfrm>
          <a:prstGeom prst="rect">
            <a:avLst/>
          </a:prstGeom>
          <a:solidFill>
            <a:srgbClr val="FFFFFF"/>
          </a:solidFill>
          <a:ln/>
        </p:spPr>
      </p:sp>
      <p:sp>
        <p:nvSpPr>
          <p:cNvPr id="33" name="Text 31"/>
          <p:cNvSpPr/>
          <p:nvPr/>
        </p:nvSpPr>
        <p:spPr>
          <a:xfrm>
            <a:off x="3154680" y="292608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System uptime of 99.5%; automatic data backup every 24 hours</a:t>
            </a:r>
            <a:endParaRPr lang="en-US" sz="1050" dirty="0"/>
          </a:p>
        </p:txBody>
      </p:sp>
      <p:sp>
        <p:nvSpPr>
          <p:cNvPr id="34" name="Shape 32"/>
          <p:cNvSpPr/>
          <p:nvPr/>
        </p:nvSpPr>
        <p:spPr>
          <a:xfrm>
            <a:off x="457200" y="3566160"/>
            <a:ext cx="914400" cy="640080"/>
          </a:xfrm>
          <a:prstGeom prst="rect">
            <a:avLst/>
          </a:prstGeom>
          <a:solidFill>
            <a:srgbClr val="E8D5CC"/>
          </a:solidFill>
          <a:ln/>
        </p:spPr>
      </p:sp>
      <p:sp>
        <p:nvSpPr>
          <p:cNvPr id="35" name="Text 33"/>
          <p:cNvSpPr/>
          <p:nvPr/>
        </p:nvSpPr>
        <p:spPr>
          <a:xfrm>
            <a:off x="457200" y="356616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NFR4</a:t>
            </a:r>
            <a:endParaRPr lang="en-US" sz="1050" dirty="0"/>
          </a:p>
        </p:txBody>
      </p:sp>
      <p:sp>
        <p:nvSpPr>
          <p:cNvPr id="36" name="Shape 34"/>
          <p:cNvSpPr/>
          <p:nvPr/>
        </p:nvSpPr>
        <p:spPr>
          <a:xfrm>
            <a:off x="1371600" y="3566160"/>
            <a:ext cx="1645920" cy="640080"/>
          </a:xfrm>
          <a:prstGeom prst="rect">
            <a:avLst/>
          </a:prstGeom>
          <a:solidFill>
            <a:srgbClr val="E8D5CC"/>
          </a:solidFill>
          <a:ln/>
        </p:spPr>
      </p:sp>
      <p:sp>
        <p:nvSpPr>
          <p:cNvPr id="37" name="Text 35"/>
          <p:cNvSpPr/>
          <p:nvPr/>
        </p:nvSpPr>
        <p:spPr>
          <a:xfrm>
            <a:off x="1371600" y="356616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Security</a:t>
            </a:r>
            <a:endParaRPr lang="en-US" sz="1050" dirty="0"/>
          </a:p>
        </p:txBody>
      </p:sp>
      <p:sp>
        <p:nvSpPr>
          <p:cNvPr id="38" name="Shape 36"/>
          <p:cNvSpPr/>
          <p:nvPr/>
        </p:nvSpPr>
        <p:spPr>
          <a:xfrm>
            <a:off x="3017520" y="3566160"/>
            <a:ext cx="5669280" cy="640080"/>
          </a:xfrm>
          <a:prstGeom prst="rect">
            <a:avLst/>
          </a:prstGeom>
          <a:solidFill>
            <a:srgbClr val="E8D5CC"/>
          </a:solidFill>
          <a:ln/>
        </p:spPr>
      </p:sp>
      <p:sp>
        <p:nvSpPr>
          <p:cNvPr id="39" name="Text 37"/>
          <p:cNvSpPr/>
          <p:nvPr/>
        </p:nvSpPr>
        <p:spPr>
          <a:xfrm>
            <a:off x="3154680" y="356616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Encrypted password storage; role-based access control; session timeout after inactivity</a:t>
            </a:r>
            <a:endParaRPr lang="en-US" sz="1050" dirty="0"/>
          </a:p>
        </p:txBody>
      </p:sp>
      <p:sp>
        <p:nvSpPr>
          <p:cNvPr id="40" name="Shape 38"/>
          <p:cNvSpPr/>
          <p:nvPr/>
        </p:nvSpPr>
        <p:spPr>
          <a:xfrm>
            <a:off x="457200" y="4206240"/>
            <a:ext cx="914400" cy="640080"/>
          </a:xfrm>
          <a:prstGeom prst="rect">
            <a:avLst/>
          </a:prstGeom>
          <a:solidFill>
            <a:srgbClr val="FFFFFF"/>
          </a:solidFill>
          <a:ln/>
        </p:spPr>
      </p:sp>
      <p:sp>
        <p:nvSpPr>
          <p:cNvPr id="41" name="Text 39"/>
          <p:cNvSpPr/>
          <p:nvPr/>
        </p:nvSpPr>
        <p:spPr>
          <a:xfrm>
            <a:off x="457200" y="420624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NFR5</a:t>
            </a:r>
            <a:endParaRPr lang="en-US" sz="1050" dirty="0"/>
          </a:p>
        </p:txBody>
      </p:sp>
      <p:sp>
        <p:nvSpPr>
          <p:cNvPr id="42" name="Shape 40"/>
          <p:cNvSpPr/>
          <p:nvPr/>
        </p:nvSpPr>
        <p:spPr>
          <a:xfrm>
            <a:off x="1371600" y="4206240"/>
            <a:ext cx="1645920" cy="640080"/>
          </a:xfrm>
          <a:prstGeom prst="rect">
            <a:avLst/>
          </a:prstGeom>
          <a:solidFill>
            <a:srgbClr val="FFFFFF"/>
          </a:solidFill>
          <a:ln/>
        </p:spPr>
      </p:sp>
      <p:sp>
        <p:nvSpPr>
          <p:cNvPr id="43" name="Text 41"/>
          <p:cNvSpPr/>
          <p:nvPr/>
        </p:nvSpPr>
        <p:spPr>
          <a:xfrm>
            <a:off x="1371600" y="420624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Scalability</a:t>
            </a:r>
            <a:endParaRPr lang="en-US" sz="1050" dirty="0"/>
          </a:p>
        </p:txBody>
      </p:sp>
      <p:sp>
        <p:nvSpPr>
          <p:cNvPr id="44" name="Shape 42"/>
          <p:cNvSpPr/>
          <p:nvPr/>
        </p:nvSpPr>
        <p:spPr>
          <a:xfrm>
            <a:off x="3017520" y="4206240"/>
            <a:ext cx="5669280" cy="640080"/>
          </a:xfrm>
          <a:prstGeom prst="rect">
            <a:avLst/>
          </a:prstGeom>
          <a:solidFill>
            <a:srgbClr val="FFFFFF"/>
          </a:solidFill>
          <a:ln/>
        </p:spPr>
      </p:sp>
      <p:sp>
        <p:nvSpPr>
          <p:cNvPr id="45" name="Text 43"/>
          <p:cNvSpPr/>
          <p:nvPr/>
        </p:nvSpPr>
        <p:spPr>
          <a:xfrm>
            <a:off x="3154680" y="420624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Support up to 5,000 concurrent users without performance degradation</a:t>
            </a:r>
            <a:endParaRPr lang="en-US" sz="1050" dirty="0"/>
          </a:p>
        </p:txBody>
      </p:sp>
      <p:sp>
        <p:nvSpPr>
          <p:cNvPr id="46" name="Shape 44"/>
          <p:cNvSpPr/>
          <p:nvPr/>
        </p:nvSpPr>
        <p:spPr>
          <a:xfrm>
            <a:off x="457200" y="4846320"/>
            <a:ext cx="914400" cy="640080"/>
          </a:xfrm>
          <a:prstGeom prst="rect">
            <a:avLst/>
          </a:prstGeom>
          <a:solidFill>
            <a:srgbClr val="E8D5CC"/>
          </a:solidFill>
          <a:ln/>
        </p:spPr>
      </p:sp>
      <p:sp>
        <p:nvSpPr>
          <p:cNvPr id="47" name="Text 45"/>
          <p:cNvSpPr/>
          <p:nvPr/>
        </p:nvSpPr>
        <p:spPr>
          <a:xfrm>
            <a:off x="457200" y="484632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NFR6</a:t>
            </a:r>
            <a:endParaRPr lang="en-US" sz="1050" dirty="0"/>
          </a:p>
        </p:txBody>
      </p:sp>
      <p:sp>
        <p:nvSpPr>
          <p:cNvPr id="48" name="Shape 46"/>
          <p:cNvSpPr/>
          <p:nvPr/>
        </p:nvSpPr>
        <p:spPr>
          <a:xfrm>
            <a:off x="1371600" y="4846320"/>
            <a:ext cx="1645920" cy="640080"/>
          </a:xfrm>
          <a:prstGeom prst="rect">
            <a:avLst/>
          </a:prstGeom>
          <a:solidFill>
            <a:srgbClr val="E8D5CC"/>
          </a:solidFill>
          <a:ln/>
        </p:spPr>
      </p:sp>
      <p:sp>
        <p:nvSpPr>
          <p:cNvPr id="49" name="Text 47"/>
          <p:cNvSpPr/>
          <p:nvPr/>
        </p:nvSpPr>
        <p:spPr>
          <a:xfrm>
            <a:off x="1371600" y="484632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Compatibility</a:t>
            </a:r>
            <a:endParaRPr lang="en-US" sz="1050" dirty="0"/>
          </a:p>
        </p:txBody>
      </p:sp>
      <p:sp>
        <p:nvSpPr>
          <p:cNvPr id="50" name="Shape 48"/>
          <p:cNvSpPr/>
          <p:nvPr/>
        </p:nvSpPr>
        <p:spPr>
          <a:xfrm>
            <a:off x="3017520" y="4846320"/>
            <a:ext cx="5669280" cy="640080"/>
          </a:xfrm>
          <a:prstGeom prst="rect">
            <a:avLst/>
          </a:prstGeom>
          <a:solidFill>
            <a:srgbClr val="E8D5CC"/>
          </a:solidFill>
          <a:ln/>
        </p:spPr>
      </p:sp>
      <p:sp>
        <p:nvSpPr>
          <p:cNvPr id="51" name="Text 49"/>
          <p:cNvSpPr/>
          <p:nvPr/>
        </p:nvSpPr>
        <p:spPr>
          <a:xfrm>
            <a:off x="3154680" y="484632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Compatible with Chrome, Firefox, Safari, Edge; responsive on mobile and tablet</a:t>
            </a:r>
            <a:endParaRPr lang="en-US" sz="1050" dirty="0"/>
          </a:p>
        </p:txBody>
      </p:sp>
      <p:sp>
        <p:nvSpPr>
          <p:cNvPr id="52" name="Shape 50"/>
          <p:cNvSpPr/>
          <p:nvPr/>
        </p:nvSpPr>
        <p:spPr>
          <a:xfrm>
            <a:off x="457200" y="5486400"/>
            <a:ext cx="914400" cy="640080"/>
          </a:xfrm>
          <a:prstGeom prst="rect">
            <a:avLst/>
          </a:prstGeom>
          <a:solidFill>
            <a:srgbClr val="FFFFFF"/>
          </a:solidFill>
          <a:ln/>
        </p:spPr>
      </p:sp>
      <p:sp>
        <p:nvSpPr>
          <p:cNvPr id="53" name="Text 51"/>
          <p:cNvSpPr/>
          <p:nvPr/>
        </p:nvSpPr>
        <p:spPr>
          <a:xfrm>
            <a:off x="457200" y="5486400"/>
            <a:ext cx="914400" cy="640080"/>
          </a:xfrm>
          <a:prstGeom prst="rect">
            <a:avLst/>
          </a:prstGeom>
          <a:noFill/>
          <a:ln/>
        </p:spPr>
        <p:txBody>
          <a:bodyPr wrap="square" rtlCol="0" anchor="ctr"/>
          <a:lstStyle/>
          <a:p>
            <a:pPr algn="ctr" indent="0" marL="0">
              <a:buNone/>
            </a:pPr>
            <a:r>
              <a:rPr lang="en-US" sz="1050" b="1" dirty="0">
                <a:solidFill>
                  <a:srgbClr val="C4603C"/>
                </a:solidFill>
                <a:latin typeface="Georgia" pitchFamily="34" charset="0"/>
                <a:ea typeface="Georgia" pitchFamily="34" charset="-122"/>
                <a:cs typeface="Georgia" pitchFamily="34" charset="-120"/>
              </a:rPr>
              <a:t>NFR7</a:t>
            </a:r>
            <a:endParaRPr lang="en-US" sz="1050" dirty="0"/>
          </a:p>
        </p:txBody>
      </p:sp>
      <p:sp>
        <p:nvSpPr>
          <p:cNvPr id="54" name="Shape 52"/>
          <p:cNvSpPr/>
          <p:nvPr/>
        </p:nvSpPr>
        <p:spPr>
          <a:xfrm>
            <a:off x="1371600" y="5486400"/>
            <a:ext cx="1645920" cy="640080"/>
          </a:xfrm>
          <a:prstGeom prst="rect">
            <a:avLst/>
          </a:prstGeom>
          <a:solidFill>
            <a:srgbClr val="FFFFFF"/>
          </a:solidFill>
          <a:ln/>
        </p:spPr>
      </p:sp>
      <p:sp>
        <p:nvSpPr>
          <p:cNvPr id="55" name="Text 53"/>
          <p:cNvSpPr/>
          <p:nvPr/>
        </p:nvSpPr>
        <p:spPr>
          <a:xfrm>
            <a:off x="1371600" y="5486400"/>
            <a:ext cx="1645920" cy="640080"/>
          </a:xfrm>
          <a:prstGeom prst="rect">
            <a:avLst/>
          </a:prstGeom>
          <a:noFill/>
          <a:ln/>
        </p:spPr>
        <p:txBody>
          <a:bodyPr wrap="square" rtlCol="0" anchor="ctr"/>
          <a:lstStyle/>
          <a:p>
            <a:pPr algn="ctr" indent="0" marL="0">
              <a:buNone/>
            </a:pPr>
            <a:r>
              <a:rPr lang="en-US" sz="1050" b="1" dirty="0">
                <a:solidFill>
                  <a:srgbClr val="2B4066"/>
                </a:solidFill>
                <a:latin typeface="Calibri" pitchFamily="34" charset="0"/>
                <a:ea typeface="Calibri" pitchFamily="34" charset="-122"/>
                <a:cs typeface="Calibri" pitchFamily="34" charset="-120"/>
              </a:rPr>
              <a:t>Maintainability</a:t>
            </a:r>
            <a:endParaRPr lang="en-US" sz="1050" dirty="0"/>
          </a:p>
        </p:txBody>
      </p:sp>
      <p:sp>
        <p:nvSpPr>
          <p:cNvPr id="56" name="Shape 54"/>
          <p:cNvSpPr/>
          <p:nvPr/>
        </p:nvSpPr>
        <p:spPr>
          <a:xfrm>
            <a:off x="3017520" y="5486400"/>
            <a:ext cx="5669280" cy="640080"/>
          </a:xfrm>
          <a:prstGeom prst="rect">
            <a:avLst/>
          </a:prstGeom>
          <a:solidFill>
            <a:srgbClr val="FFFFFF"/>
          </a:solidFill>
          <a:ln/>
        </p:spPr>
      </p:sp>
      <p:sp>
        <p:nvSpPr>
          <p:cNvPr id="57" name="Text 55"/>
          <p:cNvSpPr/>
          <p:nvPr/>
        </p:nvSpPr>
        <p:spPr>
          <a:xfrm>
            <a:off x="3154680" y="5486400"/>
            <a:ext cx="5394960" cy="640080"/>
          </a:xfrm>
          <a:prstGeom prst="rect">
            <a:avLst/>
          </a:prstGeom>
          <a:noFill/>
          <a:ln/>
        </p:spPr>
        <p:txBody>
          <a:bodyPr wrap="square"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Modular codebase with documented APIs; configurable system parameters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Application Flowchart</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7863840" cy="822960"/>
          </a:xfrm>
          <a:prstGeom prst="rect">
            <a:avLst/>
          </a:prstGeom>
          <a:noFill/>
          <a:ln/>
        </p:spPr>
        <p:txBody>
          <a:bodyPr wrap="square" rtlCol="0" anchor="t"/>
          <a:lstStyle/>
          <a:p>
            <a:pPr indent="0" marL="0">
              <a:lnSpc>
                <a:spcPct val="135000"/>
              </a:lnSpc>
              <a:buNone/>
            </a:pPr>
            <a:r>
              <a:rPr lang="en-US" sz="1300" dirty="0">
                <a:solidFill>
                  <a:srgbClr val="1A1A2E"/>
                </a:solidFill>
                <a:latin typeface="Calibri" pitchFamily="34" charset="0"/>
                <a:ea typeface="Calibri" pitchFamily="34" charset="-122"/>
                <a:cs typeface="Calibri" pitchFamily="34" charset="-120"/>
              </a:rPr>
              <a:t>The application flowchart illustrates the complete user journey through SmartLib, from initial access to task completion. The flow is designed to minimise unnecessary steps and provide clear navigation paths for all user roles.</a:t>
            </a:r>
            <a:endParaRPr lang="en-US" sz="1300" dirty="0"/>
          </a:p>
        </p:txBody>
      </p:sp>
      <p:sp>
        <p:nvSpPr>
          <p:cNvPr id="11" name="Shape 9"/>
          <p:cNvSpPr/>
          <p:nvPr/>
        </p:nvSpPr>
        <p:spPr>
          <a:xfrm>
            <a:off x="640080" y="2331720"/>
            <a:ext cx="1097280" cy="685800"/>
          </a:xfrm>
          <a:prstGeom prst="roundRect">
            <a:avLst>
              <a:gd name="adj" fmla="val 10667"/>
            </a:avLst>
          </a:prstGeom>
          <a:solidFill>
            <a:srgbClr val="C4603C"/>
          </a:solidFill>
          <a:ln/>
        </p:spPr>
      </p:sp>
      <p:sp>
        <p:nvSpPr>
          <p:cNvPr id="12" name="Text 10"/>
          <p:cNvSpPr/>
          <p:nvPr/>
        </p:nvSpPr>
        <p:spPr>
          <a:xfrm>
            <a:off x="640080" y="2331720"/>
            <a:ext cx="109728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Start</a:t>
            </a:r>
            <a:endParaRPr lang="en-US" sz="1100" dirty="0"/>
          </a:p>
        </p:txBody>
      </p:sp>
      <p:sp>
        <p:nvSpPr>
          <p:cNvPr id="13" name="Shape 11"/>
          <p:cNvSpPr/>
          <p:nvPr/>
        </p:nvSpPr>
        <p:spPr>
          <a:xfrm>
            <a:off x="2103120" y="2331720"/>
            <a:ext cx="1280160" cy="685800"/>
          </a:xfrm>
          <a:prstGeom prst="roundRect">
            <a:avLst>
              <a:gd name="adj" fmla="val 10667"/>
            </a:avLst>
          </a:prstGeom>
          <a:solidFill>
            <a:srgbClr val="2B4066"/>
          </a:solidFill>
          <a:ln/>
        </p:spPr>
      </p:sp>
      <p:sp>
        <p:nvSpPr>
          <p:cNvPr id="14" name="Text 12"/>
          <p:cNvSpPr/>
          <p:nvPr/>
        </p:nvSpPr>
        <p:spPr>
          <a:xfrm>
            <a:off x="2103120" y="2331720"/>
            <a:ext cx="128016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Login /</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Register</a:t>
            </a:r>
            <a:endParaRPr lang="en-US" sz="1100" dirty="0"/>
          </a:p>
        </p:txBody>
      </p:sp>
      <p:sp>
        <p:nvSpPr>
          <p:cNvPr id="15" name="Shape 13"/>
          <p:cNvSpPr/>
          <p:nvPr/>
        </p:nvSpPr>
        <p:spPr>
          <a:xfrm>
            <a:off x="3749040" y="2331720"/>
            <a:ext cx="1371600" cy="685800"/>
          </a:xfrm>
          <a:prstGeom prst="roundRect">
            <a:avLst>
              <a:gd name="adj" fmla="val 10667"/>
            </a:avLst>
          </a:prstGeom>
          <a:solidFill>
            <a:srgbClr val="2B4066"/>
          </a:solidFill>
          <a:ln/>
        </p:spPr>
      </p:sp>
      <p:sp>
        <p:nvSpPr>
          <p:cNvPr id="16" name="Text 14"/>
          <p:cNvSpPr/>
          <p:nvPr/>
        </p:nvSpPr>
        <p:spPr>
          <a:xfrm>
            <a:off x="3749040" y="2331720"/>
            <a:ext cx="137160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Role-Based</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sp>
        <p:nvSpPr>
          <p:cNvPr id="17" name="Shape 15"/>
          <p:cNvSpPr/>
          <p:nvPr/>
        </p:nvSpPr>
        <p:spPr>
          <a:xfrm>
            <a:off x="5486400" y="2331720"/>
            <a:ext cx="1280160" cy="685800"/>
          </a:xfrm>
          <a:prstGeom prst="roundRect">
            <a:avLst>
              <a:gd name="adj" fmla="val 10667"/>
            </a:avLst>
          </a:prstGeom>
          <a:solidFill>
            <a:srgbClr val="2B4066"/>
          </a:solidFill>
          <a:ln/>
        </p:spPr>
      </p:sp>
      <p:sp>
        <p:nvSpPr>
          <p:cNvPr id="18" name="Text 16"/>
          <p:cNvSpPr/>
          <p:nvPr/>
        </p:nvSpPr>
        <p:spPr>
          <a:xfrm>
            <a:off x="5486400" y="2331720"/>
            <a:ext cx="128016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Select</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19" name="Shape 17"/>
          <p:cNvSpPr/>
          <p:nvPr/>
        </p:nvSpPr>
        <p:spPr>
          <a:xfrm>
            <a:off x="7132320" y="2331720"/>
            <a:ext cx="1280160" cy="685800"/>
          </a:xfrm>
          <a:prstGeom prst="roundRect">
            <a:avLst>
              <a:gd name="adj" fmla="val 10667"/>
            </a:avLst>
          </a:prstGeom>
          <a:solidFill>
            <a:srgbClr val="2B4066"/>
          </a:solidFill>
          <a:ln/>
        </p:spPr>
      </p:sp>
      <p:sp>
        <p:nvSpPr>
          <p:cNvPr id="20" name="Text 18"/>
          <p:cNvSpPr/>
          <p:nvPr/>
        </p:nvSpPr>
        <p:spPr>
          <a:xfrm>
            <a:off x="7132320" y="2331720"/>
            <a:ext cx="128016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Perform</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21" name="Text 19"/>
          <p:cNvSpPr/>
          <p:nvPr/>
        </p:nvSpPr>
        <p:spPr>
          <a:xfrm>
            <a:off x="1737360" y="257860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3383280" y="257860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5120640" y="257860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6766560" y="257860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7132320" y="3383280"/>
            <a:ext cx="1280160" cy="685800"/>
          </a:xfrm>
          <a:prstGeom prst="roundRect">
            <a:avLst>
              <a:gd name="adj" fmla="val 10667"/>
            </a:avLst>
          </a:prstGeom>
          <a:solidFill>
            <a:srgbClr val="2B4066"/>
          </a:solidFill>
          <a:ln/>
        </p:spPr>
      </p:sp>
      <p:sp>
        <p:nvSpPr>
          <p:cNvPr id="26" name="Text 24"/>
          <p:cNvSpPr/>
          <p:nvPr/>
        </p:nvSpPr>
        <p:spPr>
          <a:xfrm>
            <a:off x="7132320" y="3383280"/>
            <a:ext cx="128016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Confirmation</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 Feedback</a:t>
            </a:r>
            <a:endParaRPr lang="en-US" sz="1100" dirty="0"/>
          </a:p>
        </p:txBody>
      </p:sp>
      <p:sp>
        <p:nvSpPr>
          <p:cNvPr id="27" name="Shape 25"/>
          <p:cNvSpPr/>
          <p:nvPr/>
        </p:nvSpPr>
        <p:spPr>
          <a:xfrm>
            <a:off x="5212080" y="3383280"/>
            <a:ext cx="1371600" cy="685800"/>
          </a:xfrm>
          <a:prstGeom prst="roundRect">
            <a:avLst>
              <a:gd name="adj" fmla="val 10667"/>
            </a:avLst>
          </a:prstGeom>
          <a:solidFill>
            <a:srgbClr val="2B4066"/>
          </a:solidFill>
          <a:ln/>
        </p:spPr>
      </p:sp>
      <p:sp>
        <p:nvSpPr>
          <p:cNvPr id="28" name="Text 26"/>
          <p:cNvSpPr/>
          <p:nvPr/>
        </p:nvSpPr>
        <p:spPr>
          <a:xfrm>
            <a:off x="5212080" y="3383280"/>
            <a:ext cx="137160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Return to</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sp>
        <p:nvSpPr>
          <p:cNvPr id="29" name="Shape 27"/>
          <p:cNvSpPr/>
          <p:nvPr/>
        </p:nvSpPr>
        <p:spPr>
          <a:xfrm>
            <a:off x="3474720" y="3383280"/>
            <a:ext cx="1188720" cy="685800"/>
          </a:xfrm>
          <a:prstGeom prst="roundRect">
            <a:avLst>
              <a:gd name="adj" fmla="val 10667"/>
            </a:avLst>
          </a:prstGeom>
          <a:solidFill>
            <a:srgbClr val="2B4066"/>
          </a:solidFill>
          <a:ln/>
        </p:spPr>
      </p:sp>
      <p:sp>
        <p:nvSpPr>
          <p:cNvPr id="30" name="Text 28"/>
          <p:cNvSpPr/>
          <p:nvPr/>
        </p:nvSpPr>
        <p:spPr>
          <a:xfrm>
            <a:off x="3474720" y="3383280"/>
            <a:ext cx="118872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Logout</a:t>
            </a:r>
            <a:endParaRPr lang="en-US" sz="1100" dirty="0"/>
          </a:p>
        </p:txBody>
      </p:sp>
      <p:sp>
        <p:nvSpPr>
          <p:cNvPr id="31" name="Shape 29"/>
          <p:cNvSpPr/>
          <p:nvPr/>
        </p:nvSpPr>
        <p:spPr>
          <a:xfrm>
            <a:off x="1920240" y="3383280"/>
            <a:ext cx="1097280" cy="685800"/>
          </a:xfrm>
          <a:prstGeom prst="roundRect">
            <a:avLst>
              <a:gd name="adj" fmla="val 10667"/>
            </a:avLst>
          </a:prstGeom>
          <a:solidFill>
            <a:srgbClr val="C4603C"/>
          </a:solidFill>
          <a:ln/>
        </p:spPr>
      </p:sp>
      <p:sp>
        <p:nvSpPr>
          <p:cNvPr id="32" name="Text 30"/>
          <p:cNvSpPr/>
          <p:nvPr/>
        </p:nvSpPr>
        <p:spPr>
          <a:xfrm>
            <a:off x="1920240" y="3383280"/>
            <a:ext cx="1097280" cy="6858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End</a:t>
            </a:r>
            <a:endParaRPr lang="en-US" sz="1100" dirty="0"/>
          </a:p>
        </p:txBody>
      </p:sp>
      <p:sp>
        <p:nvSpPr>
          <p:cNvPr id="33" name="Text 31"/>
          <p:cNvSpPr/>
          <p:nvPr/>
        </p:nvSpPr>
        <p:spPr>
          <a:xfrm>
            <a:off x="7543800" y="3063240"/>
            <a:ext cx="365760" cy="32004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34" name="Text 32"/>
          <p:cNvSpPr/>
          <p:nvPr/>
        </p:nvSpPr>
        <p:spPr>
          <a:xfrm>
            <a:off x="6583680" y="363016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4663440" y="363016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3017520" y="3630168"/>
            <a:ext cx="365760" cy="228600"/>
          </a:xfrm>
          <a:prstGeom prst="rect">
            <a:avLst/>
          </a:prstGeom>
          <a:noFill/>
          <a:ln/>
        </p:spPr>
        <p:txBody>
          <a:bodyPr wrap="square" rtlCol="0" anchor="ctr"/>
          <a:lstStyle/>
          <a:p>
            <a:pPr algn="ctr" indent="0" marL="0">
              <a:buNone/>
            </a:pPr>
            <a:r>
              <a:rPr lang="en-US" sz="1800" dirty="0">
                <a:solidFill>
                  <a:srgbClr val="C4603C"/>
                </a:solidFill>
                <a:latin typeface="Calibri" pitchFamily="34" charset="0"/>
                <a:ea typeface="Calibri" pitchFamily="34" charset="-122"/>
                <a:cs typeface="Calibri" pitchFamily="34" charset="-120"/>
              </a:rPr>
              <a:t>←</a:t>
            </a:r>
            <a:endParaRPr lang="en-US" sz="1800" dirty="0"/>
          </a:p>
        </p:txBody>
      </p:sp>
      <p:sp>
        <p:nvSpPr>
          <p:cNvPr id="37" name="Text 35"/>
          <p:cNvSpPr/>
          <p:nvPr/>
        </p:nvSpPr>
        <p:spPr>
          <a:xfrm>
            <a:off x="640080" y="4434840"/>
            <a:ext cx="7772400" cy="320040"/>
          </a:xfrm>
          <a:prstGeom prst="rect">
            <a:avLst/>
          </a:prstGeom>
          <a:noFill/>
          <a:ln/>
        </p:spPr>
        <p:txBody>
          <a:bodyPr wrap="square" rtlCol="0" anchor="ctr"/>
          <a:lstStyle/>
          <a:p>
            <a:pPr indent="0" marL="0">
              <a:buNone/>
            </a:pPr>
            <a:r>
              <a:rPr lang="en-US" sz="1300" b="1" dirty="0">
                <a:solidFill>
                  <a:srgbClr val="2B4066"/>
                </a:solidFill>
                <a:latin typeface="Georgia" pitchFamily="34" charset="0"/>
                <a:ea typeface="Georgia" pitchFamily="34" charset="-122"/>
                <a:cs typeface="Georgia" pitchFamily="34" charset="-120"/>
              </a:rPr>
              <a:t>Available Features at Dashboard</a:t>
            </a:r>
            <a:endParaRPr lang="en-US" sz="1300" dirty="0"/>
          </a:p>
        </p:txBody>
      </p:sp>
      <p:sp>
        <p:nvSpPr>
          <p:cNvPr id="38" name="Shape 36"/>
          <p:cNvSpPr/>
          <p:nvPr/>
        </p:nvSpPr>
        <p:spPr>
          <a:xfrm>
            <a:off x="640080" y="4773168"/>
            <a:ext cx="731520" cy="36576"/>
          </a:xfrm>
          <a:prstGeom prst="rect">
            <a:avLst/>
          </a:prstGeom>
          <a:solidFill>
            <a:srgbClr val="C4603C"/>
          </a:solidFill>
          <a:ln/>
        </p:spPr>
      </p:sp>
      <p:sp>
        <p:nvSpPr>
          <p:cNvPr id="39" name="Shape 37"/>
          <p:cNvSpPr/>
          <p:nvPr/>
        </p:nvSpPr>
        <p:spPr>
          <a:xfrm>
            <a:off x="640080" y="498348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40" name="Shape 38"/>
          <p:cNvSpPr/>
          <p:nvPr/>
        </p:nvSpPr>
        <p:spPr>
          <a:xfrm>
            <a:off x="640080" y="4983480"/>
            <a:ext cx="54864" cy="457200"/>
          </a:xfrm>
          <a:prstGeom prst="rect">
            <a:avLst/>
          </a:prstGeom>
          <a:solidFill>
            <a:srgbClr val="C4603C"/>
          </a:solidFill>
          <a:ln/>
        </p:spPr>
      </p:sp>
      <p:sp>
        <p:nvSpPr>
          <p:cNvPr id="41" name="Text 39"/>
          <p:cNvSpPr/>
          <p:nvPr/>
        </p:nvSpPr>
        <p:spPr>
          <a:xfrm>
            <a:off x="777240" y="498348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Search &amp; Browse Catalog</a:t>
            </a:r>
            <a:endParaRPr lang="en-US" sz="1050" dirty="0"/>
          </a:p>
        </p:txBody>
      </p:sp>
      <p:sp>
        <p:nvSpPr>
          <p:cNvPr id="42" name="Shape 40"/>
          <p:cNvSpPr/>
          <p:nvPr/>
        </p:nvSpPr>
        <p:spPr>
          <a:xfrm>
            <a:off x="2743200" y="498348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43" name="Shape 41"/>
          <p:cNvSpPr/>
          <p:nvPr/>
        </p:nvSpPr>
        <p:spPr>
          <a:xfrm>
            <a:off x="2743200" y="4983480"/>
            <a:ext cx="54864" cy="457200"/>
          </a:xfrm>
          <a:prstGeom prst="rect">
            <a:avLst/>
          </a:prstGeom>
          <a:solidFill>
            <a:srgbClr val="C4603C"/>
          </a:solidFill>
          <a:ln/>
        </p:spPr>
      </p:sp>
      <p:sp>
        <p:nvSpPr>
          <p:cNvPr id="44" name="Text 42"/>
          <p:cNvSpPr/>
          <p:nvPr/>
        </p:nvSpPr>
        <p:spPr>
          <a:xfrm>
            <a:off x="2880360" y="498348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Borrow Books</a:t>
            </a:r>
            <a:endParaRPr lang="en-US" sz="1050" dirty="0"/>
          </a:p>
        </p:txBody>
      </p:sp>
      <p:sp>
        <p:nvSpPr>
          <p:cNvPr id="45" name="Shape 43"/>
          <p:cNvSpPr/>
          <p:nvPr/>
        </p:nvSpPr>
        <p:spPr>
          <a:xfrm>
            <a:off x="4846320" y="498348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46" name="Shape 44"/>
          <p:cNvSpPr/>
          <p:nvPr/>
        </p:nvSpPr>
        <p:spPr>
          <a:xfrm>
            <a:off x="4846320" y="4983480"/>
            <a:ext cx="54864" cy="457200"/>
          </a:xfrm>
          <a:prstGeom prst="rect">
            <a:avLst/>
          </a:prstGeom>
          <a:solidFill>
            <a:srgbClr val="C4603C"/>
          </a:solidFill>
          <a:ln/>
        </p:spPr>
      </p:sp>
      <p:sp>
        <p:nvSpPr>
          <p:cNvPr id="47" name="Text 45"/>
          <p:cNvSpPr/>
          <p:nvPr/>
        </p:nvSpPr>
        <p:spPr>
          <a:xfrm>
            <a:off x="4983480" y="498348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Return Books</a:t>
            </a:r>
            <a:endParaRPr lang="en-US" sz="1050" dirty="0"/>
          </a:p>
        </p:txBody>
      </p:sp>
      <p:sp>
        <p:nvSpPr>
          <p:cNvPr id="48" name="Shape 46"/>
          <p:cNvSpPr/>
          <p:nvPr/>
        </p:nvSpPr>
        <p:spPr>
          <a:xfrm>
            <a:off x="6949440" y="498348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49" name="Shape 47"/>
          <p:cNvSpPr/>
          <p:nvPr/>
        </p:nvSpPr>
        <p:spPr>
          <a:xfrm>
            <a:off x="6949440" y="4983480"/>
            <a:ext cx="54864" cy="457200"/>
          </a:xfrm>
          <a:prstGeom prst="rect">
            <a:avLst/>
          </a:prstGeom>
          <a:solidFill>
            <a:srgbClr val="C4603C"/>
          </a:solidFill>
          <a:ln/>
        </p:spPr>
      </p:sp>
      <p:sp>
        <p:nvSpPr>
          <p:cNvPr id="50" name="Text 48"/>
          <p:cNvSpPr/>
          <p:nvPr/>
        </p:nvSpPr>
        <p:spPr>
          <a:xfrm>
            <a:off x="7086600" y="498348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Reserve Books</a:t>
            </a:r>
            <a:endParaRPr lang="en-US" sz="1050" dirty="0"/>
          </a:p>
        </p:txBody>
      </p:sp>
      <p:sp>
        <p:nvSpPr>
          <p:cNvPr id="51" name="Shape 49"/>
          <p:cNvSpPr/>
          <p:nvPr/>
        </p:nvSpPr>
        <p:spPr>
          <a:xfrm>
            <a:off x="640080" y="557784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52" name="Shape 50"/>
          <p:cNvSpPr/>
          <p:nvPr/>
        </p:nvSpPr>
        <p:spPr>
          <a:xfrm>
            <a:off x="640080" y="5577840"/>
            <a:ext cx="54864" cy="457200"/>
          </a:xfrm>
          <a:prstGeom prst="rect">
            <a:avLst/>
          </a:prstGeom>
          <a:solidFill>
            <a:srgbClr val="2B4066"/>
          </a:solidFill>
          <a:ln/>
        </p:spPr>
      </p:sp>
      <p:sp>
        <p:nvSpPr>
          <p:cNvPr id="53" name="Text 51"/>
          <p:cNvSpPr/>
          <p:nvPr/>
        </p:nvSpPr>
        <p:spPr>
          <a:xfrm>
            <a:off x="777240" y="557784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View Fines &amp; Pay</a:t>
            </a:r>
            <a:endParaRPr lang="en-US" sz="1050" dirty="0"/>
          </a:p>
        </p:txBody>
      </p:sp>
      <p:sp>
        <p:nvSpPr>
          <p:cNvPr id="54" name="Shape 52"/>
          <p:cNvSpPr/>
          <p:nvPr/>
        </p:nvSpPr>
        <p:spPr>
          <a:xfrm>
            <a:off x="2743200" y="557784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55" name="Shape 53"/>
          <p:cNvSpPr/>
          <p:nvPr/>
        </p:nvSpPr>
        <p:spPr>
          <a:xfrm>
            <a:off x="2743200" y="5577840"/>
            <a:ext cx="54864" cy="457200"/>
          </a:xfrm>
          <a:prstGeom prst="rect">
            <a:avLst/>
          </a:prstGeom>
          <a:solidFill>
            <a:srgbClr val="2B4066"/>
          </a:solidFill>
          <a:ln/>
        </p:spPr>
      </p:sp>
      <p:sp>
        <p:nvSpPr>
          <p:cNvPr id="56" name="Text 54"/>
          <p:cNvSpPr/>
          <p:nvPr/>
        </p:nvSpPr>
        <p:spPr>
          <a:xfrm>
            <a:off x="2880360" y="557784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Profile Settings</a:t>
            </a:r>
            <a:endParaRPr lang="en-US" sz="1050" dirty="0"/>
          </a:p>
        </p:txBody>
      </p:sp>
      <p:sp>
        <p:nvSpPr>
          <p:cNvPr id="57" name="Shape 55"/>
          <p:cNvSpPr/>
          <p:nvPr/>
        </p:nvSpPr>
        <p:spPr>
          <a:xfrm>
            <a:off x="4846320" y="557784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58" name="Shape 56"/>
          <p:cNvSpPr/>
          <p:nvPr/>
        </p:nvSpPr>
        <p:spPr>
          <a:xfrm>
            <a:off x="4846320" y="5577840"/>
            <a:ext cx="54864" cy="457200"/>
          </a:xfrm>
          <a:prstGeom prst="rect">
            <a:avLst/>
          </a:prstGeom>
          <a:solidFill>
            <a:srgbClr val="2B4066"/>
          </a:solidFill>
          <a:ln/>
        </p:spPr>
      </p:sp>
      <p:sp>
        <p:nvSpPr>
          <p:cNvPr id="59" name="Text 57"/>
          <p:cNvSpPr/>
          <p:nvPr/>
        </p:nvSpPr>
        <p:spPr>
          <a:xfrm>
            <a:off x="4983480" y="557784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Admin Reports</a:t>
            </a:r>
            <a:endParaRPr lang="en-US" sz="1050" dirty="0"/>
          </a:p>
        </p:txBody>
      </p:sp>
      <p:sp>
        <p:nvSpPr>
          <p:cNvPr id="60" name="Shape 58"/>
          <p:cNvSpPr/>
          <p:nvPr/>
        </p:nvSpPr>
        <p:spPr>
          <a:xfrm>
            <a:off x="6949440" y="5577840"/>
            <a:ext cx="1920240" cy="457200"/>
          </a:xfrm>
          <a:prstGeom prst="roundRect">
            <a:avLst>
              <a:gd name="adj" fmla="val 10000"/>
            </a:avLst>
          </a:prstGeom>
          <a:solidFill>
            <a:srgbClr val="FFFFFF"/>
          </a:solidFill>
          <a:ln/>
          <a:effectLst>
            <a:outerShdw sx="100000" sy="100000" kx="0" ky="0" algn="bl" rotWithShape="0" blurRad="25400" dist="12700" dir="16200000">
              <a:srgbClr val="CCCCCC">
                <a:alpha val="20000"/>
              </a:srgbClr>
            </a:outerShdw>
          </a:effectLst>
        </p:spPr>
      </p:sp>
      <p:sp>
        <p:nvSpPr>
          <p:cNvPr id="61" name="Shape 59"/>
          <p:cNvSpPr/>
          <p:nvPr/>
        </p:nvSpPr>
        <p:spPr>
          <a:xfrm>
            <a:off x="6949440" y="5577840"/>
            <a:ext cx="54864" cy="457200"/>
          </a:xfrm>
          <a:prstGeom prst="rect">
            <a:avLst/>
          </a:prstGeom>
          <a:solidFill>
            <a:srgbClr val="2B4066"/>
          </a:solidFill>
          <a:ln/>
        </p:spPr>
      </p:sp>
      <p:sp>
        <p:nvSpPr>
          <p:cNvPr id="62" name="Text 60"/>
          <p:cNvSpPr/>
          <p:nvPr/>
        </p:nvSpPr>
        <p:spPr>
          <a:xfrm>
            <a:off x="7086600" y="5577840"/>
            <a:ext cx="1691640" cy="45720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Manage Users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Shneiderman's Eight Golden Rules of Interface Design</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7863840" cy="685800"/>
          </a:xfrm>
          <a:prstGeom prst="rect">
            <a:avLst/>
          </a:prstGeom>
          <a:noFill/>
          <a:ln/>
        </p:spPr>
        <p:txBody>
          <a:bodyPr wrap="square" rtlCol="0" anchor="t"/>
          <a:lstStyle/>
          <a:p>
            <a:pPr indent="0" marL="0">
              <a:lnSpc>
                <a:spcPct val="135000"/>
              </a:lnSpc>
              <a:buNone/>
            </a:pPr>
            <a:r>
              <a:rPr lang="en-US" sz="1300" dirty="0">
                <a:solidFill>
                  <a:srgbClr val="1A1A2E"/>
                </a:solidFill>
                <a:latin typeface="Calibri" pitchFamily="34" charset="0"/>
                <a:ea typeface="Calibri" pitchFamily="34" charset="-122"/>
                <a:cs typeface="Calibri" pitchFamily="34" charset="-120"/>
              </a:rPr>
              <a:t>Ben Shneiderman's Eight Golden Rules provide a foundational framework for designing effective user interfaces. SmartLib's design rigorously applies each rule to ensure usability and user satisfaction.</a:t>
            </a:r>
            <a:endParaRPr lang="en-US" sz="1300" dirty="0"/>
          </a:p>
        </p:txBody>
      </p:sp>
      <p:sp>
        <p:nvSpPr>
          <p:cNvPr id="11" name="Shape 9"/>
          <p:cNvSpPr/>
          <p:nvPr/>
        </p:nvSpPr>
        <p:spPr>
          <a:xfrm>
            <a:off x="457200" y="210312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12" name="Shape 10"/>
          <p:cNvSpPr/>
          <p:nvPr/>
        </p:nvSpPr>
        <p:spPr>
          <a:xfrm>
            <a:off x="457200" y="2103120"/>
            <a:ext cx="54864" cy="868680"/>
          </a:xfrm>
          <a:prstGeom prst="rect">
            <a:avLst/>
          </a:prstGeom>
          <a:solidFill>
            <a:srgbClr val="C4603C"/>
          </a:solidFill>
          <a:ln/>
        </p:spPr>
      </p:sp>
      <p:sp>
        <p:nvSpPr>
          <p:cNvPr id="13" name="Shape 11"/>
          <p:cNvSpPr/>
          <p:nvPr/>
        </p:nvSpPr>
        <p:spPr>
          <a:xfrm>
            <a:off x="640080" y="2331720"/>
            <a:ext cx="411480" cy="411480"/>
          </a:xfrm>
          <a:prstGeom prst="ellipse">
            <a:avLst/>
          </a:prstGeom>
          <a:solidFill>
            <a:srgbClr val="C4603C"/>
          </a:solidFill>
          <a:ln/>
        </p:spPr>
      </p:sp>
      <p:sp>
        <p:nvSpPr>
          <p:cNvPr id="14" name="Text 12"/>
          <p:cNvSpPr/>
          <p:nvPr/>
        </p:nvSpPr>
        <p:spPr>
          <a:xfrm>
            <a:off x="640080" y="233172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5" name="Text 13"/>
          <p:cNvSpPr/>
          <p:nvPr/>
        </p:nvSpPr>
        <p:spPr>
          <a:xfrm>
            <a:off x="1188720" y="217627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Strive for Consistency</a:t>
            </a:r>
            <a:endParaRPr lang="en-US" sz="1250" dirty="0"/>
          </a:p>
        </p:txBody>
      </p:sp>
      <p:sp>
        <p:nvSpPr>
          <p:cNvPr id="16" name="Text 14"/>
          <p:cNvSpPr/>
          <p:nvPr/>
        </p:nvSpPr>
        <p:spPr>
          <a:xfrm>
            <a:off x="1188720" y="251460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Uniform layouts, terminology, and interaction patterns across all screens</a:t>
            </a:r>
            <a:endParaRPr lang="en-US" sz="1000" dirty="0"/>
          </a:p>
        </p:txBody>
      </p:sp>
      <p:sp>
        <p:nvSpPr>
          <p:cNvPr id="17" name="Shape 15"/>
          <p:cNvSpPr/>
          <p:nvPr/>
        </p:nvSpPr>
        <p:spPr>
          <a:xfrm>
            <a:off x="457200" y="315468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18" name="Shape 16"/>
          <p:cNvSpPr/>
          <p:nvPr/>
        </p:nvSpPr>
        <p:spPr>
          <a:xfrm>
            <a:off x="457200" y="3154680"/>
            <a:ext cx="54864" cy="868680"/>
          </a:xfrm>
          <a:prstGeom prst="rect">
            <a:avLst/>
          </a:prstGeom>
          <a:solidFill>
            <a:srgbClr val="C4603C"/>
          </a:solidFill>
          <a:ln/>
        </p:spPr>
      </p:sp>
      <p:sp>
        <p:nvSpPr>
          <p:cNvPr id="19" name="Shape 17"/>
          <p:cNvSpPr/>
          <p:nvPr/>
        </p:nvSpPr>
        <p:spPr>
          <a:xfrm>
            <a:off x="640080" y="3383280"/>
            <a:ext cx="411480" cy="411480"/>
          </a:xfrm>
          <a:prstGeom prst="ellipse">
            <a:avLst/>
          </a:prstGeom>
          <a:solidFill>
            <a:srgbClr val="C4603C"/>
          </a:solidFill>
          <a:ln/>
        </p:spPr>
      </p:sp>
      <p:sp>
        <p:nvSpPr>
          <p:cNvPr id="20" name="Text 18"/>
          <p:cNvSpPr/>
          <p:nvPr/>
        </p:nvSpPr>
        <p:spPr>
          <a:xfrm>
            <a:off x="640080" y="338328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21" name="Text 19"/>
          <p:cNvSpPr/>
          <p:nvPr/>
        </p:nvSpPr>
        <p:spPr>
          <a:xfrm>
            <a:off x="1188720" y="322783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Cater to Universal Usability</a:t>
            </a:r>
            <a:endParaRPr lang="en-US" sz="1250" dirty="0"/>
          </a:p>
        </p:txBody>
      </p:sp>
      <p:sp>
        <p:nvSpPr>
          <p:cNvPr id="22" name="Text 20"/>
          <p:cNvSpPr/>
          <p:nvPr/>
        </p:nvSpPr>
        <p:spPr>
          <a:xfrm>
            <a:off x="1188720" y="356616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Accessible design for diverse users including those with disabilities</a:t>
            </a:r>
            <a:endParaRPr lang="en-US" sz="1000" dirty="0"/>
          </a:p>
        </p:txBody>
      </p:sp>
      <p:sp>
        <p:nvSpPr>
          <p:cNvPr id="23" name="Shape 21"/>
          <p:cNvSpPr/>
          <p:nvPr/>
        </p:nvSpPr>
        <p:spPr>
          <a:xfrm>
            <a:off x="457200" y="420624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24" name="Shape 22"/>
          <p:cNvSpPr/>
          <p:nvPr/>
        </p:nvSpPr>
        <p:spPr>
          <a:xfrm>
            <a:off x="457200" y="4206240"/>
            <a:ext cx="54864" cy="868680"/>
          </a:xfrm>
          <a:prstGeom prst="rect">
            <a:avLst/>
          </a:prstGeom>
          <a:solidFill>
            <a:srgbClr val="C4603C"/>
          </a:solidFill>
          <a:ln/>
        </p:spPr>
      </p:sp>
      <p:sp>
        <p:nvSpPr>
          <p:cNvPr id="25" name="Shape 23"/>
          <p:cNvSpPr/>
          <p:nvPr/>
        </p:nvSpPr>
        <p:spPr>
          <a:xfrm>
            <a:off x="640080" y="4434840"/>
            <a:ext cx="411480" cy="411480"/>
          </a:xfrm>
          <a:prstGeom prst="ellipse">
            <a:avLst/>
          </a:prstGeom>
          <a:solidFill>
            <a:srgbClr val="C4603C"/>
          </a:solidFill>
          <a:ln/>
        </p:spPr>
      </p:sp>
      <p:sp>
        <p:nvSpPr>
          <p:cNvPr id="26" name="Text 24"/>
          <p:cNvSpPr/>
          <p:nvPr/>
        </p:nvSpPr>
        <p:spPr>
          <a:xfrm>
            <a:off x="640080" y="443484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7" name="Text 25"/>
          <p:cNvSpPr/>
          <p:nvPr/>
        </p:nvSpPr>
        <p:spPr>
          <a:xfrm>
            <a:off x="1188720" y="427939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Offer Informative Feedback</a:t>
            </a:r>
            <a:endParaRPr lang="en-US" sz="1250" dirty="0"/>
          </a:p>
        </p:txBody>
      </p:sp>
      <p:sp>
        <p:nvSpPr>
          <p:cNvPr id="28" name="Text 26"/>
          <p:cNvSpPr/>
          <p:nvPr/>
        </p:nvSpPr>
        <p:spPr>
          <a:xfrm>
            <a:off x="1188720" y="461772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Clear visual and textual feedback for every user action</a:t>
            </a:r>
            <a:endParaRPr lang="en-US" sz="1000" dirty="0"/>
          </a:p>
        </p:txBody>
      </p:sp>
      <p:sp>
        <p:nvSpPr>
          <p:cNvPr id="29" name="Shape 27"/>
          <p:cNvSpPr/>
          <p:nvPr/>
        </p:nvSpPr>
        <p:spPr>
          <a:xfrm>
            <a:off x="457200" y="525780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30" name="Shape 28"/>
          <p:cNvSpPr/>
          <p:nvPr/>
        </p:nvSpPr>
        <p:spPr>
          <a:xfrm>
            <a:off x="457200" y="5257800"/>
            <a:ext cx="54864" cy="868680"/>
          </a:xfrm>
          <a:prstGeom prst="rect">
            <a:avLst/>
          </a:prstGeom>
          <a:solidFill>
            <a:srgbClr val="C4603C"/>
          </a:solidFill>
          <a:ln/>
        </p:spPr>
      </p:sp>
      <p:sp>
        <p:nvSpPr>
          <p:cNvPr id="31" name="Shape 29"/>
          <p:cNvSpPr/>
          <p:nvPr/>
        </p:nvSpPr>
        <p:spPr>
          <a:xfrm>
            <a:off x="640080" y="5486400"/>
            <a:ext cx="411480" cy="411480"/>
          </a:xfrm>
          <a:prstGeom prst="ellipse">
            <a:avLst/>
          </a:prstGeom>
          <a:solidFill>
            <a:srgbClr val="C4603C"/>
          </a:solidFill>
          <a:ln/>
        </p:spPr>
      </p:sp>
      <p:sp>
        <p:nvSpPr>
          <p:cNvPr id="32" name="Text 30"/>
          <p:cNvSpPr/>
          <p:nvPr/>
        </p:nvSpPr>
        <p:spPr>
          <a:xfrm>
            <a:off x="640080" y="548640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33" name="Text 31"/>
          <p:cNvSpPr/>
          <p:nvPr/>
        </p:nvSpPr>
        <p:spPr>
          <a:xfrm>
            <a:off x="1188720" y="533095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Design Dialogs to Yield Closure</a:t>
            </a:r>
            <a:endParaRPr lang="en-US" sz="1250" dirty="0"/>
          </a:p>
        </p:txBody>
      </p:sp>
      <p:sp>
        <p:nvSpPr>
          <p:cNvPr id="34" name="Text 32"/>
          <p:cNvSpPr/>
          <p:nvPr/>
        </p:nvSpPr>
        <p:spPr>
          <a:xfrm>
            <a:off x="1188720" y="566928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Defined beginning, middle, and end for every task sequence</a:t>
            </a:r>
            <a:endParaRPr lang="en-US" sz="1000" dirty="0"/>
          </a:p>
        </p:txBody>
      </p:sp>
      <p:sp>
        <p:nvSpPr>
          <p:cNvPr id="35" name="Shape 33"/>
          <p:cNvSpPr/>
          <p:nvPr/>
        </p:nvSpPr>
        <p:spPr>
          <a:xfrm>
            <a:off x="4663440" y="210312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36" name="Shape 34"/>
          <p:cNvSpPr/>
          <p:nvPr/>
        </p:nvSpPr>
        <p:spPr>
          <a:xfrm>
            <a:off x="4663440" y="2103120"/>
            <a:ext cx="54864" cy="868680"/>
          </a:xfrm>
          <a:prstGeom prst="rect">
            <a:avLst/>
          </a:prstGeom>
          <a:solidFill>
            <a:srgbClr val="2B4066"/>
          </a:solidFill>
          <a:ln/>
        </p:spPr>
      </p:sp>
      <p:sp>
        <p:nvSpPr>
          <p:cNvPr id="37" name="Shape 35"/>
          <p:cNvSpPr/>
          <p:nvPr/>
        </p:nvSpPr>
        <p:spPr>
          <a:xfrm>
            <a:off x="4846320" y="2331720"/>
            <a:ext cx="411480" cy="411480"/>
          </a:xfrm>
          <a:prstGeom prst="ellipse">
            <a:avLst/>
          </a:prstGeom>
          <a:solidFill>
            <a:srgbClr val="2B4066"/>
          </a:solidFill>
          <a:ln/>
        </p:spPr>
      </p:sp>
      <p:sp>
        <p:nvSpPr>
          <p:cNvPr id="38" name="Text 36"/>
          <p:cNvSpPr/>
          <p:nvPr/>
        </p:nvSpPr>
        <p:spPr>
          <a:xfrm>
            <a:off x="4846320" y="233172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9" name="Text 37"/>
          <p:cNvSpPr/>
          <p:nvPr/>
        </p:nvSpPr>
        <p:spPr>
          <a:xfrm>
            <a:off x="5394960" y="217627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Prevent Errors</a:t>
            </a:r>
            <a:endParaRPr lang="en-US" sz="1250" dirty="0"/>
          </a:p>
        </p:txBody>
      </p:sp>
      <p:sp>
        <p:nvSpPr>
          <p:cNvPr id="40" name="Text 38"/>
          <p:cNvSpPr/>
          <p:nvPr/>
        </p:nvSpPr>
        <p:spPr>
          <a:xfrm>
            <a:off x="5394960" y="251460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Input validation, confirmation dialogs, and constraint-based design</a:t>
            </a:r>
            <a:endParaRPr lang="en-US" sz="1000" dirty="0"/>
          </a:p>
        </p:txBody>
      </p:sp>
      <p:sp>
        <p:nvSpPr>
          <p:cNvPr id="41" name="Shape 39"/>
          <p:cNvSpPr/>
          <p:nvPr/>
        </p:nvSpPr>
        <p:spPr>
          <a:xfrm>
            <a:off x="4663440" y="315468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42" name="Shape 40"/>
          <p:cNvSpPr/>
          <p:nvPr/>
        </p:nvSpPr>
        <p:spPr>
          <a:xfrm>
            <a:off x="4663440" y="3154680"/>
            <a:ext cx="54864" cy="868680"/>
          </a:xfrm>
          <a:prstGeom prst="rect">
            <a:avLst/>
          </a:prstGeom>
          <a:solidFill>
            <a:srgbClr val="2B4066"/>
          </a:solidFill>
          <a:ln/>
        </p:spPr>
      </p:sp>
      <p:sp>
        <p:nvSpPr>
          <p:cNvPr id="43" name="Shape 41"/>
          <p:cNvSpPr/>
          <p:nvPr/>
        </p:nvSpPr>
        <p:spPr>
          <a:xfrm>
            <a:off x="4846320" y="3383280"/>
            <a:ext cx="411480" cy="411480"/>
          </a:xfrm>
          <a:prstGeom prst="ellipse">
            <a:avLst/>
          </a:prstGeom>
          <a:solidFill>
            <a:srgbClr val="2B4066"/>
          </a:solidFill>
          <a:ln/>
        </p:spPr>
      </p:sp>
      <p:sp>
        <p:nvSpPr>
          <p:cNvPr id="44" name="Text 42"/>
          <p:cNvSpPr/>
          <p:nvPr/>
        </p:nvSpPr>
        <p:spPr>
          <a:xfrm>
            <a:off x="4846320" y="338328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45" name="Text 43"/>
          <p:cNvSpPr/>
          <p:nvPr/>
        </p:nvSpPr>
        <p:spPr>
          <a:xfrm>
            <a:off x="5394960" y="322783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Permit Easy Reversal of Actions</a:t>
            </a:r>
            <a:endParaRPr lang="en-US" sz="1250" dirty="0"/>
          </a:p>
        </p:txBody>
      </p:sp>
      <p:sp>
        <p:nvSpPr>
          <p:cNvPr id="46" name="Text 44"/>
          <p:cNvSpPr/>
          <p:nvPr/>
        </p:nvSpPr>
        <p:spPr>
          <a:xfrm>
            <a:off x="5394960" y="356616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Undo capability and edit options to reduce user anxiety</a:t>
            </a:r>
            <a:endParaRPr lang="en-US" sz="1000" dirty="0"/>
          </a:p>
        </p:txBody>
      </p:sp>
      <p:sp>
        <p:nvSpPr>
          <p:cNvPr id="47" name="Shape 45"/>
          <p:cNvSpPr/>
          <p:nvPr/>
        </p:nvSpPr>
        <p:spPr>
          <a:xfrm>
            <a:off x="4663440" y="420624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48" name="Shape 46"/>
          <p:cNvSpPr/>
          <p:nvPr/>
        </p:nvSpPr>
        <p:spPr>
          <a:xfrm>
            <a:off x="4663440" y="4206240"/>
            <a:ext cx="54864" cy="868680"/>
          </a:xfrm>
          <a:prstGeom prst="rect">
            <a:avLst/>
          </a:prstGeom>
          <a:solidFill>
            <a:srgbClr val="2B4066"/>
          </a:solidFill>
          <a:ln/>
        </p:spPr>
      </p:sp>
      <p:sp>
        <p:nvSpPr>
          <p:cNvPr id="49" name="Shape 47"/>
          <p:cNvSpPr/>
          <p:nvPr/>
        </p:nvSpPr>
        <p:spPr>
          <a:xfrm>
            <a:off x="4846320" y="4434840"/>
            <a:ext cx="411480" cy="411480"/>
          </a:xfrm>
          <a:prstGeom prst="ellipse">
            <a:avLst/>
          </a:prstGeom>
          <a:solidFill>
            <a:srgbClr val="2B4066"/>
          </a:solidFill>
          <a:ln/>
        </p:spPr>
      </p:sp>
      <p:sp>
        <p:nvSpPr>
          <p:cNvPr id="50" name="Text 48"/>
          <p:cNvSpPr/>
          <p:nvPr/>
        </p:nvSpPr>
        <p:spPr>
          <a:xfrm>
            <a:off x="4846320" y="443484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7</a:t>
            </a:r>
            <a:endParaRPr lang="en-US" sz="1500" dirty="0"/>
          </a:p>
        </p:txBody>
      </p:sp>
      <p:sp>
        <p:nvSpPr>
          <p:cNvPr id="51" name="Text 49"/>
          <p:cNvSpPr/>
          <p:nvPr/>
        </p:nvSpPr>
        <p:spPr>
          <a:xfrm>
            <a:off x="5394960" y="427939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Keep Users in Control</a:t>
            </a:r>
            <a:endParaRPr lang="en-US" sz="1250" dirty="0"/>
          </a:p>
        </p:txBody>
      </p:sp>
      <p:sp>
        <p:nvSpPr>
          <p:cNvPr id="52" name="Text 50"/>
          <p:cNvSpPr/>
          <p:nvPr/>
        </p:nvSpPr>
        <p:spPr>
          <a:xfrm>
            <a:off x="5394960" y="461772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Users initiate actions; the system responds predictably</a:t>
            </a:r>
            <a:endParaRPr lang="en-US" sz="1000" dirty="0"/>
          </a:p>
        </p:txBody>
      </p:sp>
      <p:sp>
        <p:nvSpPr>
          <p:cNvPr id="53" name="Shape 51"/>
          <p:cNvSpPr/>
          <p:nvPr/>
        </p:nvSpPr>
        <p:spPr>
          <a:xfrm>
            <a:off x="4663440" y="5257800"/>
            <a:ext cx="4023360" cy="868680"/>
          </a:xfrm>
          <a:prstGeom prst="roundRect">
            <a:avLst>
              <a:gd name="adj" fmla="val 6316"/>
            </a:avLst>
          </a:prstGeom>
          <a:solidFill>
            <a:srgbClr val="FFFFFF"/>
          </a:solidFill>
          <a:ln/>
          <a:effectLst>
            <a:outerShdw sx="100000" sy="100000" kx="0" ky="0" algn="bl" rotWithShape="0" blurRad="38100" dist="12700" dir="16200000">
              <a:srgbClr val="CCCCCC">
                <a:alpha val="20000"/>
              </a:srgbClr>
            </a:outerShdw>
          </a:effectLst>
        </p:spPr>
      </p:sp>
      <p:sp>
        <p:nvSpPr>
          <p:cNvPr id="54" name="Shape 52"/>
          <p:cNvSpPr/>
          <p:nvPr/>
        </p:nvSpPr>
        <p:spPr>
          <a:xfrm>
            <a:off x="4663440" y="5257800"/>
            <a:ext cx="54864" cy="868680"/>
          </a:xfrm>
          <a:prstGeom prst="rect">
            <a:avLst/>
          </a:prstGeom>
          <a:solidFill>
            <a:srgbClr val="2B4066"/>
          </a:solidFill>
          <a:ln/>
        </p:spPr>
      </p:sp>
      <p:sp>
        <p:nvSpPr>
          <p:cNvPr id="55" name="Shape 53"/>
          <p:cNvSpPr/>
          <p:nvPr/>
        </p:nvSpPr>
        <p:spPr>
          <a:xfrm>
            <a:off x="4846320" y="5486400"/>
            <a:ext cx="411480" cy="411480"/>
          </a:xfrm>
          <a:prstGeom prst="ellipse">
            <a:avLst/>
          </a:prstGeom>
          <a:solidFill>
            <a:srgbClr val="2B4066"/>
          </a:solidFill>
          <a:ln/>
        </p:spPr>
      </p:sp>
      <p:sp>
        <p:nvSpPr>
          <p:cNvPr id="56" name="Text 54"/>
          <p:cNvSpPr/>
          <p:nvPr/>
        </p:nvSpPr>
        <p:spPr>
          <a:xfrm>
            <a:off x="4846320" y="5486400"/>
            <a:ext cx="411480" cy="41148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8</a:t>
            </a:r>
            <a:endParaRPr lang="en-US" sz="1500" dirty="0"/>
          </a:p>
        </p:txBody>
      </p:sp>
      <p:sp>
        <p:nvSpPr>
          <p:cNvPr id="57" name="Text 55"/>
          <p:cNvSpPr/>
          <p:nvPr/>
        </p:nvSpPr>
        <p:spPr>
          <a:xfrm>
            <a:off x="5394960" y="5330952"/>
            <a:ext cx="3108960" cy="320040"/>
          </a:xfrm>
          <a:prstGeom prst="rect">
            <a:avLst/>
          </a:prstGeom>
          <a:noFill/>
          <a:ln/>
        </p:spPr>
        <p:txBody>
          <a:bodyPr wrap="square" rtlCol="0" anchor="ctr"/>
          <a:lstStyle/>
          <a:p>
            <a:pPr indent="0" marL="0">
              <a:buNone/>
            </a:pPr>
            <a:r>
              <a:rPr lang="en-US" sz="1250" b="1" dirty="0">
                <a:solidFill>
                  <a:srgbClr val="2B4066"/>
                </a:solidFill>
                <a:latin typeface="Georgia" pitchFamily="34" charset="0"/>
                <a:ea typeface="Georgia" pitchFamily="34" charset="-122"/>
                <a:cs typeface="Georgia" pitchFamily="34" charset="-120"/>
              </a:rPr>
              <a:t>Reduce Short-Term Memory Load</a:t>
            </a:r>
            <a:endParaRPr lang="en-US" sz="1250" dirty="0"/>
          </a:p>
        </p:txBody>
      </p:sp>
      <p:sp>
        <p:nvSpPr>
          <p:cNvPr id="58" name="Text 56"/>
          <p:cNvSpPr/>
          <p:nvPr/>
        </p:nvSpPr>
        <p:spPr>
          <a:xfrm>
            <a:off x="5394960" y="5669280"/>
            <a:ext cx="3108960" cy="384048"/>
          </a:xfrm>
          <a:prstGeom prst="rect">
            <a:avLst/>
          </a:prstGeom>
          <a:noFill/>
          <a:ln/>
        </p:spPr>
        <p:txBody>
          <a:bodyPr wrap="square" rtlCol="0" anchor="ctr"/>
          <a:lstStyle/>
          <a:p>
            <a:pPr indent="0" marL="0">
              <a:lnSpc>
                <a:spcPct val="115000"/>
              </a:lnSpc>
              <a:buNone/>
            </a:pPr>
            <a:r>
              <a:rPr lang="en-US" sz="1000" dirty="0">
                <a:solidFill>
                  <a:srgbClr val="6B7280"/>
                </a:solidFill>
                <a:latin typeface="Calibri" pitchFamily="34" charset="0"/>
                <a:ea typeface="Calibri" pitchFamily="34" charset="-122"/>
                <a:cs typeface="Calibri" pitchFamily="34" charset="-120"/>
              </a:rPr>
              <a:t>Visible options, contextual help, and progressive disclosure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Golden Rules 1 &amp; 2: Consistency &amp; Universal Usability</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Shape 10"/>
          <p:cNvSpPr/>
          <p:nvPr/>
        </p:nvSpPr>
        <p:spPr>
          <a:xfrm>
            <a:off x="594360" y="1417320"/>
            <a:ext cx="502920" cy="411480"/>
          </a:xfrm>
          <a:prstGeom prst="roundRect">
            <a:avLst>
              <a:gd name="adj" fmla="val 13333"/>
            </a:avLst>
          </a:prstGeom>
          <a:solidFill>
            <a:srgbClr val="C4603C"/>
          </a:solidFill>
          <a:ln/>
        </p:spPr>
      </p:sp>
      <p:sp>
        <p:nvSpPr>
          <p:cNvPr id="13" name="Text 11"/>
          <p:cNvSpPr/>
          <p:nvPr/>
        </p:nvSpPr>
        <p:spPr>
          <a:xfrm>
            <a:off x="59436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4" name="Text 12"/>
          <p:cNvSpPr/>
          <p:nvPr/>
        </p:nvSpPr>
        <p:spPr>
          <a:xfrm>
            <a:off x="123444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Strive for Consistency</a:t>
            </a:r>
            <a:endParaRPr lang="en-US" sz="1500" dirty="0"/>
          </a:p>
        </p:txBody>
      </p:sp>
      <p:sp>
        <p:nvSpPr>
          <p:cNvPr id="15" name="Text 13"/>
          <p:cNvSpPr/>
          <p:nvPr/>
        </p:nvSpPr>
        <p:spPr>
          <a:xfrm>
            <a:off x="59436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Consistent sequences of actions should be required in similar situations. Identical terminology, consistent colour, layout, and fonts throughout.</a:t>
            </a:r>
            <a:endParaRPr lang="en-US" sz="1100" dirty="0"/>
          </a:p>
        </p:txBody>
      </p:sp>
      <p:sp>
        <p:nvSpPr>
          <p:cNvPr id="16" name="Shape 14"/>
          <p:cNvSpPr/>
          <p:nvPr/>
        </p:nvSpPr>
        <p:spPr>
          <a:xfrm>
            <a:off x="594360" y="2697480"/>
            <a:ext cx="3474720" cy="320040"/>
          </a:xfrm>
          <a:prstGeom prst="rect">
            <a:avLst>
              <a:gd name="adj" fmla="val 11429"/>
            </a:avLst>
          </a:prstGeom>
          <a:solidFill>
            <a:srgbClr val="E8D5CC"/>
          </a:solidFill>
          <a:ln/>
        </p:spPr>
      </p:sp>
      <p:sp>
        <p:nvSpPr>
          <p:cNvPr id="17" name="Text 15"/>
          <p:cNvSpPr/>
          <p:nvPr/>
        </p:nvSpPr>
        <p:spPr>
          <a:xfrm>
            <a:off x="68580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18" name="Text 16"/>
          <p:cNvSpPr/>
          <p:nvPr/>
        </p:nvSpPr>
        <p:spPr>
          <a:xfrm>
            <a:off x="59436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Uniform navigation bar with the same menu items across all pages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Consistent colour coding: navy for primary actions, terracotta for accents and alerts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Standardised button styles, form fields, and card layouts throughout the system</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Same terminology used everywhere (e.g., "Borrow" not sometimes "Check Out")</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Consistent icon set and placement for actions like search, edit, and delete</a:t>
            </a:r>
            <a:endParaRPr lang="en-US" sz="1100" dirty="0"/>
          </a:p>
        </p:txBody>
      </p:sp>
      <p:sp>
        <p:nvSpPr>
          <p:cNvPr id="19" name="Shape 17"/>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20" name="Shape 18"/>
          <p:cNvSpPr/>
          <p:nvPr/>
        </p:nvSpPr>
        <p:spPr>
          <a:xfrm>
            <a:off x="4846320" y="1188720"/>
            <a:ext cx="3931920" cy="54864"/>
          </a:xfrm>
          <a:prstGeom prst="rect">
            <a:avLst>
              <a:gd name="adj" fmla="val 50000"/>
            </a:avLst>
          </a:prstGeom>
          <a:solidFill>
            <a:srgbClr val="2B4066"/>
          </a:solidFill>
          <a:ln/>
        </p:spPr>
      </p:sp>
      <p:sp>
        <p:nvSpPr>
          <p:cNvPr id="21" name="Shape 19"/>
          <p:cNvSpPr/>
          <p:nvPr/>
        </p:nvSpPr>
        <p:spPr>
          <a:xfrm>
            <a:off x="5074920" y="1417320"/>
            <a:ext cx="502920" cy="411480"/>
          </a:xfrm>
          <a:prstGeom prst="roundRect">
            <a:avLst>
              <a:gd name="adj" fmla="val 13333"/>
            </a:avLst>
          </a:prstGeom>
          <a:solidFill>
            <a:srgbClr val="2B4066"/>
          </a:solidFill>
          <a:ln/>
        </p:spPr>
      </p:sp>
      <p:sp>
        <p:nvSpPr>
          <p:cNvPr id="22" name="Text 20"/>
          <p:cNvSpPr/>
          <p:nvPr/>
        </p:nvSpPr>
        <p:spPr>
          <a:xfrm>
            <a:off x="507492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3" name="Text 21"/>
          <p:cNvSpPr/>
          <p:nvPr/>
        </p:nvSpPr>
        <p:spPr>
          <a:xfrm>
            <a:off x="571500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Universal Usability</a:t>
            </a:r>
            <a:endParaRPr lang="en-US" sz="1500" dirty="0"/>
          </a:p>
        </p:txBody>
      </p:sp>
      <p:sp>
        <p:nvSpPr>
          <p:cNvPr id="24" name="Text 22"/>
          <p:cNvSpPr/>
          <p:nvPr/>
        </p:nvSpPr>
        <p:spPr>
          <a:xfrm>
            <a:off x="507492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Recognise the needs of diverse users. Design for beginners, experts, and users with disabilities to ensure broad accessibility.</a:t>
            </a:r>
            <a:endParaRPr lang="en-US" sz="1100" dirty="0"/>
          </a:p>
        </p:txBody>
      </p:sp>
      <p:sp>
        <p:nvSpPr>
          <p:cNvPr id="25" name="Shape 23"/>
          <p:cNvSpPr/>
          <p:nvPr/>
        </p:nvSpPr>
        <p:spPr>
          <a:xfrm>
            <a:off x="5074920" y="2697480"/>
            <a:ext cx="3474720" cy="320040"/>
          </a:xfrm>
          <a:prstGeom prst="rect">
            <a:avLst>
              <a:gd name="adj" fmla="val 11429"/>
            </a:avLst>
          </a:prstGeom>
          <a:solidFill>
            <a:srgbClr val="E8D5CC"/>
          </a:solidFill>
          <a:ln/>
        </p:spPr>
      </p:sp>
      <p:sp>
        <p:nvSpPr>
          <p:cNvPr id="26" name="Text 24"/>
          <p:cNvSpPr/>
          <p:nvPr/>
        </p:nvSpPr>
        <p:spPr>
          <a:xfrm>
            <a:off x="516636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27" name="Text 25"/>
          <p:cNvSpPr/>
          <p:nvPr/>
        </p:nvSpPr>
        <p:spPr>
          <a:xfrm>
            <a:off x="507492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WCAG 2.1 AA compliant: sufficient colour contrast ratios (minimum 4.5:1)</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Keyboard navigation support for all interactive elements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Responsive design adapts to mobile, tablet, and desktop screens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Alt text on all images and ARIA labels on interactive components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Clear, jargon-free language suitable for international students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Golden Rules 3 &amp; 4: Feedback &amp; Dialog Closure</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Shape 10"/>
          <p:cNvSpPr/>
          <p:nvPr/>
        </p:nvSpPr>
        <p:spPr>
          <a:xfrm>
            <a:off x="594360" y="1417320"/>
            <a:ext cx="502920" cy="411480"/>
          </a:xfrm>
          <a:prstGeom prst="roundRect">
            <a:avLst>
              <a:gd name="adj" fmla="val 13333"/>
            </a:avLst>
          </a:prstGeom>
          <a:solidFill>
            <a:srgbClr val="C4603C"/>
          </a:solidFill>
          <a:ln/>
        </p:spPr>
      </p:sp>
      <p:sp>
        <p:nvSpPr>
          <p:cNvPr id="13" name="Text 11"/>
          <p:cNvSpPr/>
          <p:nvPr/>
        </p:nvSpPr>
        <p:spPr>
          <a:xfrm>
            <a:off x="59436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4" name="Text 12"/>
          <p:cNvSpPr/>
          <p:nvPr/>
        </p:nvSpPr>
        <p:spPr>
          <a:xfrm>
            <a:off x="123444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Informative Feedback</a:t>
            </a:r>
            <a:endParaRPr lang="en-US" sz="1500" dirty="0"/>
          </a:p>
        </p:txBody>
      </p:sp>
      <p:sp>
        <p:nvSpPr>
          <p:cNvPr id="15" name="Text 13"/>
          <p:cNvSpPr/>
          <p:nvPr/>
        </p:nvSpPr>
        <p:spPr>
          <a:xfrm>
            <a:off x="59436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For every user action, the system should provide clear, meaningful feedback. The response should be proportional to the action's significance.</a:t>
            </a:r>
            <a:endParaRPr lang="en-US" sz="1100" dirty="0"/>
          </a:p>
        </p:txBody>
      </p:sp>
      <p:sp>
        <p:nvSpPr>
          <p:cNvPr id="16" name="Shape 14"/>
          <p:cNvSpPr/>
          <p:nvPr/>
        </p:nvSpPr>
        <p:spPr>
          <a:xfrm>
            <a:off x="594360" y="2697480"/>
            <a:ext cx="3474720" cy="320040"/>
          </a:xfrm>
          <a:prstGeom prst="rect">
            <a:avLst>
              <a:gd name="adj" fmla="val 11429"/>
            </a:avLst>
          </a:prstGeom>
          <a:solidFill>
            <a:srgbClr val="E8D5CC"/>
          </a:solidFill>
          <a:ln/>
        </p:spPr>
      </p:sp>
      <p:sp>
        <p:nvSpPr>
          <p:cNvPr id="17" name="Text 15"/>
          <p:cNvSpPr/>
          <p:nvPr/>
        </p:nvSpPr>
        <p:spPr>
          <a:xfrm>
            <a:off x="68580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18" name="Text 16"/>
          <p:cNvSpPr/>
          <p:nvPr/>
        </p:nvSpPr>
        <p:spPr>
          <a:xfrm>
            <a:off x="59436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Success toast notifications after borrowing, returning, or reserving a book</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Real-time form validation with inline error messages as users type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Loading spinners and progress bars during search and data retrieval</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Colour-coded status indicators: green (available), red (overdue), amber (due soon)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Confirmation messages with transaction details after completing actions</a:t>
            </a:r>
            <a:endParaRPr lang="en-US" sz="1100" dirty="0"/>
          </a:p>
        </p:txBody>
      </p:sp>
      <p:sp>
        <p:nvSpPr>
          <p:cNvPr id="19" name="Shape 17"/>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20" name="Shape 18"/>
          <p:cNvSpPr/>
          <p:nvPr/>
        </p:nvSpPr>
        <p:spPr>
          <a:xfrm>
            <a:off x="4846320" y="1188720"/>
            <a:ext cx="3931920" cy="54864"/>
          </a:xfrm>
          <a:prstGeom prst="rect">
            <a:avLst>
              <a:gd name="adj" fmla="val 50000"/>
            </a:avLst>
          </a:prstGeom>
          <a:solidFill>
            <a:srgbClr val="2B4066"/>
          </a:solidFill>
          <a:ln/>
        </p:spPr>
      </p:sp>
      <p:sp>
        <p:nvSpPr>
          <p:cNvPr id="21" name="Shape 19"/>
          <p:cNvSpPr/>
          <p:nvPr/>
        </p:nvSpPr>
        <p:spPr>
          <a:xfrm>
            <a:off x="5074920" y="1417320"/>
            <a:ext cx="502920" cy="411480"/>
          </a:xfrm>
          <a:prstGeom prst="roundRect">
            <a:avLst>
              <a:gd name="adj" fmla="val 13333"/>
            </a:avLst>
          </a:prstGeom>
          <a:solidFill>
            <a:srgbClr val="2B4066"/>
          </a:solidFill>
          <a:ln/>
        </p:spPr>
      </p:sp>
      <p:sp>
        <p:nvSpPr>
          <p:cNvPr id="22" name="Text 20"/>
          <p:cNvSpPr/>
          <p:nvPr/>
        </p:nvSpPr>
        <p:spPr>
          <a:xfrm>
            <a:off x="507492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3" name="Text 21"/>
          <p:cNvSpPr/>
          <p:nvPr/>
        </p:nvSpPr>
        <p:spPr>
          <a:xfrm>
            <a:off x="571500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Dialog Closure</a:t>
            </a:r>
            <a:endParaRPr lang="en-US" sz="1500" dirty="0"/>
          </a:p>
        </p:txBody>
      </p:sp>
      <p:sp>
        <p:nvSpPr>
          <p:cNvPr id="24" name="Text 22"/>
          <p:cNvSpPr/>
          <p:nvPr/>
        </p:nvSpPr>
        <p:spPr>
          <a:xfrm>
            <a:off x="507492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Sequences of actions should be organised into groups with a clear beginning, middle, and end. Provide closure so users know the task is complete.</a:t>
            </a:r>
            <a:endParaRPr lang="en-US" sz="1100" dirty="0"/>
          </a:p>
        </p:txBody>
      </p:sp>
      <p:sp>
        <p:nvSpPr>
          <p:cNvPr id="25" name="Shape 23"/>
          <p:cNvSpPr/>
          <p:nvPr/>
        </p:nvSpPr>
        <p:spPr>
          <a:xfrm>
            <a:off x="5074920" y="2697480"/>
            <a:ext cx="3474720" cy="320040"/>
          </a:xfrm>
          <a:prstGeom prst="rect">
            <a:avLst>
              <a:gd name="adj" fmla="val 11429"/>
            </a:avLst>
          </a:prstGeom>
          <a:solidFill>
            <a:srgbClr val="E8D5CC"/>
          </a:solidFill>
          <a:ln/>
        </p:spPr>
      </p:sp>
      <p:sp>
        <p:nvSpPr>
          <p:cNvPr id="26" name="Text 24"/>
          <p:cNvSpPr/>
          <p:nvPr/>
        </p:nvSpPr>
        <p:spPr>
          <a:xfrm>
            <a:off x="516636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27" name="Text 25"/>
          <p:cNvSpPr/>
          <p:nvPr/>
        </p:nvSpPr>
        <p:spPr>
          <a:xfrm>
            <a:off x="507492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Multi-step borrowing process with clear progress indicator (Select &gt; Confirm &gt; Receipt)</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Confirmation screen after book return showing updated loan status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Registration wizard with step numbers and a completion summary page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Fine payment flow ending with a digital receipt and updated balance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Search-to-action flow: Search &gt; View Details &gt; Borrow/Reserve &gt; Confirmation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Golden Rules 5 &amp; 6: Error Prevention &amp; Easy Reversal</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Shape 10"/>
          <p:cNvSpPr/>
          <p:nvPr/>
        </p:nvSpPr>
        <p:spPr>
          <a:xfrm>
            <a:off x="594360" y="1417320"/>
            <a:ext cx="502920" cy="411480"/>
          </a:xfrm>
          <a:prstGeom prst="roundRect">
            <a:avLst>
              <a:gd name="adj" fmla="val 13333"/>
            </a:avLst>
          </a:prstGeom>
          <a:solidFill>
            <a:srgbClr val="C4603C"/>
          </a:solidFill>
          <a:ln/>
        </p:spPr>
      </p:sp>
      <p:sp>
        <p:nvSpPr>
          <p:cNvPr id="13" name="Text 11"/>
          <p:cNvSpPr/>
          <p:nvPr/>
        </p:nvSpPr>
        <p:spPr>
          <a:xfrm>
            <a:off x="59436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4" name="Text 12"/>
          <p:cNvSpPr/>
          <p:nvPr/>
        </p:nvSpPr>
        <p:spPr>
          <a:xfrm>
            <a:off x="123444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Prevent Errors</a:t>
            </a:r>
            <a:endParaRPr lang="en-US" sz="1500" dirty="0"/>
          </a:p>
        </p:txBody>
      </p:sp>
      <p:sp>
        <p:nvSpPr>
          <p:cNvPr id="15" name="Text 13"/>
          <p:cNvSpPr/>
          <p:nvPr/>
        </p:nvSpPr>
        <p:spPr>
          <a:xfrm>
            <a:off x="59436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Design the system so users cannot easily make errors. Where possible, detect and prevent errors before they occur rather than correcting them after.</a:t>
            </a:r>
            <a:endParaRPr lang="en-US" sz="1100" dirty="0"/>
          </a:p>
        </p:txBody>
      </p:sp>
      <p:sp>
        <p:nvSpPr>
          <p:cNvPr id="16" name="Shape 14"/>
          <p:cNvSpPr/>
          <p:nvPr/>
        </p:nvSpPr>
        <p:spPr>
          <a:xfrm>
            <a:off x="594360" y="2697480"/>
            <a:ext cx="3474720" cy="320040"/>
          </a:xfrm>
          <a:prstGeom prst="rect">
            <a:avLst>
              <a:gd name="adj" fmla="val 11429"/>
            </a:avLst>
          </a:prstGeom>
          <a:solidFill>
            <a:srgbClr val="E8D5CC"/>
          </a:solidFill>
          <a:ln/>
        </p:spPr>
      </p:sp>
      <p:sp>
        <p:nvSpPr>
          <p:cNvPr id="17" name="Text 15"/>
          <p:cNvSpPr/>
          <p:nvPr/>
        </p:nvSpPr>
        <p:spPr>
          <a:xfrm>
            <a:off x="68580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18" name="Text 16"/>
          <p:cNvSpPr/>
          <p:nvPr/>
        </p:nvSpPr>
        <p:spPr>
          <a:xfrm>
            <a:off x="59436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Input validation prevents submission of incomplete registration forms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Greyed-out "Borrow" button when user has reached borrowing limit</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Date pickers prevent selection of invalid return dates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Confirmation dialogs before irreversible actions (e.g., deleting a reservation)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Auto-suggest in search prevents misspellings and guides correct input</a:t>
            </a:r>
            <a:endParaRPr lang="en-US" sz="1100" dirty="0"/>
          </a:p>
        </p:txBody>
      </p:sp>
      <p:sp>
        <p:nvSpPr>
          <p:cNvPr id="19" name="Shape 17"/>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20" name="Shape 18"/>
          <p:cNvSpPr/>
          <p:nvPr/>
        </p:nvSpPr>
        <p:spPr>
          <a:xfrm>
            <a:off x="4846320" y="1188720"/>
            <a:ext cx="3931920" cy="54864"/>
          </a:xfrm>
          <a:prstGeom prst="rect">
            <a:avLst>
              <a:gd name="adj" fmla="val 50000"/>
            </a:avLst>
          </a:prstGeom>
          <a:solidFill>
            <a:srgbClr val="2B4066"/>
          </a:solidFill>
          <a:ln/>
        </p:spPr>
      </p:sp>
      <p:sp>
        <p:nvSpPr>
          <p:cNvPr id="21" name="Shape 19"/>
          <p:cNvSpPr/>
          <p:nvPr/>
        </p:nvSpPr>
        <p:spPr>
          <a:xfrm>
            <a:off x="5074920" y="1417320"/>
            <a:ext cx="502920" cy="411480"/>
          </a:xfrm>
          <a:prstGeom prst="roundRect">
            <a:avLst>
              <a:gd name="adj" fmla="val 13333"/>
            </a:avLst>
          </a:prstGeom>
          <a:solidFill>
            <a:srgbClr val="2B4066"/>
          </a:solidFill>
          <a:ln/>
        </p:spPr>
      </p:sp>
      <p:sp>
        <p:nvSpPr>
          <p:cNvPr id="22" name="Text 20"/>
          <p:cNvSpPr/>
          <p:nvPr/>
        </p:nvSpPr>
        <p:spPr>
          <a:xfrm>
            <a:off x="507492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23" name="Text 21"/>
          <p:cNvSpPr/>
          <p:nvPr/>
        </p:nvSpPr>
        <p:spPr>
          <a:xfrm>
            <a:off x="571500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Easy Reversal of Actions</a:t>
            </a:r>
            <a:endParaRPr lang="en-US" sz="1500" dirty="0"/>
          </a:p>
        </p:txBody>
      </p:sp>
      <p:sp>
        <p:nvSpPr>
          <p:cNvPr id="24" name="Text 22"/>
          <p:cNvSpPr/>
          <p:nvPr/>
        </p:nvSpPr>
        <p:spPr>
          <a:xfrm>
            <a:off x="507492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As much as possible, actions should be reversible. This feature relieves anxiety and encourages exploration of unfamiliar options.</a:t>
            </a:r>
            <a:endParaRPr lang="en-US" sz="1100" dirty="0"/>
          </a:p>
        </p:txBody>
      </p:sp>
      <p:sp>
        <p:nvSpPr>
          <p:cNvPr id="25" name="Shape 23"/>
          <p:cNvSpPr/>
          <p:nvPr/>
        </p:nvSpPr>
        <p:spPr>
          <a:xfrm>
            <a:off x="5074920" y="2697480"/>
            <a:ext cx="3474720" cy="320040"/>
          </a:xfrm>
          <a:prstGeom prst="rect">
            <a:avLst>
              <a:gd name="adj" fmla="val 11429"/>
            </a:avLst>
          </a:prstGeom>
          <a:solidFill>
            <a:srgbClr val="E8D5CC"/>
          </a:solidFill>
          <a:ln/>
        </p:spPr>
      </p:sp>
      <p:sp>
        <p:nvSpPr>
          <p:cNvPr id="26" name="Text 24"/>
          <p:cNvSpPr/>
          <p:nvPr/>
        </p:nvSpPr>
        <p:spPr>
          <a:xfrm>
            <a:off x="516636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27" name="Text 25"/>
          <p:cNvSpPr/>
          <p:nvPr/>
        </p:nvSpPr>
        <p:spPr>
          <a:xfrm>
            <a:off x="507492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Cancel reservation option available up until the book is collected</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Edit profile information with ability to revert changes before saving</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Undo option in admin dashboard for recently modified records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"Back" navigation clearly available at every step of multi-page flows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Loan renewal option allows extending due dates without re-borrowing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Golden Rules 7 &amp; 8: User Control &amp; Memory Load</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Shape 10"/>
          <p:cNvSpPr/>
          <p:nvPr/>
        </p:nvSpPr>
        <p:spPr>
          <a:xfrm>
            <a:off x="594360" y="1417320"/>
            <a:ext cx="502920" cy="411480"/>
          </a:xfrm>
          <a:prstGeom prst="roundRect">
            <a:avLst>
              <a:gd name="adj" fmla="val 13333"/>
            </a:avLst>
          </a:prstGeom>
          <a:solidFill>
            <a:srgbClr val="C4603C"/>
          </a:solidFill>
          <a:ln/>
        </p:spPr>
      </p:sp>
      <p:sp>
        <p:nvSpPr>
          <p:cNvPr id="13" name="Text 11"/>
          <p:cNvSpPr/>
          <p:nvPr/>
        </p:nvSpPr>
        <p:spPr>
          <a:xfrm>
            <a:off x="59436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7</a:t>
            </a:r>
            <a:endParaRPr lang="en-US" sz="1800" dirty="0"/>
          </a:p>
        </p:txBody>
      </p:sp>
      <p:sp>
        <p:nvSpPr>
          <p:cNvPr id="14" name="Text 12"/>
          <p:cNvSpPr/>
          <p:nvPr/>
        </p:nvSpPr>
        <p:spPr>
          <a:xfrm>
            <a:off x="123444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Keep Users in Control</a:t>
            </a:r>
            <a:endParaRPr lang="en-US" sz="1500" dirty="0"/>
          </a:p>
        </p:txBody>
      </p:sp>
      <p:sp>
        <p:nvSpPr>
          <p:cNvPr id="15" name="Text 13"/>
          <p:cNvSpPr/>
          <p:nvPr/>
        </p:nvSpPr>
        <p:spPr>
          <a:xfrm>
            <a:off x="59436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Experienced users want to feel that they are in charge of the interface and that it responds to their actions. The system should not surprise users.</a:t>
            </a:r>
            <a:endParaRPr lang="en-US" sz="1100" dirty="0"/>
          </a:p>
        </p:txBody>
      </p:sp>
      <p:sp>
        <p:nvSpPr>
          <p:cNvPr id="16" name="Shape 14"/>
          <p:cNvSpPr/>
          <p:nvPr/>
        </p:nvSpPr>
        <p:spPr>
          <a:xfrm>
            <a:off x="594360" y="2697480"/>
            <a:ext cx="3474720" cy="320040"/>
          </a:xfrm>
          <a:prstGeom prst="rect">
            <a:avLst>
              <a:gd name="adj" fmla="val 11429"/>
            </a:avLst>
          </a:prstGeom>
          <a:solidFill>
            <a:srgbClr val="E8D5CC"/>
          </a:solidFill>
          <a:ln/>
        </p:spPr>
      </p:sp>
      <p:sp>
        <p:nvSpPr>
          <p:cNvPr id="17" name="Text 15"/>
          <p:cNvSpPr/>
          <p:nvPr/>
        </p:nvSpPr>
        <p:spPr>
          <a:xfrm>
            <a:off x="68580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18" name="Text 16"/>
          <p:cNvSpPr/>
          <p:nvPr/>
        </p:nvSpPr>
        <p:spPr>
          <a:xfrm>
            <a:off x="59436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Users choose their own dashboard layout and notification preferences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Manual override options for librarians in automated processes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Sort and filter controls allow users to organise search results their way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Adjustable loan periods within policy limits give users scheduling flexibility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Clear exit points on every screen — no forced sequences or dead ends</a:t>
            </a:r>
            <a:endParaRPr lang="en-US" sz="1100" dirty="0"/>
          </a:p>
        </p:txBody>
      </p:sp>
      <p:sp>
        <p:nvSpPr>
          <p:cNvPr id="19" name="Shape 17"/>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20" name="Shape 18"/>
          <p:cNvSpPr/>
          <p:nvPr/>
        </p:nvSpPr>
        <p:spPr>
          <a:xfrm>
            <a:off x="4846320" y="1188720"/>
            <a:ext cx="3931920" cy="54864"/>
          </a:xfrm>
          <a:prstGeom prst="rect">
            <a:avLst>
              <a:gd name="adj" fmla="val 50000"/>
            </a:avLst>
          </a:prstGeom>
          <a:solidFill>
            <a:srgbClr val="2B4066"/>
          </a:solidFill>
          <a:ln/>
        </p:spPr>
      </p:sp>
      <p:sp>
        <p:nvSpPr>
          <p:cNvPr id="21" name="Shape 19"/>
          <p:cNvSpPr/>
          <p:nvPr/>
        </p:nvSpPr>
        <p:spPr>
          <a:xfrm>
            <a:off x="5074920" y="1417320"/>
            <a:ext cx="502920" cy="411480"/>
          </a:xfrm>
          <a:prstGeom prst="roundRect">
            <a:avLst>
              <a:gd name="adj" fmla="val 13333"/>
            </a:avLst>
          </a:prstGeom>
          <a:solidFill>
            <a:srgbClr val="2B4066"/>
          </a:solidFill>
          <a:ln/>
        </p:spPr>
      </p:sp>
      <p:sp>
        <p:nvSpPr>
          <p:cNvPr id="22" name="Text 20"/>
          <p:cNvSpPr/>
          <p:nvPr/>
        </p:nvSpPr>
        <p:spPr>
          <a:xfrm>
            <a:off x="5074920" y="1417320"/>
            <a:ext cx="50292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8</a:t>
            </a:r>
            <a:endParaRPr lang="en-US" sz="1800" dirty="0"/>
          </a:p>
        </p:txBody>
      </p:sp>
      <p:sp>
        <p:nvSpPr>
          <p:cNvPr id="23" name="Text 21"/>
          <p:cNvSpPr/>
          <p:nvPr/>
        </p:nvSpPr>
        <p:spPr>
          <a:xfrm>
            <a:off x="5715000" y="1417320"/>
            <a:ext cx="2834640" cy="411480"/>
          </a:xfrm>
          <a:prstGeom prst="rect">
            <a:avLst/>
          </a:prstGeom>
          <a:noFill/>
          <a:ln/>
        </p:spPr>
        <p:txBody>
          <a:bodyPr wrap="square" rtlCol="0" anchor="ctr"/>
          <a:lstStyle/>
          <a:p>
            <a:pPr indent="0" marL="0">
              <a:buNone/>
            </a:pPr>
            <a:r>
              <a:rPr lang="en-US" sz="1500" b="1" dirty="0">
                <a:solidFill>
                  <a:srgbClr val="2B4066"/>
                </a:solidFill>
                <a:latin typeface="Georgia" pitchFamily="34" charset="0"/>
                <a:ea typeface="Georgia" pitchFamily="34" charset="-122"/>
                <a:cs typeface="Georgia" pitchFamily="34" charset="-120"/>
              </a:rPr>
              <a:t>Reduce Memory Load</a:t>
            </a:r>
            <a:endParaRPr lang="en-US" sz="1500" dirty="0"/>
          </a:p>
        </p:txBody>
      </p:sp>
      <p:sp>
        <p:nvSpPr>
          <p:cNvPr id="24" name="Text 22"/>
          <p:cNvSpPr/>
          <p:nvPr/>
        </p:nvSpPr>
        <p:spPr>
          <a:xfrm>
            <a:off x="5074920" y="2011680"/>
            <a:ext cx="3474720" cy="594360"/>
          </a:xfrm>
          <a:prstGeom prst="rect">
            <a:avLst/>
          </a:prstGeom>
          <a:noFill/>
          <a:ln/>
        </p:spPr>
        <p:txBody>
          <a:bodyPr wrap="square" rtlCol="0" anchor="t"/>
          <a:lstStyle/>
          <a:p>
            <a:pPr indent="0" marL="0">
              <a:lnSpc>
                <a:spcPct val="125000"/>
              </a:lnSpc>
              <a:buNone/>
            </a:pPr>
            <a:r>
              <a:rPr lang="en-US" sz="1100" i="1" dirty="0">
                <a:solidFill>
                  <a:srgbClr val="6B7280"/>
                </a:solidFill>
                <a:latin typeface="Calibri" pitchFamily="34" charset="0"/>
                <a:ea typeface="Calibri" pitchFamily="34" charset="-122"/>
                <a:cs typeface="Calibri" pitchFamily="34" charset="-120"/>
              </a:rPr>
              <a:t>Humans have limited short-term memory. The interface should reduce the need for users to remember information across screens or sessions.</a:t>
            </a:r>
            <a:endParaRPr lang="en-US" sz="1100" dirty="0"/>
          </a:p>
        </p:txBody>
      </p:sp>
      <p:sp>
        <p:nvSpPr>
          <p:cNvPr id="25" name="Shape 23"/>
          <p:cNvSpPr/>
          <p:nvPr/>
        </p:nvSpPr>
        <p:spPr>
          <a:xfrm>
            <a:off x="5074920" y="2697480"/>
            <a:ext cx="3474720" cy="320040"/>
          </a:xfrm>
          <a:prstGeom prst="rect">
            <a:avLst>
              <a:gd name="adj" fmla="val 11429"/>
            </a:avLst>
          </a:prstGeom>
          <a:solidFill>
            <a:srgbClr val="E8D5CC"/>
          </a:solidFill>
          <a:ln/>
        </p:spPr>
      </p:sp>
      <p:sp>
        <p:nvSpPr>
          <p:cNvPr id="26" name="Text 24"/>
          <p:cNvSpPr/>
          <p:nvPr/>
        </p:nvSpPr>
        <p:spPr>
          <a:xfrm>
            <a:off x="5166360" y="2715768"/>
            <a:ext cx="3291840" cy="283464"/>
          </a:xfrm>
          <a:prstGeom prst="rect">
            <a:avLst/>
          </a:prstGeom>
          <a:noFill/>
          <a:ln/>
        </p:spPr>
        <p:txBody>
          <a:bodyPr wrap="square" rtlCol="0" anchor="ctr"/>
          <a:lstStyle/>
          <a:p>
            <a:pPr indent="0" marL="0">
              <a:buNone/>
            </a:pPr>
            <a:r>
              <a:rPr lang="en-US" sz="1050" b="1" dirty="0">
                <a:solidFill>
                  <a:srgbClr val="C4603C"/>
                </a:solidFill>
                <a:latin typeface="Georgia" pitchFamily="34" charset="0"/>
                <a:ea typeface="Georgia" pitchFamily="34" charset="-122"/>
                <a:cs typeface="Georgia" pitchFamily="34" charset="-120"/>
              </a:rPr>
              <a:t>SmartLib Application</a:t>
            </a:r>
            <a:endParaRPr lang="en-US" sz="1050" dirty="0"/>
          </a:p>
        </p:txBody>
      </p:sp>
      <p:sp>
        <p:nvSpPr>
          <p:cNvPr id="27" name="Text 25"/>
          <p:cNvSpPr/>
          <p:nvPr/>
        </p:nvSpPr>
        <p:spPr>
          <a:xfrm>
            <a:off x="5074920" y="3154680"/>
            <a:ext cx="3474720" cy="292608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Persistent breadcrumb navigation shows users their current location in the system</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Recently viewed books list on dashboard for quick re-access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Auto-populated fields using stored profile data (name, ID, department)</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Visual book covers alongside titles to aid recognition over recall</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Contextual tooltips and help icons provide guidance without leaving the page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Interface Design: Login &amp; Dashboard</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Text 10"/>
          <p:cNvSpPr/>
          <p:nvPr/>
        </p:nvSpPr>
        <p:spPr>
          <a:xfrm>
            <a:off x="594360" y="1371600"/>
            <a:ext cx="347472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Login Page</a:t>
            </a:r>
            <a:endParaRPr lang="en-US" sz="1600" dirty="0"/>
          </a:p>
        </p:txBody>
      </p:sp>
      <p:sp>
        <p:nvSpPr>
          <p:cNvPr id="13" name="Shape 11"/>
          <p:cNvSpPr/>
          <p:nvPr/>
        </p:nvSpPr>
        <p:spPr>
          <a:xfrm>
            <a:off x="594360" y="1755648"/>
            <a:ext cx="548640" cy="36576"/>
          </a:xfrm>
          <a:prstGeom prst="rect">
            <a:avLst/>
          </a:prstGeom>
          <a:solidFill>
            <a:srgbClr val="C4603C"/>
          </a:solidFill>
          <a:ln/>
        </p:spPr>
      </p:sp>
      <p:sp>
        <p:nvSpPr>
          <p:cNvPr id="14" name="Text 12"/>
          <p:cNvSpPr/>
          <p:nvPr/>
        </p:nvSpPr>
        <p:spPr>
          <a:xfrm>
            <a:off x="548640" y="1920240"/>
            <a:ext cx="3520440" cy="411480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Clean, centred login form with university branding</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Student/Staff ID and password input fields with visible labels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"Remember Me" checkbox for convenience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"Forgot Password" link with email recovery flow</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Clear error messages for invalid credentials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Responsive layout adapts to mobile screens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Role selection (Student / Librarian / Admin)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Secure session management with timeout warning</a:t>
            </a:r>
            <a:endParaRPr lang="en-US" sz="1100" dirty="0"/>
          </a:p>
        </p:txBody>
      </p:sp>
      <p:sp>
        <p:nvSpPr>
          <p:cNvPr id="15" name="Shape 13"/>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6" name="Shape 14"/>
          <p:cNvSpPr/>
          <p:nvPr/>
        </p:nvSpPr>
        <p:spPr>
          <a:xfrm>
            <a:off x="4846320" y="1188720"/>
            <a:ext cx="3931920" cy="54864"/>
          </a:xfrm>
          <a:prstGeom prst="rect">
            <a:avLst>
              <a:gd name="adj" fmla="val 50000"/>
            </a:avLst>
          </a:prstGeom>
          <a:solidFill>
            <a:srgbClr val="2B4066"/>
          </a:solidFill>
          <a:ln/>
        </p:spPr>
      </p:sp>
      <p:sp>
        <p:nvSpPr>
          <p:cNvPr id="17" name="Text 15"/>
          <p:cNvSpPr/>
          <p:nvPr/>
        </p:nvSpPr>
        <p:spPr>
          <a:xfrm>
            <a:off x="5074920" y="1371600"/>
            <a:ext cx="347472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User Dashboard</a:t>
            </a:r>
            <a:endParaRPr lang="en-US" sz="1600" dirty="0"/>
          </a:p>
        </p:txBody>
      </p:sp>
      <p:sp>
        <p:nvSpPr>
          <p:cNvPr id="18" name="Shape 16"/>
          <p:cNvSpPr/>
          <p:nvPr/>
        </p:nvSpPr>
        <p:spPr>
          <a:xfrm>
            <a:off x="5074920" y="1755648"/>
            <a:ext cx="548640" cy="36576"/>
          </a:xfrm>
          <a:prstGeom prst="rect">
            <a:avLst/>
          </a:prstGeom>
          <a:solidFill>
            <a:srgbClr val="C4603C"/>
          </a:solidFill>
          <a:ln/>
        </p:spPr>
      </p:sp>
      <p:sp>
        <p:nvSpPr>
          <p:cNvPr id="19" name="Text 17"/>
          <p:cNvSpPr/>
          <p:nvPr/>
        </p:nvSpPr>
        <p:spPr>
          <a:xfrm>
            <a:off x="5029200" y="1920240"/>
            <a:ext cx="3520440" cy="411480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Personalised greeting with user name and role indicator</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Summary cards: Active Loans, Pending Reservations, Fines Due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Quick action buttons for frequently used features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Current loans table with due dates and renewal options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Notification panel showing recent alerts and reminders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Recently viewed books section for quick re-access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Navigation sidebar with collapsible menu categories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Role-specific widgets (admin sees analytics, student sees loans)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Interface Design: Search &amp; Book Details</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36576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1" name="Shape 9"/>
          <p:cNvSpPr/>
          <p:nvPr/>
        </p:nvSpPr>
        <p:spPr>
          <a:xfrm>
            <a:off x="365760" y="1188720"/>
            <a:ext cx="3931920" cy="54864"/>
          </a:xfrm>
          <a:prstGeom prst="rect">
            <a:avLst>
              <a:gd name="adj" fmla="val 50000"/>
            </a:avLst>
          </a:prstGeom>
          <a:solidFill>
            <a:srgbClr val="C4603C"/>
          </a:solidFill>
          <a:ln/>
        </p:spPr>
      </p:sp>
      <p:sp>
        <p:nvSpPr>
          <p:cNvPr id="12" name="Text 10"/>
          <p:cNvSpPr/>
          <p:nvPr/>
        </p:nvSpPr>
        <p:spPr>
          <a:xfrm>
            <a:off x="594360" y="1371600"/>
            <a:ext cx="347472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Book Search</a:t>
            </a:r>
            <a:endParaRPr lang="en-US" sz="1600" dirty="0"/>
          </a:p>
        </p:txBody>
      </p:sp>
      <p:sp>
        <p:nvSpPr>
          <p:cNvPr id="13" name="Shape 11"/>
          <p:cNvSpPr/>
          <p:nvPr/>
        </p:nvSpPr>
        <p:spPr>
          <a:xfrm>
            <a:off x="594360" y="1755648"/>
            <a:ext cx="548640" cy="36576"/>
          </a:xfrm>
          <a:prstGeom prst="rect">
            <a:avLst/>
          </a:prstGeom>
          <a:solidFill>
            <a:srgbClr val="C4603C"/>
          </a:solidFill>
          <a:ln/>
        </p:spPr>
      </p:sp>
      <p:sp>
        <p:nvSpPr>
          <p:cNvPr id="14" name="Text 12"/>
          <p:cNvSpPr/>
          <p:nvPr/>
        </p:nvSpPr>
        <p:spPr>
          <a:xfrm>
            <a:off x="548640" y="1920240"/>
            <a:ext cx="3520440" cy="411480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Prominent search bar with auto-suggest as users type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Advanced filters: category, author, year, availability status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Grid and list view toggle for search results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Book cards showing cover, title, author, and availability badge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Sort options: relevance, title (A-Z), date added, popularity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Pagination with adjustable results-per-page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"No results" state with helpful suggestions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Search history for quick re-searching</a:t>
            </a:r>
            <a:endParaRPr lang="en-US" sz="1100" dirty="0"/>
          </a:p>
        </p:txBody>
      </p:sp>
      <p:sp>
        <p:nvSpPr>
          <p:cNvPr id="15" name="Shape 13"/>
          <p:cNvSpPr/>
          <p:nvPr/>
        </p:nvSpPr>
        <p:spPr>
          <a:xfrm>
            <a:off x="4846320" y="1188720"/>
            <a:ext cx="3931920" cy="5074920"/>
          </a:xfrm>
          <a:prstGeom prst="roundRect">
            <a:avLst>
              <a:gd name="adj" fmla="val 1395"/>
            </a:avLst>
          </a:prstGeom>
          <a:solidFill>
            <a:srgbClr val="FFFFFF"/>
          </a:solidFill>
          <a:ln/>
          <a:effectLst>
            <a:outerShdw sx="100000" sy="100000" kx="0" ky="0" algn="bl" rotWithShape="0" blurRad="50800" dist="25400" dir="16200000">
              <a:srgbClr val="CCCCCC">
                <a:alpha val="30000"/>
              </a:srgbClr>
            </a:outerShdw>
          </a:effectLst>
        </p:spPr>
      </p:sp>
      <p:sp>
        <p:nvSpPr>
          <p:cNvPr id="16" name="Shape 14"/>
          <p:cNvSpPr/>
          <p:nvPr/>
        </p:nvSpPr>
        <p:spPr>
          <a:xfrm>
            <a:off x="4846320" y="1188720"/>
            <a:ext cx="3931920" cy="54864"/>
          </a:xfrm>
          <a:prstGeom prst="rect">
            <a:avLst>
              <a:gd name="adj" fmla="val 50000"/>
            </a:avLst>
          </a:prstGeom>
          <a:solidFill>
            <a:srgbClr val="2B4066"/>
          </a:solidFill>
          <a:ln/>
        </p:spPr>
      </p:sp>
      <p:sp>
        <p:nvSpPr>
          <p:cNvPr id="17" name="Text 15"/>
          <p:cNvSpPr/>
          <p:nvPr/>
        </p:nvSpPr>
        <p:spPr>
          <a:xfrm>
            <a:off x="5074920" y="1371600"/>
            <a:ext cx="347472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Book Details</a:t>
            </a:r>
            <a:endParaRPr lang="en-US" sz="1600" dirty="0"/>
          </a:p>
        </p:txBody>
      </p:sp>
      <p:sp>
        <p:nvSpPr>
          <p:cNvPr id="18" name="Shape 16"/>
          <p:cNvSpPr/>
          <p:nvPr/>
        </p:nvSpPr>
        <p:spPr>
          <a:xfrm>
            <a:off x="5074920" y="1755648"/>
            <a:ext cx="548640" cy="36576"/>
          </a:xfrm>
          <a:prstGeom prst="rect">
            <a:avLst/>
          </a:prstGeom>
          <a:solidFill>
            <a:srgbClr val="C4603C"/>
          </a:solidFill>
          <a:ln/>
        </p:spPr>
      </p:sp>
      <p:sp>
        <p:nvSpPr>
          <p:cNvPr id="19" name="Text 17"/>
          <p:cNvSpPr/>
          <p:nvPr/>
        </p:nvSpPr>
        <p:spPr>
          <a:xfrm>
            <a:off x="5029200" y="1920240"/>
            <a:ext cx="3520440" cy="4114800"/>
          </a:xfrm>
          <a:prstGeom prst="rect">
            <a:avLst/>
          </a:prstGeom>
          <a:noFill/>
          <a:ln/>
        </p:spPr>
        <p:txBody>
          <a:bodyPr wrap="square" rtlCol="0" anchor="t"/>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Large book cover image with metadata panel alongside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Complete details: title, author, ISBN, publisher, edition, year</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Real-time availability status with copy count</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Primary action buttons: "Borrow Now" or "Reserve" based on status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Book description and table of contents section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Location information: shelf number, floor, section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Related books recommendations based on category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QR code display for quick mobile scanning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Interface Design: User Profile &amp; Settings</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7863840" cy="685800"/>
          </a:xfrm>
          <a:prstGeom prst="rect">
            <a:avLst/>
          </a:prstGeom>
          <a:noFill/>
          <a:ln/>
        </p:spPr>
        <p:txBody>
          <a:bodyPr wrap="square" rtlCol="0" anchor="t"/>
          <a:lstStyle/>
          <a:p>
            <a:pPr indent="0" marL="0">
              <a:lnSpc>
                <a:spcPct val="135000"/>
              </a:lnSpc>
              <a:buNone/>
            </a:pPr>
            <a:r>
              <a:rPr lang="en-US" sz="1300" dirty="0">
                <a:solidFill>
                  <a:srgbClr val="1A1A2E"/>
                </a:solidFill>
                <a:latin typeface="Calibri" pitchFamily="34" charset="0"/>
                <a:ea typeface="Calibri" pitchFamily="34" charset="-122"/>
                <a:cs typeface="Calibri" pitchFamily="34" charset="-120"/>
              </a:rPr>
              <a:t>The User Profile interface provides a centralised location for users to manage their personal information, view their library activity history, and configure notification preferences.</a:t>
            </a:r>
            <a:endParaRPr lang="en-US" sz="1300" dirty="0"/>
          </a:p>
        </p:txBody>
      </p:sp>
      <p:sp>
        <p:nvSpPr>
          <p:cNvPr id="11" name="Shape 9"/>
          <p:cNvSpPr/>
          <p:nvPr/>
        </p:nvSpPr>
        <p:spPr>
          <a:xfrm>
            <a:off x="457200" y="2148840"/>
            <a:ext cx="2651760" cy="3931920"/>
          </a:xfrm>
          <a:prstGeom prst="roundRect">
            <a:avLst>
              <a:gd name="adj" fmla="val 2069"/>
            </a:avLst>
          </a:prstGeom>
          <a:solidFill>
            <a:srgbClr val="FFFFFF"/>
          </a:solidFill>
          <a:ln/>
          <a:effectLst>
            <a:outerShdw sx="100000" sy="100000" kx="0" ky="0" algn="bl" rotWithShape="0" blurRad="50800" dist="25400" dir="16200000">
              <a:srgbClr val="CCCCCC">
                <a:alpha val="30000"/>
              </a:srgbClr>
            </a:outerShdw>
          </a:effectLst>
        </p:spPr>
      </p:sp>
      <p:sp>
        <p:nvSpPr>
          <p:cNvPr id="12" name="Shape 10"/>
          <p:cNvSpPr/>
          <p:nvPr/>
        </p:nvSpPr>
        <p:spPr>
          <a:xfrm>
            <a:off x="457200" y="2148840"/>
            <a:ext cx="2651760" cy="54864"/>
          </a:xfrm>
          <a:prstGeom prst="rect">
            <a:avLst>
              <a:gd name="adj" fmla="val 50000"/>
            </a:avLst>
          </a:prstGeom>
          <a:solidFill>
            <a:srgbClr val="C4603C"/>
          </a:solidFill>
          <a:ln/>
        </p:spPr>
      </p:sp>
      <p:sp>
        <p:nvSpPr>
          <p:cNvPr id="13" name="Shape 11"/>
          <p:cNvSpPr/>
          <p:nvPr/>
        </p:nvSpPr>
        <p:spPr>
          <a:xfrm>
            <a:off x="594360" y="2331720"/>
            <a:ext cx="2377440" cy="365760"/>
          </a:xfrm>
          <a:prstGeom prst="rect">
            <a:avLst>
              <a:gd name="adj" fmla="val 10000"/>
            </a:avLst>
          </a:prstGeom>
          <a:solidFill>
            <a:srgbClr val="C4603C"/>
          </a:solidFill>
          <a:ln/>
        </p:spPr>
      </p:sp>
      <p:sp>
        <p:nvSpPr>
          <p:cNvPr id="14" name="Text 12"/>
          <p:cNvSpPr/>
          <p:nvPr/>
        </p:nvSpPr>
        <p:spPr>
          <a:xfrm>
            <a:off x="594360" y="2331720"/>
            <a:ext cx="237744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Personal Information</a:t>
            </a:r>
            <a:endParaRPr lang="en-US" sz="1200" dirty="0"/>
          </a:p>
        </p:txBody>
      </p:sp>
      <p:sp>
        <p:nvSpPr>
          <p:cNvPr id="15" name="Text 13"/>
          <p:cNvSpPr/>
          <p:nvPr/>
        </p:nvSpPr>
        <p:spPr>
          <a:xfrm>
            <a:off x="548640" y="2880360"/>
            <a:ext cx="2468880" cy="2926080"/>
          </a:xfrm>
          <a:prstGeom prst="rect">
            <a:avLst/>
          </a:prstGeom>
          <a:noFill/>
          <a:ln/>
        </p:spPr>
        <p:txBody>
          <a:bodyPr wrap="square" rtlCol="0" anchor="t"/>
          <a:lstStyle/>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Editable name, email, phone, and department fields</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Profile photo upload with preview</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Student/Staff ID displayed (non-editable)</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Password change with strength indicator</a:t>
            </a:r>
            <a:endParaRPr lang="en-US" sz="1050" dirty="0"/>
          </a:p>
        </p:txBody>
      </p:sp>
      <p:sp>
        <p:nvSpPr>
          <p:cNvPr id="16" name="Shape 14"/>
          <p:cNvSpPr/>
          <p:nvPr/>
        </p:nvSpPr>
        <p:spPr>
          <a:xfrm>
            <a:off x="3337560" y="2148840"/>
            <a:ext cx="2651760" cy="3931920"/>
          </a:xfrm>
          <a:prstGeom prst="roundRect">
            <a:avLst>
              <a:gd name="adj" fmla="val 2069"/>
            </a:avLst>
          </a:prstGeom>
          <a:solidFill>
            <a:srgbClr val="FFFFFF"/>
          </a:solidFill>
          <a:ln/>
          <a:effectLst>
            <a:outerShdw sx="100000" sy="100000" kx="0" ky="0" algn="bl" rotWithShape="0" blurRad="50800" dist="25400" dir="16200000">
              <a:srgbClr val="CCCCCC">
                <a:alpha val="30000"/>
              </a:srgbClr>
            </a:outerShdw>
          </a:effectLst>
        </p:spPr>
      </p:sp>
      <p:sp>
        <p:nvSpPr>
          <p:cNvPr id="17" name="Shape 15"/>
          <p:cNvSpPr/>
          <p:nvPr/>
        </p:nvSpPr>
        <p:spPr>
          <a:xfrm>
            <a:off x="3337560" y="2148840"/>
            <a:ext cx="2651760" cy="54864"/>
          </a:xfrm>
          <a:prstGeom prst="rect">
            <a:avLst>
              <a:gd name="adj" fmla="val 50000"/>
            </a:avLst>
          </a:prstGeom>
          <a:solidFill>
            <a:srgbClr val="2B4066"/>
          </a:solidFill>
          <a:ln/>
        </p:spPr>
      </p:sp>
      <p:sp>
        <p:nvSpPr>
          <p:cNvPr id="18" name="Shape 16"/>
          <p:cNvSpPr/>
          <p:nvPr/>
        </p:nvSpPr>
        <p:spPr>
          <a:xfrm>
            <a:off x="3474720" y="2331720"/>
            <a:ext cx="2377440" cy="365760"/>
          </a:xfrm>
          <a:prstGeom prst="rect">
            <a:avLst>
              <a:gd name="adj" fmla="val 10000"/>
            </a:avLst>
          </a:prstGeom>
          <a:solidFill>
            <a:srgbClr val="2B4066"/>
          </a:solidFill>
          <a:ln/>
        </p:spPr>
      </p:sp>
      <p:sp>
        <p:nvSpPr>
          <p:cNvPr id="19" name="Text 17"/>
          <p:cNvSpPr/>
          <p:nvPr/>
        </p:nvSpPr>
        <p:spPr>
          <a:xfrm>
            <a:off x="3474720" y="2331720"/>
            <a:ext cx="237744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Library Activity</a:t>
            </a:r>
            <a:endParaRPr lang="en-US" sz="1200" dirty="0"/>
          </a:p>
        </p:txBody>
      </p:sp>
      <p:sp>
        <p:nvSpPr>
          <p:cNvPr id="20" name="Text 18"/>
          <p:cNvSpPr/>
          <p:nvPr/>
        </p:nvSpPr>
        <p:spPr>
          <a:xfrm>
            <a:off x="3429000" y="2880360"/>
            <a:ext cx="2468880" cy="2926080"/>
          </a:xfrm>
          <a:prstGeom prst="rect">
            <a:avLst/>
          </a:prstGeom>
          <a:noFill/>
          <a:ln/>
        </p:spPr>
        <p:txBody>
          <a:bodyPr wrap="square" rtlCol="0" anchor="t"/>
          <a:lstStyle/>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Complete borrowing history with dates</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Current active loans and due dates</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Reservation status and queue position</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Fine payment history and receipts</a:t>
            </a:r>
            <a:endParaRPr lang="en-US" sz="1050" dirty="0"/>
          </a:p>
        </p:txBody>
      </p:sp>
      <p:sp>
        <p:nvSpPr>
          <p:cNvPr id="21" name="Shape 19"/>
          <p:cNvSpPr/>
          <p:nvPr/>
        </p:nvSpPr>
        <p:spPr>
          <a:xfrm>
            <a:off x="6217920" y="2148840"/>
            <a:ext cx="2651760" cy="3931920"/>
          </a:xfrm>
          <a:prstGeom prst="roundRect">
            <a:avLst>
              <a:gd name="adj" fmla="val 2069"/>
            </a:avLst>
          </a:prstGeom>
          <a:solidFill>
            <a:srgbClr val="FFFFFF"/>
          </a:solidFill>
          <a:ln/>
          <a:effectLst>
            <a:outerShdw sx="100000" sy="100000" kx="0" ky="0" algn="bl" rotWithShape="0" blurRad="50800" dist="25400" dir="16200000">
              <a:srgbClr val="CCCCCC">
                <a:alpha val="30000"/>
              </a:srgbClr>
            </a:outerShdw>
          </a:effectLst>
        </p:spPr>
      </p:sp>
      <p:sp>
        <p:nvSpPr>
          <p:cNvPr id="22" name="Shape 20"/>
          <p:cNvSpPr/>
          <p:nvPr/>
        </p:nvSpPr>
        <p:spPr>
          <a:xfrm>
            <a:off x="6217920" y="2148840"/>
            <a:ext cx="2651760" cy="54864"/>
          </a:xfrm>
          <a:prstGeom prst="rect">
            <a:avLst>
              <a:gd name="adj" fmla="val 50000"/>
            </a:avLst>
          </a:prstGeom>
          <a:solidFill>
            <a:srgbClr val="1A1A2E"/>
          </a:solidFill>
          <a:ln/>
        </p:spPr>
      </p:sp>
      <p:sp>
        <p:nvSpPr>
          <p:cNvPr id="23" name="Shape 21"/>
          <p:cNvSpPr/>
          <p:nvPr/>
        </p:nvSpPr>
        <p:spPr>
          <a:xfrm>
            <a:off x="6355080" y="2331720"/>
            <a:ext cx="2377440" cy="365760"/>
          </a:xfrm>
          <a:prstGeom prst="rect">
            <a:avLst>
              <a:gd name="adj" fmla="val 10000"/>
            </a:avLst>
          </a:prstGeom>
          <a:solidFill>
            <a:srgbClr val="1A1A2E"/>
          </a:solidFill>
          <a:ln/>
        </p:spPr>
      </p:sp>
      <p:sp>
        <p:nvSpPr>
          <p:cNvPr id="24" name="Text 22"/>
          <p:cNvSpPr/>
          <p:nvPr/>
        </p:nvSpPr>
        <p:spPr>
          <a:xfrm>
            <a:off x="6355080" y="2331720"/>
            <a:ext cx="237744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Preferences &amp; Settings</a:t>
            </a:r>
            <a:endParaRPr lang="en-US" sz="1200" dirty="0"/>
          </a:p>
        </p:txBody>
      </p:sp>
      <p:sp>
        <p:nvSpPr>
          <p:cNvPr id="25" name="Text 23"/>
          <p:cNvSpPr/>
          <p:nvPr/>
        </p:nvSpPr>
        <p:spPr>
          <a:xfrm>
            <a:off x="6309360" y="2880360"/>
            <a:ext cx="2468880" cy="2926080"/>
          </a:xfrm>
          <a:prstGeom prst="rect">
            <a:avLst/>
          </a:prstGeom>
          <a:noFill/>
          <a:ln/>
        </p:spPr>
        <p:txBody>
          <a:bodyPr wrap="square" rtlCol="0" anchor="t"/>
          <a:lstStyle/>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Email notification toggle (due dates, fines, reservations)</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Display preferences (theme, language)</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Default search filters and sort order</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Privacy settings for activity visibility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DE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Conclusion</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Text 8"/>
          <p:cNvSpPr/>
          <p:nvPr/>
        </p:nvSpPr>
        <p:spPr>
          <a:xfrm>
            <a:off x="640080" y="1234440"/>
            <a:ext cx="3657600" cy="365760"/>
          </a:xfrm>
          <a:prstGeom prst="rect">
            <a:avLst/>
          </a:prstGeom>
          <a:noFill/>
          <a:ln/>
        </p:spPr>
        <p:txBody>
          <a:bodyPr wrap="square" rtlCol="0" anchor="ctr"/>
          <a:lstStyle/>
          <a:p>
            <a:pPr indent="0" marL="0">
              <a:buNone/>
            </a:pPr>
            <a:r>
              <a:rPr lang="en-US" sz="1600" b="1" dirty="0">
                <a:solidFill>
                  <a:srgbClr val="2B4066"/>
                </a:solidFill>
                <a:latin typeface="Georgia" pitchFamily="34" charset="0"/>
                <a:ea typeface="Georgia" pitchFamily="34" charset="-122"/>
                <a:cs typeface="Georgia" pitchFamily="34" charset="-120"/>
              </a:rPr>
              <a:t>Key Takeaways</a:t>
            </a:r>
            <a:endParaRPr lang="en-US" sz="1600" dirty="0"/>
          </a:p>
        </p:txBody>
      </p:sp>
      <p:sp>
        <p:nvSpPr>
          <p:cNvPr id="11" name="Shape 9"/>
          <p:cNvSpPr/>
          <p:nvPr/>
        </p:nvSpPr>
        <p:spPr>
          <a:xfrm>
            <a:off x="640080" y="1627632"/>
            <a:ext cx="731520" cy="36576"/>
          </a:xfrm>
          <a:prstGeom prst="rect">
            <a:avLst/>
          </a:prstGeom>
          <a:solidFill>
            <a:srgbClr val="C4603C"/>
          </a:solidFill>
          <a:ln/>
        </p:spPr>
      </p:sp>
      <p:sp>
        <p:nvSpPr>
          <p:cNvPr id="12" name="Text 10"/>
          <p:cNvSpPr/>
          <p:nvPr/>
        </p:nvSpPr>
        <p:spPr>
          <a:xfrm>
            <a:off x="640080" y="1783080"/>
            <a:ext cx="7863840" cy="2286000"/>
          </a:xfrm>
          <a:prstGeom prst="rect">
            <a:avLst/>
          </a:prstGeom>
          <a:noFill/>
          <a:ln/>
        </p:spPr>
        <p:txBody>
          <a:bodyPr wrap="square"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SmartLib demonstrates a user-centred approach to library management, applying HCI principles at every design stage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All eight of Shneiderman's Golden Rules have been systematically integrated into the interface design</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The system prioritises accessibility, ensuring usability for diverse user groups including those with disabilities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Consistent visual design and predictable interaction patterns reduce cognitive load and learning time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Informative feedback mechanisms keep users informed and confident throughout their interactions</a:t>
            </a:r>
            <a:endParaRPr lang="en-US" sz="1300" dirty="0"/>
          </a:p>
        </p:txBody>
      </p:sp>
      <p:sp>
        <p:nvSpPr>
          <p:cNvPr id="13" name="Text 11"/>
          <p:cNvSpPr/>
          <p:nvPr/>
        </p:nvSpPr>
        <p:spPr>
          <a:xfrm>
            <a:off x="640080" y="4160520"/>
            <a:ext cx="4572000" cy="365760"/>
          </a:xfrm>
          <a:prstGeom prst="rect">
            <a:avLst/>
          </a:prstGeom>
          <a:noFill/>
          <a:ln/>
        </p:spPr>
        <p:txBody>
          <a:bodyPr wrap="square" rtlCol="0" anchor="ctr"/>
          <a:lstStyle/>
          <a:p>
            <a:pPr indent="0" marL="0">
              <a:buNone/>
            </a:pPr>
            <a:r>
              <a:rPr lang="en-US" sz="1600" b="1" dirty="0">
                <a:solidFill>
                  <a:srgbClr val="C4603C"/>
                </a:solidFill>
                <a:latin typeface="Georgia" pitchFamily="34" charset="0"/>
                <a:ea typeface="Georgia" pitchFamily="34" charset="-122"/>
                <a:cs typeface="Georgia" pitchFamily="34" charset="-120"/>
              </a:rPr>
              <a:t>Impact of HCI-Driven Design</a:t>
            </a:r>
            <a:endParaRPr lang="en-US" sz="1600" dirty="0"/>
          </a:p>
        </p:txBody>
      </p:sp>
      <p:sp>
        <p:nvSpPr>
          <p:cNvPr id="14" name="Shape 12"/>
          <p:cNvSpPr/>
          <p:nvPr/>
        </p:nvSpPr>
        <p:spPr>
          <a:xfrm>
            <a:off x="640080" y="4553712"/>
            <a:ext cx="731520" cy="36576"/>
          </a:xfrm>
          <a:prstGeom prst="rect">
            <a:avLst/>
          </a:prstGeom>
          <a:solidFill>
            <a:srgbClr val="C4603C"/>
          </a:solidFill>
          <a:ln/>
        </p:spPr>
      </p:sp>
      <p:sp>
        <p:nvSpPr>
          <p:cNvPr id="15" name="Text 13"/>
          <p:cNvSpPr/>
          <p:nvPr/>
        </p:nvSpPr>
        <p:spPr>
          <a:xfrm>
            <a:off x="640080" y="4709160"/>
            <a:ext cx="7863840" cy="1554480"/>
          </a:xfrm>
          <a:prstGeom prst="rect">
            <a:avLst/>
          </a:prstGeom>
          <a:noFill/>
          <a:ln/>
        </p:spPr>
        <p:txBody>
          <a:bodyPr wrap="square" rtlCol="0" anchor="t"/>
          <a:lstStyle/>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Reduced task completion time through intuitive navigation and minimal clicks</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Increased user satisfaction through responsive feedback and error prevention</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Lower training costs due to learnable, consistent interface patterns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4603C"/>
          </a:solidFill>
          <a:ln/>
        </p:spPr>
      </p:sp>
      <p:sp>
        <p:nvSpPr>
          <p:cNvPr id="3" name="Shape 1"/>
          <p:cNvSpPr/>
          <p:nvPr/>
        </p:nvSpPr>
        <p:spPr>
          <a:xfrm>
            <a:off x="0" y="0"/>
            <a:ext cx="12192000" cy="54864"/>
          </a:xfrm>
          <a:prstGeom prst="rect">
            <a:avLst/>
          </a:prstGeom>
          <a:solidFill>
            <a:srgbClr val="C4603C"/>
          </a:solidFill>
          <a:ln/>
        </p:spPr>
      </p:sp>
      <p:sp>
        <p:nvSpPr>
          <p:cNvPr id="4" name="Shape 2"/>
          <p:cNvSpPr/>
          <p:nvPr/>
        </p:nvSpPr>
        <p:spPr>
          <a:xfrm>
            <a:off x="0" y="6537960"/>
            <a:ext cx="12192000" cy="320040"/>
          </a:xfrm>
          <a:prstGeom prst="rect">
            <a:avLst/>
          </a:prstGeom>
          <a:solidFill>
            <a:srgbClr val="2B4066"/>
          </a:solidFill>
          <a:ln/>
        </p:spPr>
      </p:sp>
      <p:sp>
        <p:nvSpPr>
          <p:cNvPr id="5" name="Text 3"/>
          <p:cNvSpPr/>
          <p:nvPr/>
        </p:nvSpPr>
        <p:spPr>
          <a:xfrm>
            <a:off x="8046720" y="6565392"/>
            <a:ext cx="914400" cy="25603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 / 19</a:t>
            </a:r>
            <a:endParaRPr lang="en-US" sz="900" dirty="0"/>
          </a:p>
        </p:txBody>
      </p:sp>
      <p:sp>
        <p:nvSpPr>
          <p:cNvPr id="6" name="Text 4"/>
          <p:cNvSpPr/>
          <p:nvPr/>
        </p:nvSpPr>
        <p:spPr>
          <a:xfrm>
            <a:off x="457200" y="6565392"/>
            <a:ext cx="4572000" cy="256032"/>
          </a:xfrm>
          <a:prstGeom prst="rect">
            <a:avLst/>
          </a:prstGeom>
          <a:noFill/>
          <a:ln/>
        </p:spPr>
        <p:txBody>
          <a:bodyPr wrap="square" rtlCol="0" anchor="ctr"/>
          <a:lstStyle/>
          <a:p>
            <a:pPr algn="l" indent="0" marL="0">
              <a:buNone/>
            </a:pPr>
            <a:r>
              <a:rPr lang="en-US" sz="800" dirty="0">
                <a:solidFill>
                  <a:srgbClr val="AABBCC"/>
                </a:solidFill>
                <a:latin typeface="Calibri" pitchFamily="34" charset="0"/>
                <a:ea typeface="Calibri" pitchFamily="34" charset="-122"/>
                <a:cs typeface="Calibri" pitchFamily="34" charset="-120"/>
              </a:rPr>
              <a:t>SmartLib  |  Human Computer Interaction Assignment</a:t>
            </a:r>
            <a:endParaRPr lang="en-US" sz="800" dirty="0"/>
          </a:p>
        </p:txBody>
      </p:sp>
      <p:sp>
        <p:nvSpPr>
          <p:cNvPr id="7" name="Shape 5"/>
          <p:cNvSpPr/>
          <p:nvPr/>
        </p:nvSpPr>
        <p:spPr>
          <a:xfrm>
            <a:off x="109728" y="54864"/>
            <a:ext cx="9034272" cy="868680"/>
          </a:xfrm>
          <a:prstGeom prst="rect">
            <a:avLst/>
          </a:prstGeom>
          <a:solidFill>
            <a:srgbClr val="2B4066"/>
          </a:solidFill>
          <a:ln/>
        </p:spPr>
      </p:sp>
      <p:sp>
        <p:nvSpPr>
          <p:cNvPr id="8" name="Text 6"/>
          <p:cNvSpPr/>
          <p:nvPr/>
        </p:nvSpPr>
        <p:spPr>
          <a:xfrm>
            <a:off x="502920" y="137160"/>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References</a:t>
            </a:r>
            <a:endParaRPr lang="en-US" sz="2400" dirty="0"/>
          </a:p>
        </p:txBody>
      </p:sp>
      <p:sp>
        <p:nvSpPr>
          <p:cNvPr id="9" name="Shape 7"/>
          <p:cNvSpPr/>
          <p:nvPr/>
        </p:nvSpPr>
        <p:spPr>
          <a:xfrm>
            <a:off x="502920" y="923544"/>
            <a:ext cx="1463040" cy="45720"/>
          </a:xfrm>
          <a:prstGeom prst="rect">
            <a:avLst/>
          </a:prstGeom>
          <a:solidFill>
            <a:srgbClr val="C4603C"/>
          </a:solidFill>
          <a:ln/>
        </p:spPr>
      </p:sp>
      <p:sp>
        <p:nvSpPr>
          <p:cNvPr id="10" name="Shape 8"/>
          <p:cNvSpPr/>
          <p:nvPr/>
        </p:nvSpPr>
        <p:spPr>
          <a:xfrm>
            <a:off x="457200" y="1234440"/>
            <a:ext cx="8229600" cy="621792"/>
          </a:xfrm>
          <a:prstGeom prst="roundRect">
            <a:avLst>
              <a:gd name="adj" fmla="val 5882"/>
            </a:avLst>
          </a:prstGeom>
          <a:solidFill>
            <a:srgbClr val="FFFFFF"/>
          </a:solidFill>
          <a:ln/>
        </p:spPr>
      </p:sp>
      <p:sp>
        <p:nvSpPr>
          <p:cNvPr id="11" name="Shape 9"/>
          <p:cNvSpPr/>
          <p:nvPr/>
        </p:nvSpPr>
        <p:spPr>
          <a:xfrm>
            <a:off x="457200" y="1234440"/>
            <a:ext cx="54864" cy="621792"/>
          </a:xfrm>
          <a:prstGeom prst="rect">
            <a:avLst/>
          </a:prstGeom>
          <a:solidFill>
            <a:srgbClr val="C4603C"/>
          </a:solidFill>
          <a:ln/>
        </p:spPr>
      </p:sp>
      <p:sp>
        <p:nvSpPr>
          <p:cNvPr id="12" name="Shape 10"/>
          <p:cNvSpPr/>
          <p:nvPr/>
        </p:nvSpPr>
        <p:spPr>
          <a:xfrm>
            <a:off x="640080" y="1362456"/>
            <a:ext cx="365760" cy="365760"/>
          </a:xfrm>
          <a:prstGeom prst="ellipse">
            <a:avLst/>
          </a:prstGeom>
          <a:solidFill>
            <a:srgbClr val="2B4066"/>
          </a:solidFill>
          <a:ln/>
        </p:spPr>
      </p:sp>
      <p:sp>
        <p:nvSpPr>
          <p:cNvPr id="13" name="Text 11"/>
          <p:cNvSpPr/>
          <p:nvPr/>
        </p:nvSpPr>
        <p:spPr>
          <a:xfrm>
            <a:off x="640080" y="1362456"/>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14" name="Text 12"/>
          <p:cNvSpPr/>
          <p:nvPr/>
        </p:nvSpPr>
        <p:spPr>
          <a:xfrm>
            <a:off x="1143000" y="1271016"/>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Shneiderman, B., Plaisant, C., Cohen, M., Jacobs, S., Elmqvist, N., &amp; Diakopoulos, N. (2016). Designing the User Interface: Strategies for Effective Human-Computer Interaction (6th ed.). Pearson.</a:t>
            </a:r>
            <a:endParaRPr lang="en-US" sz="1000" dirty="0"/>
          </a:p>
        </p:txBody>
      </p:sp>
      <p:sp>
        <p:nvSpPr>
          <p:cNvPr id="15" name="Shape 13"/>
          <p:cNvSpPr/>
          <p:nvPr/>
        </p:nvSpPr>
        <p:spPr>
          <a:xfrm>
            <a:off x="457200" y="1947672"/>
            <a:ext cx="8229600" cy="621792"/>
          </a:xfrm>
          <a:prstGeom prst="roundRect">
            <a:avLst>
              <a:gd name="adj" fmla="val 5882"/>
            </a:avLst>
          </a:prstGeom>
          <a:solidFill>
            <a:srgbClr val="E8D5CC"/>
          </a:solidFill>
          <a:ln/>
        </p:spPr>
      </p:sp>
      <p:sp>
        <p:nvSpPr>
          <p:cNvPr id="16" name="Shape 14"/>
          <p:cNvSpPr/>
          <p:nvPr/>
        </p:nvSpPr>
        <p:spPr>
          <a:xfrm>
            <a:off x="457200" y="1947672"/>
            <a:ext cx="54864" cy="621792"/>
          </a:xfrm>
          <a:prstGeom prst="rect">
            <a:avLst/>
          </a:prstGeom>
          <a:solidFill>
            <a:srgbClr val="C4603C"/>
          </a:solidFill>
          <a:ln/>
        </p:spPr>
      </p:sp>
      <p:sp>
        <p:nvSpPr>
          <p:cNvPr id="17" name="Shape 15"/>
          <p:cNvSpPr/>
          <p:nvPr/>
        </p:nvSpPr>
        <p:spPr>
          <a:xfrm>
            <a:off x="640080" y="2075688"/>
            <a:ext cx="365760" cy="365760"/>
          </a:xfrm>
          <a:prstGeom prst="ellipse">
            <a:avLst/>
          </a:prstGeom>
          <a:solidFill>
            <a:srgbClr val="2B4066"/>
          </a:solidFill>
          <a:ln/>
        </p:spPr>
      </p:sp>
      <p:sp>
        <p:nvSpPr>
          <p:cNvPr id="18" name="Text 16"/>
          <p:cNvSpPr/>
          <p:nvPr/>
        </p:nvSpPr>
        <p:spPr>
          <a:xfrm>
            <a:off x="640080" y="2075688"/>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a:t>
            </a:r>
            <a:endParaRPr lang="en-US" sz="1100" dirty="0"/>
          </a:p>
        </p:txBody>
      </p:sp>
      <p:sp>
        <p:nvSpPr>
          <p:cNvPr id="19" name="Text 17"/>
          <p:cNvSpPr/>
          <p:nvPr/>
        </p:nvSpPr>
        <p:spPr>
          <a:xfrm>
            <a:off x="1143000" y="1984248"/>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Dix, A., Finlay, J., Abowd, G. D., &amp; Beale, R. (2004). Human-Computer Interaction (3rd ed.). Pearson Education Limited.</a:t>
            </a:r>
            <a:endParaRPr lang="en-US" sz="1000" dirty="0"/>
          </a:p>
        </p:txBody>
      </p:sp>
      <p:sp>
        <p:nvSpPr>
          <p:cNvPr id="20" name="Shape 18"/>
          <p:cNvSpPr/>
          <p:nvPr/>
        </p:nvSpPr>
        <p:spPr>
          <a:xfrm>
            <a:off x="457200" y="2660904"/>
            <a:ext cx="8229600" cy="621792"/>
          </a:xfrm>
          <a:prstGeom prst="roundRect">
            <a:avLst>
              <a:gd name="adj" fmla="val 5882"/>
            </a:avLst>
          </a:prstGeom>
          <a:solidFill>
            <a:srgbClr val="FFFFFF"/>
          </a:solidFill>
          <a:ln/>
        </p:spPr>
      </p:sp>
      <p:sp>
        <p:nvSpPr>
          <p:cNvPr id="21" name="Shape 19"/>
          <p:cNvSpPr/>
          <p:nvPr/>
        </p:nvSpPr>
        <p:spPr>
          <a:xfrm>
            <a:off x="457200" y="2660904"/>
            <a:ext cx="54864" cy="621792"/>
          </a:xfrm>
          <a:prstGeom prst="rect">
            <a:avLst/>
          </a:prstGeom>
          <a:solidFill>
            <a:srgbClr val="C4603C"/>
          </a:solidFill>
          <a:ln/>
        </p:spPr>
      </p:sp>
      <p:sp>
        <p:nvSpPr>
          <p:cNvPr id="22" name="Shape 20"/>
          <p:cNvSpPr/>
          <p:nvPr/>
        </p:nvSpPr>
        <p:spPr>
          <a:xfrm>
            <a:off x="640080" y="2788920"/>
            <a:ext cx="365760" cy="365760"/>
          </a:xfrm>
          <a:prstGeom prst="ellipse">
            <a:avLst/>
          </a:prstGeom>
          <a:solidFill>
            <a:srgbClr val="2B4066"/>
          </a:solidFill>
          <a:ln/>
        </p:spPr>
      </p:sp>
      <p:sp>
        <p:nvSpPr>
          <p:cNvPr id="23" name="Text 21"/>
          <p:cNvSpPr/>
          <p:nvPr/>
        </p:nvSpPr>
        <p:spPr>
          <a:xfrm>
            <a:off x="640080" y="2788920"/>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3</a:t>
            </a:r>
            <a:endParaRPr lang="en-US" sz="1100" dirty="0"/>
          </a:p>
        </p:txBody>
      </p:sp>
      <p:sp>
        <p:nvSpPr>
          <p:cNvPr id="24" name="Text 22"/>
          <p:cNvSpPr/>
          <p:nvPr/>
        </p:nvSpPr>
        <p:spPr>
          <a:xfrm>
            <a:off x="1143000" y="2697480"/>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Norman, D. A. (2013). The Design of Everyday Things: Revised and Expanded Edition. Basic Books.</a:t>
            </a:r>
            <a:endParaRPr lang="en-US" sz="1000" dirty="0"/>
          </a:p>
        </p:txBody>
      </p:sp>
      <p:sp>
        <p:nvSpPr>
          <p:cNvPr id="25" name="Shape 23"/>
          <p:cNvSpPr/>
          <p:nvPr/>
        </p:nvSpPr>
        <p:spPr>
          <a:xfrm>
            <a:off x="457200" y="3374136"/>
            <a:ext cx="8229600" cy="621792"/>
          </a:xfrm>
          <a:prstGeom prst="roundRect">
            <a:avLst>
              <a:gd name="adj" fmla="val 5882"/>
            </a:avLst>
          </a:prstGeom>
          <a:solidFill>
            <a:srgbClr val="E8D5CC"/>
          </a:solidFill>
          <a:ln/>
        </p:spPr>
      </p:sp>
      <p:sp>
        <p:nvSpPr>
          <p:cNvPr id="26" name="Shape 24"/>
          <p:cNvSpPr/>
          <p:nvPr/>
        </p:nvSpPr>
        <p:spPr>
          <a:xfrm>
            <a:off x="457200" y="3374136"/>
            <a:ext cx="54864" cy="621792"/>
          </a:xfrm>
          <a:prstGeom prst="rect">
            <a:avLst/>
          </a:prstGeom>
          <a:solidFill>
            <a:srgbClr val="C4603C"/>
          </a:solidFill>
          <a:ln/>
        </p:spPr>
      </p:sp>
      <p:sp>
        <p:nvSpPr>
          <p:cNvPr id="27" name="Shape 25"/>
          <p:cNvSpPr/>
          <p:nvPr/>
        </p:nvSpPr>
        <p:spPr>
          <a:xfrm>
            <a:off x="640080" y="3502152"/>
            <a:ext cx="365760" cy="365760"/>
          </a:xfrm>
          <a:prstGeom prst="ellipse">
            <a:avLst/>
          </a:prstGeom>
          <a:solidFill>
            <a:srgbClr val="2B4066"/>
          </a:solidFill>
          <a:ln/>
        </p:spPr>
      </p:sp>
      <p:sp>
        <p:nvSpPr>
          <p:cNvPr id="28" name="Text 26"/>
          <p:cNvSpPr/>
          <p:nvPr/>
        </p:nvSpPr>
        <p:spPr>
          <a:xfrm>
            <a:off x="640080" y="3502152"/>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4</a:t>
            </a:r>
            <a:endParaRPr lang="en-US" sz="1100" dirty="0"/>
          </a:p>
        </p:txBody>
      </p:sp>
      <p:sp>
        <p:nvSpPr>
          <p:cNvPr id="29" name="Text 27"/>
          <p:cNvSpPr/>
          <p:nvPr/>
        </p:nvSpPr>
        <p:spPr>
          <a:xfrm>
            <a:off x="1143000" y="3410712"/>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Nielsen, J. (1994). Usability Engineering. Morgan Kaufmann.</a:t>
            </a:r>
            <a:endParaRPr lang="en-US" sz="1000" dirty="0"/>
          </a:p>
        </p:txBody>
      </p:sp>
      <p:sp>
        <p:nvSpPr>
          <p:cNvPr id="30" name="Shape 28"/>
          <p:cNvSpPr/>
          <p:nvPr/>
        </p:nvSpPr>
        <p:spPr>
          <a:xfrm>
            <a:off x="457200" y="4087368"/>
            <a:ext cx="8229600" cy="621792"/>
          </a:xfrm>
          <a:prstGeom prst="roundRect">
            <a:avLst>
              <a:gd name="adj" fmla="val 5882"/>
            </a:avLst>
          </a:prstGeom>
          <a:solidFill>
            <a:srgbClr val="FFFFFF"/>
          </a:solidFill>
          <a:ln/>
        </p:spPr>
      </p:sp>
      <p:sp>
        <p:nvSpPr>
          <p:cNvPr id="31" name="Shape 29"/>
          <p:cNvSpPr/>
          <p:nvPr/>
        </p:nvSpPr>
        <p:spPr>
          <a:xfrm>
            <a:off x="457200" y="4087368"/>
            <a:ext cx="54864" cy="621792"/>
          </a:xfrm>
          <a:prstGeom prst="rect">
            <a:avLst/>
          </a:prstGeom>
          <a:solidFill>
            <a:srgbClr val="C4603C"/>
          </a:solidFill>
          <a:ln/>
        </p:spPr>
      </p:sp>
      <p:sp>
        <p:nvSpPr>
          <p:cNvPr id="32" name="Shape 30"/>
          <p:cNvSpPr/>
          <p:nvPr/>
        </p:nvSpPr>
        <p:spPr>
          <a:xfrm>
            <a:off x="640080" y="4215384"/>
            <a:ext cx="365760" cy="365760"/>
          </a:xfrm>
          <a:prstGeom prst="ellipse">
            <a:avLst/>
          </a:prstGeom>
          <a:solidFill>
            <a:srgbClr val="2B4066"/>
          </a:solidFill>
          <a:ln/>
        </p:spPr>
      </p:sp>
      <p:sp>
        <p:nvSpPr>
          <p:cNvPr id="33" name="Text 31"/>
          <p:cNvSpPr/>
          <p:nvPr/>
        </p:nvSpPr>
        <p:spPr>
          <a:xfrm>
            <a:off x="640080" y="4215384"/>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5</a:t>
            </a:r>
            <a:endParaRPr lang="en-US" sz="1100" dirty="0"/>
          </a:p>
        </p:txBody>
      </p:sp>
      <p:sp>
        <p:nvSpPr>
          <p:cNvPr id="34" name="Text 32"/>
          <p:cNvSpPr/>
          <p:nvPr/>
        </p:nvSpPr>
        <p:spPr>
          <a:xfrm>
            <a:off x="1143000" y="4123944"/>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Nielsen, J. (2000). Designing Web Usability: The Practice of Simplicity. New Riders Publishing.</a:t>
            </a:r>
            <a:endParaRPr lang="en-US" sz="1000" dirty="0"/>
          </a:p>
        </p:txBody>
      </p:sp>
      <p:sp>
        <p:nvSpPr>
          <p:cNvPr id="35" name="Shape 33"/>
          <p:cNvSpPr/>
          <p:nvPr/>
        </p:nvSpPr>
        <p:spPr>
          <a:xfrm>
            <a:off x="457200" y="4800600"/>
            <a:ext cx="8229600" cy="621792"/>
          </a:xfrm>
          <a:prstGeom prst="roundRect">
            <a:avLst>
              <a:gd name="adj" fmla="val 5882"/>
            </a:avLst>
          </a:prstGeom>
          <a:solidFill>
            <a:srgbClr val="E8D5CC"/>
          </a:solidFill>
          <a:ln/>
        </p:spPr>
      </p:sp>
      <p:sp>
        <p:nvSpPr>
          <p:cNvPr id="36" name="Shape 34"/>
          <p:cNvSpPr/>
          <p:nvPr/>
        </p:nvSpPr>
        <p:spPr>
          <a:xfrm>
            <a:off x="457200" y="4800600"/>
            <a:ext cx="54864" cy="621792"/>
          </a:xfrm>
          <a:prstGeom prst="rect">
            <a:avLst/>
          </a:prstGeom>
          <a:solidFill>
            <a:srgbClr val="C4603C"/>
          </a:solidFill>
          <a:ln/>
        </p:spPr>
      </p:sp>
      <p:sp>
        <p:nvSpPr>
          <p:cNvPr id="37" name="Shape 35"/>
          <p:cNvSpPr/>
          <p:nvPr/>
        </p:nvSpPr>
        <p:spPr>
          <a:xfrm>
            <a:off x="640080" y="4928616"/>
            <a:ext cx="365760" cy="365760"/>
          </a:xfrm>
          <a:prstGeom prst="ellipse">
            <a:avLst/>
          </a:prstGeom>
          <a:solidFill>
            <a:srgbClr val="2B4066"/>
          </a:solidFill>
          <a:ln/>
        </p:spPr>
      </p:sp>
      <p:sp>
        <p:nvSpPr>
          <p:cNvPr id="38" name="Text 36"/>
          <p:cNvSpPr/>
          <p:nvPr/>
        </p:nvSpPr>
        <p:spPr>
          <a:xfrm>
            <a:off x="640080" y="4928616"/>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6</a:t>
            </a:r>
            <a:endParaRPr lang="en-US" sz="1100" dirty="0"/>
          </a:p>
        </p:txBody>
      </p:sp>
      <p:sp>
        <p:nvSpPr>
          <p:cNvPr id="39" name="Text 37"/>
          <p:cNvSpPr/>
          <p:nvPr/>
        </p:nvSpPr>
        <p:spPr>
          <a:xfrm>
            <a:off x="1143000" y="4837176"/>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W3C. (2018). Web Content Accessibility Guidelines (WCAG) 2.1. World Wide Web Consortium. https://www.w3.org/TR/WCAG21/</a:t>
            </a:r>
            <a:endParaRPr lang="en-US" sz="1000" dirty="0"/>
          </a:p>
        </p:txBody>
      </p:sp>
      <p:sp>
        <p:nvSpPr>
          <p:cNvPr id="40" name="Shape 38"/>
          <p:cNvSpPr/>
          <p:nvPr/>
        </p:nvSpPr>
        <p:spPr>
          <a:xfrm>
            <a:off x="457200" y="5513832"/>
            <a:ext cx="8229600" cy="621792"/>
          </a:xfrm>
          <a:prstGeom prst="roundRect">
            <a:avLst>
              <a:gd name="adj" fmla="val 5882"/>
            </a:avLst>
          </a:prstGeom>
          <a:solidFill>
            <a:srgbClr val="FFFFFF"/>
          </a:solidFill>
          <a:ln/>
        </p:spPr>
      </p:sp>
      <p:sp>
        <p:nvSpPr>
          <p:cNvPr id="41" name="Shape 39"/>
          <p:cNvSpPr/>
          <p:nvPr/>
        </p:nvSpPr>
        <p:spPr>
          <a:xfrm>
            <a:off x="457200" y="5513832"/>
            <a:ext cx="54864" cy="621792"/>
          </a:xfrm>
          <a:prstGeom prst="rect">
            <a:avLst/>
          </a:prstGeom>
          <a:solidFill>
            <a:srgbClr val="C4603C"/>
          </a:solidFill>
          <a:ln/>
        </p:spPr>
      </p:sp>
      <p:sp>
        <p:nvSpPr>
          <p:cNvPr id="42" name="Shape 40"/>
          <p:cNvSpPr/>
          <p:nvPr/>
        </p:nvSpPr>
        <p:spPr>
          <a:xfrm>
            <a:off x="640080" y="5641848"/>
            <a:ext cx="365760" cy="365760"/>
          </a:xfrm>
          <a:prstGeom prst="ellipse">
            <a:avLst/>
          </a:prstGeom>
          <a:solidFill>
            <a:srgbClr val="2B4066"/>
          </a:solidFill>
          <a:ln/>
        </p:spPr>
      </p:sp>
      <p:sp>
        <p:nvSpPr>
          <p:cNvPr id="43" name="Text 41"/>
          <p:cNvSpPr/>
          <p:nvPr/>
        </p:nvSpPr>
        <p:spPr>
          <a:xfrm>
            <a:off x="640080" y="5641848"/>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7</a:t>
            </a:r>
            <a:endParaRPr lang="en-US" sz="1100" dirty="0"/>
          </a:p>
        </p:txBody>
      </p:sp>
      <p:sp>
        <p:nvSpPr>
          <p:cNvPr id="44" name="Text 42"/>
          <p:cNvSpPr/>
          <p:nvPr/>
        </p:nvSpPr>
        <p:spPr>
          <a:xfrm>
            <a:off x="1143000" y="5550408"/>
            <a:ext cx="7315200" cy="548640"/>
          </a:xfrm>
          <a:prstGeom prst="rect">
            <a:avLst/>
          </a:prstGeom>
          <a:noFill/>
          <a:ln/>
        </p:spPr>
        <p:txBody>
          <a:bodyPr wrap="square" rtlCol="0" anchor="ctr"/>
          <a:lstStyle/>
          <a:p>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Preece, J., Rogers, Y., &amp; Sharp, H. (2015). Interaction Design: Beyond Human-Computer Interaction (4th ed.). John Wiley &amp; Sons.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B4066"/>
        </a:solidFill>
      </p:bgPr>
    </p:bg>
    <p:spTree>
      <p:nvGrpSpPr>
        <p:cNvPr id="1" name=""/>
        <p:cNvGrpSpPr/>
        <p:nvPr/>
      </p:nvGrpSpPr>
      <p:grpSpPr>
        <a:xfrm>
          <a:off x="0" y="0"/>
          <a:ext cx="0" cy="0"/>
          <a:chOff x="0" y="0"/>
          <a:chExt cx="0" cy="0"/>
        </a:xfrm>
      </p:grpSpPr>
      <p:sp>
        <p:nvSpPr>
          <p:cNvPr id="2" name="Shape 0"/>
          <p:cNvSpPr/>
          <p:nvPr/>
        </p:nvSpPr>
        <p:spPr>
          <a:xfrm>
            <a:off x="0" y="3017520"/>
            <a:ext cx="12192000" cy="73152"/>
          </a:xfrm>
          <a:prstGeom prst="rect">
            <a:avLst/>
          </a:prstGeom>
          <a:solidFill>
            <a:srgbClr val="C4603C"/>
          </a:solidFill>
          <a:ln/>
        </p:spPr>
      </p:sp>
      <p:sp>
        <p:nvSpPr>
          <p:cNvPr id="3" name="Text 1"/>
          <p:cNvSpPr/>
          <p:nvPr/>
        </p:nvSpPr>
        <p:spPr>
          <a:xfrm>
            <a:off x="0" y="1371600"/>
            <a:ext cx="12192000" cy="91440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0" y="3474720"/>
            <a:ext cx="12192000" cy="640080"/>
          </a:xfrm>
          <a:prstGeom prst="rect">
            <a:avLst/>
          </a:prstGeom>
          <a:noFill/>
          <a:ln/>
        </p:spPr>
        <p:txBody>
          <a:bodyPr wrap="square" rtlCol="0" anchor="ctr"/>
          <a:lstStyle/>
          <a:p>
            <a:pPr algn="ctr" indent="0" marL="0">
              <a:buNone/>
            </a:pPr>
            <a:r>
              <a:rPr lang="en-US" sz="2000" dirty="0">
                <a:solidFill>
                  <a:srgbClr val="E8D5CC"/>
                </a:solidFill>
                <a:latin typeface="Calibri" pitchFamily="34" charset="0"/>
                <a:ea typeface="Calibri" pitchFamily="34" charset="-122"/>
                <a:cs typeface="Calibri" pitchFamily="34" charset="-120"/>
              </a:rPr>
              <a:t>Questions &amp; Discussion</a:t>
            </a:r>
            <a:endParaRPr lang="en-US" sz="2000" dirty="0"/>
          </a:p>
        </p:txBody>
      </p:sp>
      <p:sp>
        <p:nvSpPr>
          <p:cNvPr id="5" name="Text 3"/>
          <p:cNvSpPr/>
          <p:nvPr/>
        </p:nvSpPr>
        <p:spPr>
          <a:xfrm>
            <a:off x="457200" y="4297680"/>
            <a:ext cx="8229600" cy="640080"/>
          </a:xfrm>
          <a:prstGeom prst="rect">
            <a:avLst/>
          </a:prstGeom>
          <a:noFill/>
          <a:ln/>
        </p:spPr>
        <p:txBody>
          <a:bodyPr wrap="square" rtlCol="0" anchor="ctr"/>
          <a:lstStyle/>
          <a:p>
            <a:pPr algn="ctr" indent="0" marL="0">
              <a:lnSpc>
                <a:spcPct val="140000"/>
              </a:lnSpc>
              <a:buNone/>
            </a:pPr>
            <a:r>
              <a:rPr lang="en-US" sz="1100" dirty="0">
                <a:solidFill>
                  <a:srgbClr val="7A8FAA"/>
                </a:solidFill>
                <a:latin typeface="Calibri" pitchFamily="34" charset="0"/>
                <a:ea typeface="Calibri" pitchFamily="34" charset="-122"/>
                <a:cs typeface="Calibri" pitchFamily="34" charset="-120"/>
              </a:rPr>
              <a:t>Al-Aqmar Bin Qaid-E Johar  |  Hashem Maged Ali Alhasani  |  Sharjeel Muhammad</a:t>
            </a:r>
            <a:endParaRPr lang="en-US" sz="1100" dirty="0"/>
          </a:p>
          <a:p>
            <a:pPr algn="ctr" indent="0" marL="0">
              <a:lnSpc>
                <a:spcPct val="140000"/>
              </a:lnSpc>
              <a:buNone/>
            </a:pPr>
            <a:r>
              <a:rPr lang="en-US" sz="1100" dirty="0">
                <a:solidFill>
                  <a:srgbClr val="7A8FAA"/>
                </a:solidFill>
                <a:latin typeface="Calibri" pitchFamily="34" charset="0"/>
                <a:ea typeface="Calibri" pitchFamily="34" charset="-122"/>
                <a:cs typeface="Calibri" pitchFamily="34" charset="-120"/>
              </a:rPr>
              <a:t>Abdullah Saleh Abdullah  |  Ateegalla Fadlalseed Ateegalla Ahmed  |  Ibrahim Muhammad</a:t>
            </a:r>
            <a:endParaRPr lang="en-US" sz="1100" dirty="0"/>
          </a:p>
        </p:txBody>
      </p:sp>
      <p:sp>
        <p:nvSpPr>
          <p:cNvPr id="6" name="Text 4"/>
          <p:cNvSpPr/>
          <p:nvPr/>
        </p:nvSpPr>
        <p:spPr>
          <a:xfrm>
            <a:off x="0" y="5120640"/>
            <a:ext cx="12192000" cy="365760"/>
          </a:xfrm>
          <a:prstGeom prst="rect">
            <a:avLst/>
          </a:prstGeom>
          <a:noFill/>
          <a:ln/>
        </p:spPr>
        <p:txBody>
          <a:bodyPr wrap="square" rtlCol="0" anchor="ctr"/>
          <a:lstStyle/>
          <a:p>
            <a:pPr algn="ctr" indent="0" marL="0">
              <a:buNone/>
            </a:pPr>
            <a:r>
              <a:rPr lang="en-US" sz="1200" dirty="0">
                <a:solidFill>
                  <a:srgbClr val="7A8FAA"/>
                </a:solidFill>
                <a:latin typeface="Calibri" pitchFamily="34" charset="0"/>
                <a:ea typeface="Calibri" pitchFamily="34" charset="-122"/>
                <a:cs typeface="Calibri" pitchFamily="34" charset="-120"/>
              </a:rPr>
              <a:t>SmartLib — Smart University Library Management System</a:t>
            </a:r>
            <a:endParaRPr lang="en-US" sz="1200" dirty="0"/>
          </a:p>
        </p:txBody>
      </p:sp>
      <p:sp>
        <p:nvSpPr>
          <p:cNvPr id="7" name="Text 5"/>
          <p:cNvSpPr/>
          <p:nvPr/>
        </p:nvSpPr>
        <p:spPr>
          <a:xfrm>
            <a:off x="0" y="5486400"/>
            <a:ext cx="12192000" cy="320040"/>
          </a:xfrm>
          <a:prstGeom prst="rect">
            <a:avLst/>
          </a:prstGeom>
          <a:noFill/>
          <a:ln/>
        </p:spPr>
        <p:txBody>
          <a:bodyPr wrap="square" rtlCol="0" anchor="ctr"/>
          <a:lstStyle/>
          <a:p>
            <a:pPr algn="ctr" indent="0" marL="0">
              <a:buNone/>
            </a:pPr>
            <a:r>
              <a:rPr lang="en-US" sz="1000" dirty="0">
                <a:solidFill>
                  <a:srgbClr val="5A6B7E"/>
                </a:solidFill>
                <a:latin typeface="Calibri" pitchFamily="34" charset="0"/>
                <a:ea typeface="Calibri" pitchFamily="34" charset="-122"/>
                <a:cs typeface="Calibri" pitchFamily="34" charset="-120"/>
              </a:rPr>
              <a:t>Human Computer Interaction  |  Ms. Ajeerah  |  2026</a:t>
            </a:r>
            <a:endParaRPr lang="en-US" sz="1000" dirty="0"/>
          </a:p>
        </p:txBody>
      </p:sp>
      <p:sp>
        <p:nvSpPr>
          <p:cNvPr id="8" name="Shape 6"/>
          <p:cNvSpPr/>
          <p:nvPr/>
        </p:nvSpPr>
        <p:spPr>
          <a:xfrm>
            <a:off x="3200400" y="6126480"/>
            <a:ext cx="2743200" cy="54864"/>
          </a:xfrm>
          <a:prstGeom prst="rect">
            <a:avLst/>
          </a:prstGeom>
          <a:solidFill>
            <a:srgbClr val="C4603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SmartLib - Human Computer Interaction Assignment</dc:title>
  <dc:subject>PptxGenJS Presentation</dc:subject>
  <dc:creator>SmartLib HCI Team</dc:creator>
  <cp:lastModifiedBy>SmartLib HCI Team</cp:lastModifiedBy>
  <cp:revision>1</cp:revision>
  <dcterms:created xsi:type="dcterms:W3CDTF">2026-05-22T08:13:18Z</dcterms:created>
  <dcterms:modified xsi:type="dcterms:W3CDTF">2026-05-22T08:13:18Z</dcterms:modified>
</cp:coreProperties>
</file>