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73152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3913632" y="5943600"/>
            <a:ext cx="5230368" cy="73152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SmartLib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28016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14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University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06240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Engineering Assignment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06240" y="2468880"/>
            <a:ext cx="91440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2788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Members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31089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Al-Aqmar Bin Qaid-E Johar (1121250326560)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0" y="33832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Hashem Maged Ali Alhasani (0121250326706)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0" y="365760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Sharjeel Muhammad (0121250326923)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0" y="39319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Abdullah Saleh Abdullah (0121250326783)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0" y="420624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Ateegalla Fadlalseed Ateegalla Ahmed (0121250326810)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0" y="4480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Ibrahim Muhammad (0121250326708)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0624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Engineering Assignment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is a comprehensive web-based library management system designed for university environments. It supports three distinct user roles — Student, Librarian, and Administrator — each with tailored interfaces and capabilities.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155448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06040"/>
            <a:ext cx="1554480" cy="54864"/>
          </a:xfrm>
          <a:prstGeom prst="rect">
            <a:avLst>
              <a:gd name="adj" fmla="val 50000"/>
            </a:avLst>
          </a:prstGeom>
          <a:solidFill>
            <a:srgbClr val="C4603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260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Catalog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2606040"/>
            <a:ext cx="155448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94560" y="2606040"/>
            <a:ext cx="1554480" cy="54864"/>
          </a:xfrm>
          <a:prstGeom prst="rect">
            <a:avLst>
              <a:gd name="adj" fmla="val 50000"/>
            </a:avLst>
          </a:prstGeom>
          <a:solidFill>
            <a:srgbClr val="C4603C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29260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&amp;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31920" y="2606040"/>
            <a:ext cx="155448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2606040"/>
            <a:ext cx="1554480" cy="54864"/>
          </a:xfrm>
          <a:prstGeom prst="rect">
            <a:avLst>
              <a:gd name="adj" fmla="val 50000"/>
            </a:avLst>
          </a:prstGeom>
          <a:solidFill>
            <a:srgbClr val="C4603C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29260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2606040"/>
            <a:ext cx="155448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2606040"/>
            <a:ext cx="1554480" cy="54864"/>
          </a:xfrm>
          <a:prstGeom prst="rect">
            <a:avLst>
              <a:gd name="adj" fmla="val 50000"/>
            </a:avLst>
          </a:prstGeom>
          <a:solidFill>
            <a:srgbClr val="C4603C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29260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06640" y="2606040"/>
            <a:ext cx="155448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06640" y="2606040"/>
            <a:ext cx="1554480" cy="54864"/>
          </a:xfrm>
          <a:prstGeom prst="rect">
            <a:avLst>
              <a:gd name="adj" fmla="val 50000"/>
            </a:avLst>
          </a:prstGeom>
          <a:solidFill>
            <a:srgbClr val="C4603C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29260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User Roles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493776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C4603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937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0" y="493776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2B4066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4937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60720" y="493776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1A1A2E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0" y="4937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Engineering Assignment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80160"/>
            <a:ext cx="7863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library systems rely heavily on manual, paper-based processes that are slow and error-prone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cannot easily search the catalog or reserve books remotely — they must visit the library in person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Librarians spend disproportionate time on repetitive paperwork instead of assisting patrons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tracking of book availability leads to wasted trips and frustrated users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calculation and collection is inconsistent, with no automated record-keeping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lacks consolidated reporting to make informed decisions about library resources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5303520"/>
            <a:ext cx="7863840" cy="777240"/>
          </a:xfrm>
          <a:prstGeom prst="rect">
            <a:avLst>
              <a:gd name="adj" fmla="val 5882"/>
            </a:avLst>
          </a:prstGeom>
          <a:solidFill>
            <a:srgbClr val="E8D5C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5303520"/>
            <a:ext cx="73152" cy="77724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34924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"Universities need a modern, integrated solution that brings their library services into the digital age."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Engineering Assignment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25880"/>
            <a:ext cx="411480" cy="411480"/>
          </a:xfrm>
          <a:prstGeom prst="ellipse">
            <a:avLst/>
          </a:prstGeom>
          <a:solidFill>
            <a:srgbClr val="C4603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12801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 Library Operations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16276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workflows with streamlined digital processes for issuing, returning, and managing books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313432"/>
            <a:ext cx="411480" cy="411480"/>
          </a:xfrm>
          <a:prstGeom prst="ellipse">
            <a:avLst/>
          </a:prstGeom>
          <a:solidFill>
            <a:srgbClr val="C460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313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22677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Enable Student Self-Service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261518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students to search, reserve, and manage their borrowings independently from any device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300984"/>
            <a:ext cx="411480" cy="411480"/>
          </a:xfrm>
          <a:prstGeom prst="ellipse">
            <a:avLst/>
          </a:prstGeom>
          <a:solidFill>
            <a:srgbClr val="C4603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009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325526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Availability Tracking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360273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instant, accurate information about book availability and location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88536"/>
            <a:ext cx="411480" cy="411480"/>
          </a:xfrm>
          <a:prstGeom prst="ellipse">
            <a:avLst/>
          </a:prstGeom>
          <a:solidFill>
            <a:srgbClr val="C4603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288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424281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 Fine Management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3000" y="459028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overdue fines automatically and maintain transparent payment records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276088"/>
            <a:ext cx="411480" cy="411480"/>
          </a:xfrm>
          <a:prstGeom prst="ellipse">
            <a:avLst/>
          </a:prstGeom>
          <a:solidFill>
            <a:srgbClr val="C4603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276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" y="52303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Reporting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3000" y="5577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reports on circulation, inventory, and user activity for informed decision-making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Engineering Assignment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1417320"/>
            <a:ext cx="6400800" cy="868680"/>
          </a:xfrm>
          <a:prstGeom prst="roundRect">
            <a:avLst>
              <a:gd name="adj" fmla="val 6316"/>
            </a:avLst>
          </a:prstGeom>
          <a:solidFill>
            <a:srgbClr val="C4603C"/>
          </a:solidFill>
          <a:ln/>
          <a:effectLst>
            <a:outerShdw sx="100000" sy="100000" kx="0" ky="0" algn="bl" rotWithShape="0" blurRad="38100" dist="25400" dir="16200000">
              <a:srgbClr val="999999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149047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185623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Responsive UI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2514600"/>
            <a:ext cx="6400800" cy="868680"/>
          </a:xfrm>
          <a:prstGeom prst="roundRect">
            <a:avLst>
              <a:gd name="adj" fmla="val 6316"/>
            </a:avLst>
          </a:prstGeom>
          <a:solidFill>
            <a:srgbClr val="2B4066"/>
          </a:solidFill>
          <a:ln/>
          <a:effectLst>
            <a:outerShdw sx="100000" sy="100000" kx="0" ky="0" algn="bl" rotWithShape="0" blurRad="38100" dist="25400" dir="16200000">
              <a:srgbClr val="999999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54480" y="258775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9535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 / SPA Logic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3611880"/>
            <a:ext cx="6400800" cy="868680"/>
          </a:xfrm>
          <a:prstGeom prst="roundRect">
            <a:avLst>
              <a:gd name="adj" fmla="val 6316"/>
            </a:avLst>
          </a:prstGeom>
          <a:solidFill>
            <a:srgbClr val="4A6A8A"/>
          </a:solidFill>
          <a:ln/>
          <a:effectLst>
            <a:outerShdw sx="100000" sy="100000" kx="0" ky="0" algn="bl" rotWithShape="0" blurRad="38100" dist="25400" dir="16200000">
              <a:srgbClr val="999999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368503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Access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05079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Serialization / CRUD Operations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4709160"/>
            <a:ext cx="6400800" cy="868680"/>
          </a:xfrm>
          <a:prstGeom prst="roundRect">
            <a:avLst>
              <a:gd name="adj" fmla="val 6316"/>
            </a:avLst>
          </a:prstGeom>
          <a:solidFill>
            <a:srgbClr val="1A1A2E"/>
          </a:solidFill>
          <a:ln/>
          <a:effectLst>
            <a:outerShdw sx="100000" sy="100000" kx="0" ky="0" algn="bl" rotWithShape="0" blurRad="38100" dist="25400" dir="16200000">
              <a:srgbClr val="999999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554480" y="478231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Persistence 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514807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/ Browser Storage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2286000"/>
            <a:ext cx="274320" cy="2286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23" name="Shape 21"/>
          <p:cNvSpPr/>
          <p:nvPr/>
        </p:nvSpPr>
        <p:spPr>
          <a:xfrm>
            <a:off x="4434840" y="3383280"/>
            <a:ext cx="274320" cy="2286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24" name="Shape 22"/>
          <p:cNvSpPr/>
          <p:nvPr/>
        </p:nvSpPr>
        <p:spPr>
          <a:xfrm>
            <a:off x="4434840" y="4480560"/>
            <a:ext cx="274320" cy="2286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20116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4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0" y="34747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B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Engineering Assignment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— Student Portal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7863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 displaying active borrowings, pending reservations, and due-date reminders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book catalog with search by title, author, ISBN, and category filters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book reservation with automatic expiry management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history with status tracking (active, returned, overdue)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tracking with detailed breakdown and simulated payment processing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 with editable personal information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5577840"/>
            <a:ext cx="7863840" cy="548640"/>
          </a:xfrm>
          <a:prstGeom prst="rect">
            <a:avLst>
              <a:gd name="adj" fmla="val 8333"/>
            </a:avLst>
          </a:prstGeom>
          <a:solidFill>
            <a:srgbClr val="2B406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577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simplicity — students can manage their entire library experience from one interface.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Engineering Assignment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— Librarian Portal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7863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book catalog management — add, edit, update, and remove books (CRUD)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books to students with automatic due-date assignment based on system settings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book returns with automatic overdue detection and fine calculation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manage all active borrowings, reservations, and pending returns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operational reports: most borrowed books, overdue items, daily transactions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Quick-search students by name or ID to view their borrowing history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Engineering Assignment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— Admin Portal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7863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— create, update, and deactivate student and librarian accounts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 — set borrowing limits, loan durations, and fine rates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system reports covering all users, books, and transactions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utilities including system reset and data export capabilities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monitoring across all user roles for oversight and auditing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Hierarchy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2578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257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52578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2B4066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5257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12080" y="52578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C4603C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5257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5413248"/>
            <a:ext cx="27432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Shape 17"/>
          <p:cNvSpPr/>
          <p:nvPr/>
        </p:nvSpPr>
        <p:spPr>
          <a:xfrm>
            <a:off x="4937760" y="5413248"/>
            <a:ext cx="274320" cy="54864"/>
          </a:xfrm>
          <a:prstGeom prst="rect">
            <a:avLst/>
          </a:prstGeom>
          <a:solidFill>
            <a:srgbClr val="6B728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Engineering Assignment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17320"/>
            <a:ext cx="2468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417320"/>
            <a:ext cx="2468880" cy="457200"/>
          </a:xfrm>
          <a:prstGeom prst="rect">
            <a:avLst>
              <a:gd name="adj" fmla="val 12000"/>
            </a:avLst>
          </a:prstGeom>
          <a:solidFill>
            <a:srgbClr val="2B406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737360"/>
            <a:ext cx="2468880" cy="13716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19659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email, role,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password, status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417320"/>
            <a:ext cx="2468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417320"/>
            <a:ext cx="2468880" cy="457200"/>
          </a:xfrm>
          <a:prstGeom prst="rect">
            <a:avLst>
              <a:gd name="adj" fmla="val 12000"/>
            </a:avLst>
          </a:prstGeom>
          <a:solidFill>
            <a:srgbClr val="2B4066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1737360"/>
            <a:ext cx="2468880" cy="13716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19659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title, author, ISBN,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copies, available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1417320"/>
            <a:ext cx="2468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1417320"/>
            <a:ext cx="2468880" cy="457200"/>
          </a:xfrm>
          <a:prstGeom prst="rect">
            <a:avLst>
              <a:gd name="adj" fmla="val 12000"/>
            </a:avLst>
          </a:prstGeom>
          <a:solidFill>
            <a:srgbClr val="2B4066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1737360"/>
            <a:ext cx="2468880" cy="13716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Borrowings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0760" y="19659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userId, bookId,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issueDate, dueDate, status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2468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520440"/>
            <a:ext cx="2468880" cy="457200"/>
          </a:xfrm>
          <a:prstGeom prst="rect">
            <a:avLst>
              <a:gd name="adj" fmla="val 12000"/>
            </a:avLst>
          </a:prstGeom>
          <a:solidFill>
            <a:srgbClr val="C4603C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840480"/>
            <a:ext cx="2468880" cy="13716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4069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userId, bookId,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reserveDate, expiryDate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0" y="3520440"/>
            <a:ext cx="2468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520440"/>
            <a:ext cx="2468880" cy="457200"/>
          </a:xfrm>
          <a:prstGeom prst="rect">
            <a:avLst>
              <a:gd name="adj" fmla="val 12000"/>
            </a:avLst>
          </a:prstGeom>
          <a:solidFill>
            <a:srgbClr val="C4603C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0" y="3840480"/>
            <a:ext cx="2468880" cy="13716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37560" y="4069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userId, borrowingId,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status, paidDate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43600" y="3520440"/>
            <a:ext cx="2468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43600" y="3520440"/>
            <a:ext cx="2468880" cy="457200"/>
          </a:xfrm>
          <a:prstGeom prst="rect">
            <a:avLst>
              <a:gd name="adj" fmla="val 12000"/>
            </a:avLst>
          </a:prstGeom>
          <a:solidFill>
            <a:srgbClr val="C4603C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0" y="3840480"/>
            <a:ext cx="2468880" cy="13716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080760" y="4069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loanDuration, fineRate,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maxBooks, maxReservations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926080" y="2240280"/>
            <a:ext cx="274320" cy="36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1" name="Shape 39"/>
          <p:cNvSpPr/>
          <p:nvPr/>
        </p:nvSpPr>
        <p:spPr>
          <a:xfrm>
            <a:off x="5669280" y="2240280"/>
            <a:ext cx="274320" cy="36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2" name="Shape 40"/>
          <p:cNvSpPr/>
          <p:nvPr/>
        </p:nvSpPr>
        <p:spPr>
          <a:xfrm>
            <a:off x="1645920" y="3154680"/>
            <a:ext cx="36576" cy="3657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3" name="Shape 41"/>
          <p:cNvSpPr/>
          <p:nvPr/>
        </p:nvSpPr>
        <p:spPr>
          <a:xfrm>
            <a:off x="4389120" y="3154680"/>
            <a:ext cx="36576" cy="365760"/>
          </a:xfrm>
          <a:prstGeom prst="rect">
            <a:avLst/>
          </a:prstGeom>
          <a:solidFill>
            <a:srgbClr val="6B728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Engineering Assignment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Interface Design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7863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built with CSS Grid and Flexbox — adapts to desktop, tablet, and mobile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Card-based design language for consistent visual hierarchy across all modules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dashboards with relevant statistics and quick-action shortcuts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sidebar navigation with clear iconography and active-state indicators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 with real-time filtering, sorting, and grid/list view toggle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color coding: status badges, alerts, and action buttons follow a unified palette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486400"/>
            <a:ext cx="1783080" cy="502920"/>
          </a:xfrm>
          <a:prstGeom prst="roundRect">
            <a:avLst>
              <a:gd name="adj" fmla="val 9091"/>
            </a:avLst>
          </a:prstGeom>
          <a:solidFill>
            <a:srgbClr val="C460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486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5486400"/>
            <a:ext cx="1783080" cy="502920"/>
          </a:xfrm>
          <a:prstGeom prst="roundRect">
            <a:avLst>
              <a:gd name="adj" fmla="val 9091"/>
            </a:avLst>
          </a:prstGeom>
          <a:solidFill>
            <a:srgbClr val="2B4066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5486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Card-Based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5486400"/>
            <a:ext cx="1783080" cy="502920"/>
          </a:xfrm>
          <a:prstGeom prst="roundRect">
            <a:avLst>
              <a:gd name="adj" fmla="val 9091"/>
            </a:avLst>
          </a:prstGeom>
          <a:solidFill>
            <a:srgbClr val="C4603C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5486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5486400"/>
            <a:ext cx="1783080" cy="502920"/>
          </a:xfrm>
          <a:prstGeom prst="roundRect">
            <a:avLst>
              <a:gd name="adj" fmla="val 9091"/>
            </a:avLst>
          </a:prstGeom>
          <a:solidFill>
            <a:srgbClr val="2B4066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5486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Engineering Assignment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Validation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71600"/>
            <a:ext cx="3657600" cy="384048"/>
          </a:xfrm>
          <a:prstGeom prst="rect">
            <a:avLst>
              <a:gd name="adj" fmla="val 9524"/>
            </a:avLst>
          </a:prstGeom>
          <a:solidFill>
            <a:srgbClr val="C4603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898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Testing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3931920" cy="384048"/>
          </a:xfrm>
          <a:prstGeom prst="rect">
            <a:avLst>
              <a:gd name="adj" fmla="val 9524"/>
            </a:avLst>
          </a:prstGeom>
          <a:solidFill>
            <a:srgbClr val="2B406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89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Assurance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1874520"/>
            <a:ext cx="36576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of core modules (authentication, data access, fine calculation)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of cross-module workflows (borrow-return-fine pipeline)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testing for edge cases (max books, expired reservations)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874520"/>
            <a:ext cx="393192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with sample university scenarios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compatibility (Chrome, Firefox, Edge, Safari)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testing across screen sizes and devices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Engineering Assignment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554480"/>
            <a:ext cx="964276" cy="411480"/>
          </a:xfrm>
          <a:prstGeom prst="roundRect">
            <a:avLst>
              <a:gd name="adj" fmla="val 13333"/>
            </a:avLst>
          </a:prstGeom>
          <a:solidFill>
            <a:srgbClr val="C460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13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2633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08218" y="2359152"/>
            <a:ext cx="1446415" cy="411480"/>
          </a:xfrm>
          <a:prstGeom prst="roundRect">
            <a:avLst>
              <a:gd name="adj" fmla="val 13333"/>
            </a:avLst>
          </a:prstGeom>
          <a:solidFill>
            <a:srgbClr val="2B406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181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34381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2495" y="3163824"/>
            <a:ext cx="2410691" cy="411480"/>
          </a:xfrm>
          <a:prstGeom prst="roundRect">
            <a:avLst>
              <a:gd name="adj" fmla="val 13333"/>
            </a:avLst>
          </a:prstGeom>
          <a:solidFill>
            <a:srgbClr val="C4603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227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2428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18909" y="3968496"/>
            <a:ext cx="1446415" cy="411480"/>
          </a:xfrm>
          <a:prstGeom prst="roundRect">
            <a:avLst>
              <a:gd name="adj" fmla="val 13333"/>
            </a:avLst>
          </a:prstGeom>
          <a:solidFill>
            <a:srgbClr val="4A6A8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274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1047" y="4773168"/>
            <a:ext cx="1446415" cy="411480"/>
          </a:xfrm>
          <a:prstGeom prst="roundRect">
            <a:avLst>
              <a:gd name="adj" fmla="val 13333"/>
            </a:avLst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532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5852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10–11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65324" y="5577840"/>
            <a:ext cx="964276" cy="411480"/>
          </a:xfrm>
          <a:prstGeom prst="roundRect">
            <a:avLst>
              <a:gd name="adj" fmla="val 13333"/>
            </a:avLst>
          </a:prstGeom>
          <a:solidFill>
            <a:srgbClr val="2B4066"/>
          </a:solidFill>
          <a:ln/>
        </p:spPr>
      </p:sp>
      <p:sp>
        <p:nvSpPr>
          <p:cNvPr id="28" name="Shape 26"/>
          <p:cNvSpPr/>
          <p:nvPr/>
        </p:nvSpPr>
        <p:spPr>
          <a:xfrm>
            <a:off x="2926080" y="6400800"/>
            <a:ext cx="5303520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9" name="Text 27"/>
          <p:cNvSpPr/>
          <p:nvPr/>
        </p:nvSpPr>
        <p:spPr>
          <a:xfrm>
            <a:off x="2788920" y="6172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71058" y="6172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53196" y="6172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35335" y="6172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17473" y="6172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99611" y="6172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81749" y="6172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63887" y="6172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46025" y="6172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128164" y="6172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10302" y="6172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092440" y="6172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Engineering Assignment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Solutions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71600"/>
            <a:ext cx="38404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CCCCC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371600"/>
            <a:ext cx="64008" cy="86868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3898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1645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size and query limitations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1508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39319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CCCCC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371600"/>
            <a:ext cx="64008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3898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83480" y="1645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 structured data access layer with indexed lookups and JSON serialization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38404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CCCCC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06040"/>
            <a:ext cx="64008" cy="86868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6243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2880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without a backend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754880" y="2606040"/>
            <a:ext cx="39319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CCCCC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606040"/>
            <a:ext cx="64008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6243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83480" y="2880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separation with client-side route guards and session validation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38404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CCCCC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840480"/>
            <a:ext cx="64008" cy="86868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8587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41148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across many modules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97680" y="3977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754880" y="3840480"/>
            <a:ext cx="39319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CCCCC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840480"/>
            <a:ext cx="64008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858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8348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media queries with mobile-first approach and consistent component library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5074920"/>
            <a:ext cx="38404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CCCCC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5074920"/>
            <a:ext cx="64008" cy="86868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50932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" y="5349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and integrity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297680" y="5212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4754880" y="5074920"/>
            <a:ext cx="39319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CCCCC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5074920"/>
            <a:ext cx="64008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44" name="Text 42"/>
          <p:cNvSpPr/>
          <p:nvPr/>
        </p:nvSpPr>
        <p:spPr>
          <a:xfrm>
            <a:off x="4983480" y="50932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83480" y="5349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JSON read/write operations with validation checks on every data mutation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Engineering Assignment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1627632"/>
            <a:ext cx="731520" cy="36576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8308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 fully functional library management system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all three user roles with comprehensive feature sets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responsive, intuitive UI with consistent design language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731520" cy="36576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6908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migration with Node.js/Express and proper database (PostgreSQL or MongoDB)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Barcode/QR code scanning for streamlined book issuing and returns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system for due-date reminders and reservation alerts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 for on-the-go library access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 with trend analysis and predictive insights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4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2192000" cy="73152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D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7548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— Smart University Library Management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5943600"/>
            <a:ext cx="2743200" cy="54864"/>
          </a:xfrm>
          <a:prstGeom prst="rect">
            <a:avLst/>
          </a:prstGeom>
          <a:solidFill>
            <a:srgbClr val="C4603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SmartLib - Software Engineering Assignment</dc:title>
  <dc:subject>PptxGenJS Presentation</dc:subject>
  <dc:creator>SmartLib Team</dc:creator>
  <cp:lastModifiedBy>SmartLib Team</cp:lastModifiedBy>
  <cp:revision>1</cp:revision>
  <dcterms:created xsi:type="dcterms:W3CDTF">2026-05-17T07:16:13Z</dcterms:created>
  <dcterms:modified xsi:type="dcterms:W3CDTF">2026-05-17T07:16:13Z</dcterms:modified>
</cp:coreProperties>
</file>