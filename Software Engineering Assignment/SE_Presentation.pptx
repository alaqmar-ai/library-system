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0" y="0"/>
            <a:ext cx="73152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3913632" y="5943600"/>
            <a:ext cx="5230368" cy="73152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SmartLib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28016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5146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University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Management System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18288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Engineering Assignment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06240" y="2468880"/>
            <a:ext cx="91440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4206240" y="2834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0624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Overview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801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is a comprehensive web-based library management system designed for university environments. It supports three distinct user roles — Student, Librarian, and Administrator — each with tailored interfaces and capabilities.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1554480" cy="1554480"/>
          </a:xfrm>
          <a:prstGeom prst="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606040"/>
            <a:ext cx="1554480" cy="54864"/>
          </a:xfrm>
          <a:prstGeom prst="rect">
            <a:avLst>
              <a:gd name="adj" fmla="val 50000"/>
            </a:avLst>
          </a:prstGeom>
          <a:solidFill>
            <a:srgbClr val="C4603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260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Catalog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94560" y="2606040"/>
            <a:ext cx="1554480" cy="1554480"/>
          </a:xfrm>
          <a:prstGeom prst="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194560" y="2606040"/>
            <a:ext cx="1554480" cy="54864"/>
          </a:xfrm>
          <a:prstGeom prst="rect">
            <a:avLst>
              <a:gd name="adj" fmla="val 50000"/>
            </a:avLst>
          </a:prstGeom>
          <a:solidFill>
            <a:srgbClr val="C4603C"/>
          </a:solidFill>
          <a:ln/>
        </p:spPr>
      </p:sp>
      <p:sp>
        <p:nvSpPr>
          <p:cNvPr id="16" name="Text 14"/>
          <p:cNvSpPr/>
          <p:nvPr/>
        </p:nvSpPr>
        <p:spPr>
          <a:xfrm>
            <a:off x="2286000" y="29260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Borrowing &amp;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31920" y="2606040"/>
            <a:ext cx="1554480" cy="1554480"/>
          </a:xfrm>
          <a:prstGeom prst="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931920" y="2606040"/>
            <a:ext cx="1554480" cy="54864"/>
          </a:xfrm>
          <a:prstGeom prst="rect">
            <a:avLst>
              <a:gd name="adj" fmla="val 50000"/>
            </a:avLst>
          </a:prstGeom>
          <a:solidFill>
            <a:srgbClr val="C4603C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0" y="29260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0" y="2606040"/>
            <a:ext cx="1554480" cy="1554480"/>
          </a:xfrm>
          <a:prstGeom prst="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669280" y="2606040"/>
            <a:ext cx="1554480" cy="54864"/>
          </a:xfrm>
          <a:prstGeom prst="rect">
            <a:avLst>
              <a:gd name="adj" fmla="val 50000"/>
            </a:avLst>
          </a:prstGeom>
          <a:solidFill>
            <a:srgbClr val="C4603C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0" y="29260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06640" y="2606040"/>
            <a:ext cx="1554480" cy="1554480"/>
          </a:xfrm>
          <a:prstGeom prst="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406640" y="2606040"/>
            <a:ext cx="1554480" cy="54864"/>
          </a:xfrm>
          <a:prstGeom prst="rect">
            <a:avLst>
              <a:gd name="adj" fmla="val 50000"/>
            </a:avLst>
          </a:prstGeom>
          <a:solidFill>
            <a:srgbClr val="C4603C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0" y="29260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4480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User Roles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4937760"/>
            <a:ext cx="2194560" cy="502920"/>
          </a:xfrm>
          <a:prstGeom prst="roundRect">
            <a:avLst>
              <a:gd name="adj" fmla="val 10909"/>
            </a:avLst>
          </a:prstGeom>
          <a:solidFill>
            <a:srgbClr val="C4603C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49377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0" y="4937760"/>
            <a:ext cx="2194560" cy="502920"/>
          </a:xfrm>
          <a:prstGeom prst="roundRect">
            <a:avLst>
              <a:gd name="adj" fmla="val 10909"/>
            </a:avLst>
          </a:prstGeom>
          <a:solidFill>
            <a:srgbClr val="2B4066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49377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760720" y="4937760"/>
            <a:ext cx="2194560" cy="502920"/>
          </a:xfrm>
          <a:prstGeom prst="roundRect">
            <a:avLst>
              <a:gd name="adj" fmla="val 10909"/>
            </a:avLst>
          </a:prstGeom>
          <a:solidFill>
            <a:srgbClr val="1A1A2E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0" y="49377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80160"/>
            <a:ext cx="78638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library systems rely heavily on manual, paper-based processes that are slow and error-prone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cannot easily search the catalog or reserve books remotely — they must visit the library in person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Librarians spend disproportionate time on repetitive paperwork instead of assisting patrons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tracking of book availability leads to wasted trips and frustrated users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calculation and collection is inconsistent, with no automated record-keeping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lacks consolidated reporting to make informed decisions about library resources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5303520"/>
            <a:ext cx="7863840" cy="777240"/>
          </a:xfrm>
          <a:prstGeom prst="rect">
            <a:avLst>
              <a:gd name="adj" fmla="val 5882"/>
            </a:avLst>
          </a:prstGeom>
          <a:solidFill>
            <a:srgbClr val="E8D5CC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5303520"/>
            <a:ext cx="73152" cy="77724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349240"/>
            <a:ext cx="7406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"Universities need a modern, integrated solution that brings their library services into the digital age."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325880"/>
            <a:ext cx="411480" cy="411480"/>
          </a:xfrm>
          <a:prstGeom prst="ellipse">
            <a:avLst/>
          </a:prstGeom>
          <a:solidFill>
            <a:srgbClr val="C4603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325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12801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 Library Operations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43000" y="162763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manual workflows with streamlined digital processes for issuing, returning, and managing books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313432"/>
            <a:ext cx="411480" cy="411480"/>
          </a:xfrm>
          <a:prstGeom prst="ellipse">
            <a:avLst/>
          </a:prstGeom>
          <a:solidFill>
            <a:srgbClr val="C460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3134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43000" y="2267712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Enable Student Self-Service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43000" y="2615184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students to search, reserve, and manage their borrowings independently from any device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300984"/>
            <a:ext cx="411480" cy="411480"/>
          </a:xfrm>
          <a:prstGeom prst="ellipse">
            <a:avLst/>
          </a:prstGeom>
          <a:solidFill>
            <a:srgbClr val="C4603C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30098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43000" y="325526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Availability Tracking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" y="3602736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instant, accurate information about book availability and location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288536"/>
            <a:ext cx="411480" cy="411480"/>
          </a:xfrm>
          <a:prstGeom prst="ellipse">
            <a:avLst/>
          </a:prstGeom>
          <a:solidFill>
            <a:srgbClr val="C4603C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28853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43000" y="424281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 Fine Management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43000" y="459028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overdue fines automatically and maintain transparent payment records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276088"/>
            <a:ext cx="411480" cy="411480"/>
          </a:xfrm>
          <a:prstGeom prst="ellipse">
            <a:avLst/>
          </a:prstGeom>
          <a:solidFill>
            <a:srgbClr val="C4603C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527608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43000" y="5230368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Comprehensive Reporting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43000" y="55778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actionable reports on circulation, inventory, and user activity for informed decision-making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1417320"/>
            <a:ext cx="6400800" cy="868680"/>
          </a:xfrm>
          <a:prstGeom prst="roundRect">
            <a:avLst>
              <a:gd name="adj" fmla="val 6316"/>
            </a:avLst>
          </a:prstGeom>
          <a:solidFill>
            <a:srgbClr val="C4603C"/>
          </a:solidFill>
          <a:ln/>
          <a:effectLst>
            <a:outerShdw sx="100000" sy="100000" kx="0" ky="0" algn="bl" rotWithShape="0" blurRad="38100" dist="25400" dir="16200000">
              <a:srgbClr val="999999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54480" y="149047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Layer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1856232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 / Responsive UI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71600" y="2514600"/>
            <a:ext cx="6400800" cy="868680"/>
          </a:xfrm>
          <a:prstGeom prst="roundRect">
            <a:avLst>
              <a:gd name="adj" fmla="val 6316"/>
            </a:avLst>
          </a:prstGeom>
          <a:solidFill>
            <a:srgbClr val="2B4066"/>
          </a:solidFill>
          <a:ln/>
          <a:effectLst>
            <a:outerShdw sx="100000" sy="100000" kx="0" ky="0" algn="bl" rotWithShape="0" blurRad="38100" dist="25400" dir="16200000">
              <a:srgbClr val="999999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554480" y="258775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Layer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2953512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JavaScript / SPA Logic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371600" y="3611880"/>
            <a:ext cx="6400800" cy="868680"/>
          </a:xfrm>
          <a:prstGeom prst="roundRect">
            <a:avLst>
              <a:gd name="adj" fmla="val 6316"/>
            </a:avLst>
          </a:prstGeom>
          <a:solidFill>
            <a:srgbClr val="4A6A8A"/>
          </a:solidFill>
          <a:ln/>
          <a:effectLst>
            <a:outerShdw sx="100000" sy="100000" kx="0" ky="0" algn="bl" rotWithShape="0" blurRad="38100" dist="25400" dir="16200000">
              <a:srgbClr val="999999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554480" y="368503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Access Layer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050792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Serialization / CRUD Operations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371600" y="4709160"/>
            <a:ext cx="6400800" cy="868680"/>
          </a:xfrm>
          <a:prstGeom prst="roundRect">
            <a:avLst>
              <a:gd name="adj" fmla="val 6316"/>
            </a:avLst>
          </a:prstGeom>
          <a:solidFill>
            <a:srgbClr val="1A1A2E"/>
          </a:solidFill>
          <a:ln/>
          <a:effectLst>
            <a:outerShdw sx="100000" sy="100000" kx="0" ky="0" algn="bl" rotWithShape="0" blurRad="38100" dist="25400" dir="16200000">
              <a:srgbClr val="999999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554480" y="478231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Persistence Layer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5148072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/ Browser Storage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434840" y="2286000"/>
            <a:ext cx="274320" cy="2286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23" name="Shape 21"/>
          <p:cNvSpPr/>
          <p:nvPr/>
        </p:nvSpPr>
        <p:spPr>
          <a:xfrm>
            <a:off x="4434840" y="3383280"/>
            <a:ext cx="274320" cy="2286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434840" y="4480560"/>
            <a:ext cx="274320" cy="2286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201168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46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C46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280" y="347472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B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 — Student Portal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34440"/>
            <a:ext cx="78638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 displaying active borrowings, pending reservations, and due-date reminders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book catalog with search by title, author, ISBN, and category filters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book reservation with automatic expiry management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Borrowing history with status tracking (active, returned, overdue)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tracking with detailed breakdown and simulated payment processing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management with editable personal information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5577840"/>
            <a:ext cx="7863840" cy="548640"/>
          </a:xfrm>
          <a:prstGeom prst="rect">
            <a:avLst>
              <a:gd name="adj" fmla="val 8333"/>
            </a:avLst>
          </a:prstGeom>
          <a:solidFill>
            <a:srgbClr val="2B406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55778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simplicity — students can manage their entire library experience from one interface.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 — Librarian Portal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34440"/>
            <a:ext cx="78638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book catalog management — add, edit, update, and remove books (CRUD)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books to students with automatic due-date assignment based on system settings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book returns with automatic overdue detection and fine calculation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and manage all active borrowings, reservations, and pending returns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operational reports: most borrowed books, overdue items, daily transactions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Quick-search students by name or ID to view their borrowing history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 — Admin Portal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34440"/>
            <a:ext cx="78638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— create, update, and deactivate student and librarian accounts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configuration — set borrowing limits, loan durations, and fine rates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system reports covering all users, books, and transactions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management utilities including system reset and data export capabilities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monitoring across all user roles for oversight and auditing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846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Hierarchy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525780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2578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525780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2B4066"/>
          </a:solidFill>
          <a:ln/>
        </p:spPr>
      </p:sp>
      <p:sp>
        <p:nvSpPr>
          <p:cNvPr id="15" name="Text 13"/>
          <p:cNvSpPr/>
          <p:nvPr/>
        </p:nvSpPr>
        <p:spPr>
          <a:xfrm>
            <a:off x="2926080" y="52578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212080" y="525780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C4603C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52578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5413248"/>
            <a:ext cx="27432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9" name="Shape 17"/>
          <p:cNvSpPr/>
          <p:nvPr/>
        </p:nvSpPr>
        <p:spPr>
          <a:xfrm>
            <a:off x="4937760" y="5413248"/>
            <a:ext cx="274320" cy="54864"/>
          </a:xfrm>
          <a:prstGeom prst="rect">
            <a:avLst/>
          </a:prstGeom>
          <a:solidFill>
            <a:srgbClr val="6B728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Model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417320"/>
            <a:ext cx="24688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417320"/>
            <a:ext cx="2468880" cy="457200"/>
          </a:xfrm>
          <a:prstGeom prst="rect">
            <a:avLst>
              <a:gd name="adj" fmla="val 12000"/>
            </a:avLst>
          </a:prstGeom>
          <a:solidFill>
            <a:srgbClr val="2B406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37360"/>
            <a:ext cx="2468880" cy="13716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417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196596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name, email, role,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password, status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1417320"/>
            <a:ext cx="24688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417320"/>
            <a:ext cx="2468880" cy="457200"/>
          </a:xfrm>
          <a:prstGeom prst="rect">
            <a:avLst>
              <a:gd name="adj" fmla="val 12000"/>
            </a:avLst>
          </a:prstGeom>
          <a:solidFill>
            <a:srgbClr val="2B4066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1737360"/>
            <a:ext cx="2468880" cy="13716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1417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37560" y="196596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title, author, ISBN,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copies, available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43600" y="1417320"/>
            <a:ext cx="24688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43600" y="1417320"/>
            <a:ext cx="2468880" cy="457200"/>
          </a:xfrm>
          <a:prstGeom prst="rect">
            <a:avLst>
              <a:gd name="adj" fmla="val 12000"/>
            </a:avLst>
          </a:prstGeom>
          <a:solidFill>
            <a:srgbClr val="2B4066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0" y="1737360"/>
            <a:ext cx="2468880" cy="13716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0" y="1417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Borrowings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80760" y="196596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userId, bookId,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issueDate, dueDate, status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24688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520440"/>
            <a:ext cx="2468880" cy="457200"/>
          </a:xfrm>
          <a:prstGeom prst="rect">
            <a:avLst>
              <a:gd name="adj" fmla="val 12000"/>
            </a:avLst>
          </a:prstGeom>
          <a:solidFill>
            <a:srgbClr val="C4603C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" y="3840480"/>
            <a:ext cx="2468880" cy="13716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20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94360" y="406908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userId, bookId,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reserveDate, expiryDate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00400" y="3520440"/>
            <a:ext cx="24688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00400" y="3520440"/>
            <a:ext cx="2468880" cy="457200"/>
          </a:xfrm>
          <a:prstGeom prst="rect">
            <a:avLst>
              <a:gd name="adj" fmla="val 12000"/>
            </a:avLst>
          </a:prstGeom>
          <a:solidFill>
            <a:srgbClr val="C4603C"/>
          </a:solidFill>
          <a:ln/>
        </p:spPr>
      </p:sp>
      <p:sp>
        <p:nvSpPr>
          <p:cNvPr id="32" name="Shape 30"/>
          <p:cNvSpPr/>
          <p:nvPr/>
        </p:nvSpPr>
        <p:spPr>
          <a:xfrm>
            <a:off x="3200400" y="3840480"/>
            <a:ext cx="2468880" cy="13716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0" y="3520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337560" y="406908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userId, borrowingId,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status, paidDate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943600" y="3520440"/>
            <a:ext cx="24688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943600" y="3520440"/>
            <a:ext cx="2468880" cy="457200"/>
          </a:xfrm>
          <a:prstGeom prst="rect">
            <a:avLst>
              <a:gd name="adj" fmla="val 12000"/>
            </a:avLst>
          </a:prstGeom>
          <a:solidFill>
            <a:srgbClr val="C4603C"/>
          </a:solidFill>
          <a:ln/>
        </p:spPr>
      </p:sp>
      <p:sp>
        <p:nvSpPr>
          <p:cNvPr id="37" name="Shape 35"/>
          <p:cNvSpPr/>
          <p:nvPr/>
        </p:nvSpPr>
        <p:spPr>
          <a:xfrm>
            <a:off x="5943600" y="3840480"/>
            <a:ext cx="2468880" cy="13716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8" name="Text 36"/>
          <p:cNvSpPr/>
          <p:nvPr/>
        </p:nvSpPr>
        <p:spPr>
          <a:xfrm>
            <a:off x="5943600" y="3520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080760" y="406908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loanDuration, fineRate,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maxBooks, maxReservations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926080" y="2240280"/>
            <a:ext cx="274320" cy="36576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41" name="Shape 39"/>
          <p:cNvSpPr/>
          <p:nvPr/>
        </p:nvSpPr>
        <p:spPr>
          <a:xfrm>
            <a:off x="5669280" y="2240280"/>
            <a:ext cx="274320" cy="36576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42" name="Shape 40"/>
          <p:cNvSpPr/>
          <p:nvPr/>
        </p:nvSpPr>
        <p:spPr>
          <a:xfrm>
            <a:off x="1645920" y="3154680"/>
            <a:ext cx="36576" cy="36576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43" name="Shape 41"/>
          <p:cNvSpPr/>
          <p:nvPr/>
        </p:nvSpPr>
        <p:spPr>
          <a:xfrm>
            <a:off x="4389120" y="3154680"/>
            <a:ext cx="36576" cy="365760"/>
          </a:xfrm>
          <a:prstGeom prst="rect">
            <a:avLst/>
          </a:prstGeom>
          <a:solidFill>
            <a:srgbClr val="6B728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Interface Design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34440"/>
            <a:ext cx="78638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layout built with CSS Grid and Flexbox — adapts to desktop, tablet, and mobile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Card-based design language for consistent visual hierarchy across all modules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Role-specific dashboards with relevant statistics and quick-action shortcuts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sidebar navigation with clear iconography and active-state indicators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search with real-time filtering, sorting, and grid/list view toggle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color coding: status badges, alerts, and action buttons follow a unified palette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86400"/>
            <a:ext cx="1783080" cy="502920"/>
          </a:xfrm>
          <a:prstGeom prst="roundRect">
            <a:avLst>
              <a:gd name="adj" fmla="val 9091"/>
            </a:avLst>
          </a:prstGeom>
          <a:solidFill>
            <a:srgbClr val="C4603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5486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51760" y="5486400"/>
            <a:ext cx="1783080" cy="502920"/>
          </a:xfrm>
          <a:prstGeom prst="roundRect">
            <a:avLst>
              <a:gd name="adj" fmla="val 9091"/>
            </a:avLst>
          </a:prstGeom>
          <a:solidFill>
            <a:srgbClr val="2B4066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5486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Card-Based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5486400"/>
            <a:ext cx="1783080" cy="502920"/>
          </a:xfrm>
          <a:prstGeom prst="roundRect">
            <a:avLst>
              <a:gd name="adj" fmla="val 9091"/>
            </a:avLst>
          </a:prstGeom>
          <a:solidFill>
            <a:srgbClr val="C460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5486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Role-Specific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5486400"/>
            <a:ext cx="1783080" cy="502920"/>
          </a:xfrm>
          <a:prstGeom prst="roundRect">
            <a:avLst>
              <a:gd name="adj" fmla="val 9091"/>
            </a:avLst>
          </a:prstGeom>
          <a:solidFill>
            <a:srgbClr val="2B4066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5486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&amp; Validation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371600"/>
            <a:ext cx="3657600" cy="384048"/>
          </a:xfrm>
          <a:prstGeom prst="rect">
            <a:avLst>
              <a:gd name="adj" fmla="val 9524"/>
            </a:avLst>
          </a:prstGeom>
          <a:solidFill>
            <a:srgbClr val="C4603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38988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Functional Testing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371600"/>
            <a:ext cx="3931920" cy="384048"/>
          </a:xfrm>
          <a:prstGeom prst="rect">
            <a:avLst>
              <a:gd name="adj" fmla="val 9524"/>
            </a:avLst>
          </a:prstGeom>
          <a:solidFill>
            <a:srgbClr val="2B4066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38988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Assurance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1874520"/>
            <a:ext cx="365760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testing of core modules (authentication, data access, fine calculation)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 of cross-module workflows (borrow-return-fine pipeline)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testing for edge cases (max books, expired reservations)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1874520"/>
            <a:ext cx="393192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acceptance testing with sample university scenarios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Cross-browser compatibility (Chrome, Firefox, Edge, Safari)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 testing across screen sizes and devices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Timeline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08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Gathering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926080" y="1554480"/>
            <a:ext cx="964276" cy="411480"/>
          </a:xfrm>
          <a:prstGeom prst="roundRect">
            <a:avLst>
              <a:gd name="adj" fmla="val 13333"/>
            </a:avLst>
          </a:prstGeom>
          <a:solidFill>
            <a:srgbClr val="C4603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3134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26334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2–4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08218" y="2359152"/>
            <a:ext cx="1446415" cy="411480"/>
          </a:xfrm>
          <a:prstGeom prst="roundRect">
            <a:avLst>
              <a:gd name="adj" fmla="val 13333"/>
            </a:avLst>
          </a:prstGeom>
          <a:solidFill>
            <a:srgbClr val="2B406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11810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43814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72495" y="3163824"/>
            <a:ext cx="2410691" cy="411480"/>
          </a:xfrm>
          <a:prstGeom prst="roundRect">
            <a:avLst>
              <a:gd name="adj" fmla="val 13333"/>
            </a:avLst>
          </a:prstGeom>
          <a:solidFill>
            <a:srgbClr val="C4603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2277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42428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18909" y="3968496"/>
            <a:ext cx="1446415" cy="411480"/>
          </a:xfrm>
          <a:prstGeom prst="roundRect">
            <a:avLst>
              <a:gd name="adj" fmla="val 13333"/>
            </a:avLst>
          </a:prstGeom>
          <a:solidFill>
            <a:srgbClr val="4A6A8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72744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8–10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01047" y="4773168"/>
            <a:ext cx="1446415" cy="411480"/>
          </a:xfrm>
          <a:prstGeom prst="roundRect">
            <a:avLst>
              <a:gd name="adj" fmla="val 13333"/>
            </a:avLst>
          </a:prstGeom>
          <a:solidFill>
            <a:srgbClr val="1A1A2E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532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5852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10–11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65324" y="5577840"/>
            <a:ext cx="964276" cy="411480"/>
          </a:xfrm>
          <a:prstGeom prst="roundRect">
            <a:avLst>
              <a:gd name="adj" fmla="val 13333"/>
            </a:avLst>
          </a:prstGeom>
          <a:solidFill>
            <a:srgbClr val="2B4066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6080" y="6400800"/>
            <a:ext cx="5303520" cy="182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9" name="Text 27"/>
          <p:cNvSpPr/>
          <p:nvPr/>
        </p:nvSpPr>
        <p:spPr>
          <a:xfrm>
            <a:off x="2788920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71058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753196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235335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717473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199611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681749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63887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646025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128164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610302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092440" y="617220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Solutions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371600"/>
            <a:ext cx="38404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371600"/>
            <a:ext cx="64008" cy="86868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3898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16459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size and query limitations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0" y="15087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46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754880" y="1371600"/>
            <a:ext cx="39319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371600"/>
            <a:ext cx="64008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138988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83480" y="16459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 structured data access layer with indexed lookups and JSON serialization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606040"/>
            <a:ext cx="38404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606040"/>
            <a:ext cx="64008" cy="86868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62432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288036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without a backend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0" y="27432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46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754880" y="2606040"/>
            <a:ext cx="39319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606040"/>
            <a:ext cx="64008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26" name="Text 24"/>
          <p:cNvSpPr/>
          <p:nvPr/>
        </p:nvSpPr>
        <p:spPr>
          <a:xfrm>
            <a:off x="4983480" y="262432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83480" y="28803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Page-level separation with client-side route guards and session validation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840480"/>
            <a:ext cx="38404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840480"/>
            <a:ext cx="64008" cy="86868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85876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85800" y="411480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 across many modules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97680" y="397764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46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754880" y="3840480"/>
            <a:ext cx="39319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3840480"/>
            <a:ext cx="64008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35" name="Text 33"/>
          <p:cNvSpPr/>
          <p:nvPr/>
        </p:nvSpPr>
        <p:spPr>
          <a:xfrm>
            <a:off x="4983480" y="385876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83480" y="41148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media queries with mobile-first approach and consistent component library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57200" y="5074920"/>
            <a:ext cx="38404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2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7200" y="5074920"/>
            <a:ext cx="64008" cy="86868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509320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5800" y="534924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persistence and integrity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297680" y="52120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46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4754880" y="5074920"/>
            <a:ext cx="39319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2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754880" y="5074920"/>
            <a:ext cx="64008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44" name="Text 42"/>
          <p:cNvSpPr/>
          <p:nvPr/>
        </p:nvSpPr>
        <p:spPr>
          <a:xfrm>
            <a:off x="4983480" y="509320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983480" y="53492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JSON read/write operations with validation checks on every data mutation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Engineering Assignment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Future Work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80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1627632"/>
            <a:ext cx="731520" cy="36576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8308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developed a fully functional library management system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all three user roles with comprehensive feature sets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responsive, intuitive UI with consistent design language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60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Enhancements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913632"/>
            <a:ext cx="731520" cy="36576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069080"/>
            <a:ext cx="7863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migration with Node.js/Express and proper database (PostgreSQL or MongoDB)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Barcode/QR code scanning for streamlined book issuing and returns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 system for due-date reminders and reservation alerts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application for on-the-go library access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 dashboard with trend analysis and predictive insights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40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2192000" cy="73152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645920"/>
            <a:ext cx="1219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0" y="3474720"/>
            <a:ext cx="1219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475488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— Smart University Library Management System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5943600"/>
            <a:ext cx="2743200" cy="54864"/>
          </a:xfrm>
          <a:prstGeom prst="rect">
            <a:avLst/>
          </a:prstGeom>
          <a:solidFill>
            <a:srgbClr val="C4603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SmartLib - Software Engineering Assignment</dc:title>
  <dc:subject>PptxGenJS Presentation</dc:subject>
  <dc:creator>SmartLib Team</dc:creator>
  <cp:lastModifiedBy>SmartLib Team</cp:lastModifiedBy>
  <cp:revision>1</cp:revision>
  <dcterms:created xsi:type="dcterms:W3CDTF">2026-04-06T01:56:30Z</dcterms:created>
  <dcterms:modified xsi:type="dcterms:W3CDTF">2026-04-06T01:56:30Z</dcterms:modified>
</cp:coreProperties>
</file>