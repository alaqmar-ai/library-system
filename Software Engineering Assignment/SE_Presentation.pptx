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Smart University Library</a:t>
            </a:r>
            <a:br/>
            <a:r>
              <a:t>Management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2651760"/>
            <a:ext cx="2743200" cy="640080"/>
          </a:xfrm>
          <a:prstGeom prst="round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0" y="2697480"/>
            <a:ext cx="2743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A237E"/>
                </a:solidFill>
                <a:latin typeface="Calibri"/>
              </a:defRPr>
            </a:pPr>
            <a:r>
              <a:t>SmartLib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BBDEFF"/>
                </a:solidFill>
                <a:latin typeface="Calibri"/>
              </a:defRPr>
            </a:pPr>
            <a:r>
              <a:t>Software Engineering Group Assignment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251960"/>
            <a:ext cx="3931920" cy="27432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AB00"/>
                </a:solidFill>
                <a:latin typeface="Calibri"/>
              </a:defRPr>
            </a:pPr>
            <a:r>
              <a:t>Group Members: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29200"/>
            <a:ext cx="9418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Member 1  |  Member 2  |  Member 3  |  Member 4  |  Member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90CAF9"/>
                </a:solidFill>
                <a:latin typeface="Calibri"/>
              </a:defRPr>
            </a:pPr>
            <a:r>
              <a:t>April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1371600"/>
            <a:ext cx="640080" cy="64008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463040"/>
            <a:ext cx="640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3716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A237E"/>
                </a:solidFill>
                <a:latin typeface="Calibri"/>
              </a:defRPr>
            </a:pPr>
            <a:r>
              <a:t>Planning &amp; Introduction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719072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57575"/>
                </a:solidFill>
                <a:latin typeface="Calibri"/>
              </a:defRPr>
            </a:pPr>
            <a:r>
              <a:t>Project background, objectives, SWOT &amp; feasibility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99032" y="2011680"/>
            <a:ext cx="36576" cy="20116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97280" y="2212848"/>
            <a:ext cx="640080" cy="640080"/>
          </a:xfrm>
          <a:prstGeom prst="ellipse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304288"/>
            <a:ext cx="640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2212848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A237E"/>
                </a:solidFill>
                <a:latin typeface="Calibri"/>
              </a:defRPr>
            </a:pPr>
            <a:r>
              <a:t>System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56032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57575"/>
                </a:solidFill>
                <a:latin typeface="Calibri"/>
              </a:defRPr>
            </a:pPr>
            <a:r>
              <a:t>Requirements gathering, fact-finding techniques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99032" y="2852928"/>
            <a:ext cx="36576" cy="20116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97280" y="3054096"/>
            <a:ext cx="640080" cy="64008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145536"/>
            <a:ext cx="640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3054096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A237E"/>
                </a:solidFill>
                <a:latin typeface="Calibri"/>
              </a:defRPr>
            </a:pPr>
            <a:r>
              <a:t>System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401568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57575"/>
                </a:solidFill>
                <a:latin typeface="Calibri"/>
              </a:defRPr>
            </a:pPr>
            <a:r>
              <a:t>Context diagrams, DFDs, UML, ERD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99032" y="3694176"/>
            <a:ext cx="36576" cy="20116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3895344"/>
            <a:ext cx="640080" cy="640080"/>
          </a:xfrm>
          <a:prstGeom prst="ellipse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3986784"/>
            <a:ext cx="640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895344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A237E"/>
                </a:solidFill>
                <a:latin typeface="Calibri"/>
              </a:defRPr>
            </a:pPr>
            <a:r>
              <a:t>Interface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242816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57575"/>
                </a:solidFill>
                <a:latin typeface="Calibri"/>
              </a:defRPr>
            </a:pPr>
            <a:r>
              <a:t>UI mockups and screen layouts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99032" y="4535424"/>
            <a:ext cx="36576" cy="20116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97280" y="4736592"/>
            <a:ext cx="640080" cy="64008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828032"/>
            <a:ext cx="640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4736592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A237E"/>
                </a:solidFill>
                <a:latin typeface="Calibri"/>
              </a:defRPr>
            </a:pPr>
            <a:r>
              <a:t>Development &amp;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084064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57575"/>
                </a:solidFill>
                <a:latin typeface="Calibri"/>
              </a:defRPr>
            </a:pPr>
            <a:r>
              <a:t>Technology stack, implementation, live demo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99032" y="5376672"/>
            <a:ext cx="36576" cy="20116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97280" y="5577840"/>
            <a:ext cx="640080" cy="640080"/>
          </a:xfrm>
          <a:prstGeom prst="ellipse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5669280"/>
            <a:ext cx="640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557784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A237E"/>
                </a:solidFill>
                <a:latin typeface="Calibri"/>
              </a:defRPr>
            </a:pPr>
            <a:r>
              <a:t>Questions &amp; Answers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925312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57575"/>
                </a:solidFill>
                <a:latin typeface="Calibri"/>
              </a:defRPr>
            </a:pPr>
            <a:r>
              <a:t>Open floor for discussion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BBBFF"/>
                </a:solidFill>
                <a:latin typeface="Calibri"/>
              </a:defRPr>
            </a:pPr>
            <a:r>
              <a:t>Project Background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486400" cy="201168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120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A237E"/>
                </a:solidFill>
                <a:latin typeface="Calibri"/>
              </a:defRPr>
            </a:pPr>
            <a:r>
              <a:t>Background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5120640" cy="1463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900"/>
              </a:lnSpc>
              <a:spcBef>
                <a:spcPts val="600"/>
              </a:spcBef>
              <a:spcAft>
                <a:spcPts val="300"/>
              </a:spcAft>
              <a:defRPr sz="1600">
                <a:solidFill>
                  <a:srgbClr val="424242"/>
                </a:solidFill>
                <a:latin typeface="Calibri"/>
              </a:defRPr>
            </a:pPr>
            <a:r>
              <a:t>•  University library currently uses a manual, paper-based system</a:t>
            </a:r>
          </a:p>
          <a:p>
            <a:pPr>
              <a:lnSpc>
                <a:spcPts val="1900"/>
              </a:lnSpc>
              <a:spcBef>
                <a:spcPts val="600"/>
              </a:spcBef>
              <a:spcAft>
                <a:spcPts val="300"/>
              </a:spcAft>
              <a:defRPr sz="1600">
                <a:solidFill>
                  <a:srgbClr val="424242"/>
                </a:solidFill>
                <a:latin typeface="Calibri"/>
              </a:defRPr>
            </a:pPr>
            <a:r>
              <a:t>•  Students and staff face delays in searching, borrowing, and returning books</a:t>
            </a:r>
          </a:p>
          <a:p>
            <a:pPr>
              <a:lnSpc>
                <a:spcPts val="1900"/>
              </a:lnSpc>
              <a:spcBef>
                <a:spcPts val="600"/>
              </a:spcBef>
              <a:spcAft>
                <a:spcPts val="300"/>
              </a:spcAft>
              <a:defRPr sz="1600">
                <a:solidFill>
                  <a:srgbClr val="424242"/>
                </a:solidFill>
                <a:latin typeface="Calibri"/>
              </a:defRPr>
            </a:pPr>
            <a:r>
              <a:t>•  No real-time visibility into book availability or overdue items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486400" cy="201168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63040"/>
            <a:ext cx="5120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62828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28800"/>
            <a:ext cx="5120640" cy="1463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900"/>
              </a:lnSpc>
              <a:spcBef>
                <a:spcPts val="600"/>
              </a:spcBef>
              <a:spcAft>
                <a:spcPts val="300"/>
              </a:spcAft>
              <a:defRPr sz="1600">
                <a:solidFill>
                  <a:srgbClr val="424242"/>
                </a:solidFill>
                <a:latin typeface="Calibri"/>
              </a:defRPr>
            </a:pPr>
            <a:r>
              <a:t>•  Inefficient manual processes lead to long wait times</a:t>
            </a:r>
          </a:p>
          <a:p>
            <a:pPr>
              <a:lnSpc>
                <a:spcPts val="1900"/>
              </a:lnSpc>
              <a:spcBef>
                <a:spcPts val="600"/>
              </a:spcBef>
              <a:spcAft>
                <a:spcPts val="300"/>
              </a:spcAft>
              <a:defRPr sz="1600">
                <a:solidFill>
                  <a:srgbClr val="424242"/>
                </a:solidFill>
                <a:latin typeface="Calibri"/>
              </a:defRPr>
            </a:pPr>
            <a:r>
              <a:t>•  Lost records, misplaced books, and inaccurate fine calculations</a:t>
            </a:r>
          </a:p>
          <a:p>
            <a:pPr>
              <a:lnSpc>
                <a:spcPts val="1900"/>
              </a:lnSpc>
              <a:spcBef>
                <a:spcPts val="600"/>
              </a:spcBef>
              <a:spcAft>
                <a:spcPts val="300"/>
              </a:spcAft>
              <a:defRPr sz="1600">
                <a:solidFill>
                  <a:srgbClr val="424242"/>
                </a:solidFill>
                <a:latin typeface="Calibri"/>
              </a:defRPr>
            </a:pPr>
            <a:r>
              <a:t>•  No centralized platform for library operations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49039"/>
            <a:ext cx="11247120" cy="25603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40479"/>
            <a:ext cx="108813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E7D32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10881360" cy="20116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2000"/>
              </a:lnSpc>
              <a:spcBef>
                <a:spcPts val="600"/>
              </a:spcBef>
              <a:spcAft>
                <a:spcPts val="300"/>
              </a:spcAft>
              <a:defRPr sz="1700">
                <a:solidFill>
                  <a:srgbClr val="424242"/>
                </a:solidFill>
                <a:latin typeface="Calibri"/>
              </a:defRPr>
            </a:pPr>
            <a:r>
              <a:t>•  Develop a web-based Library Management System to automate core library operations</a:t>
            </a:r>
          </a:p>
          <a:p>
            <a:pPr>
              <a:lnSpc>
                <a:spcPts val="2000"/>
              </a:lnSpc>
              <a:spcBef>
                <a:spcPts val="600"/>
              </a:spcBef>
              <a:spcAft>
                <a:spcPts val="300"/>
              </a:spcAft>
              <a:defRPr sz="1700">
                <a:solidFill>
                  <a:srgbClr val="424242"/>
                </a:solidFill>
                <a:latin typeface="Calibri"/>
              </a:defRPr>
            </a:pPr>
            <a:r>
              <a:t>•  Enable online catalog search, book borrowing/returning, and digital reservations</a:t>
            </a:r>
          </a:p>
          <a:p>
            <a:pPr>
              <a:lnSpc>
                <a:spcPts val="2000"/>
              </a:lnSpc>
              <a:spcBef>
                <a:spcPts val="600"/>
              </a:spcBef>
              <a:spcAft>
                <a:spcPts val="300"/>
              </a:spcAft>
              <a:defRPr sz="1700">
                <a:solidFill>
                  <a:srgbClr val="424242"/>
                </a:solidFill>
                <a:latin typeface="Calibri"/>
              </a:defRPr>
            </a:pPr>
            <a:r>
              <a:t>•  Implement fine management and automated notifications for overdue books</a:t>
            </a:r>
          </a:p>
          <a:p>
            <a:pPr>
              <a:lnSpc>
                <a:spcPts val="2000"/>
              </a:lnSpc>
              <a:spcBef>
                <a:spcPts val="600"/>
              </a:spcBef>
              <a:spcAft>
                <a:spcPts val="300"/>
              </a:spcAft>
              <a:defRPr sz="1700">
                <a:solidFill>
                  <a:srgbClr val="424242"/>
                </a:solidFill>
                <a:latin typeface="Calibri"/>
              </a:defRPr>
            </a:pPr>
            <a:r>
              <a:t>•  Provide an admin dashboard with reports and analytics for library staff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Current System Weaknesses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BBBFF"/>
                </a:solidFill>
                <a:latin typeface="Calibri"/>
              </a:defRPr>
            </a:pPr>
            <a:r>
              <a:t>Issues with the Manual Library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486400" cy="10515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F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EF6C00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E65100"/>
                </a:solidFill>
                <a:latin typeface="Calibri"/>
              </a:defRPr>
            </a:pPr>
            <a:r>
              <a:t>Manual Record Keeping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828800"/>
            <a:ext cx="47548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Paper logs prone to errors, damage, and loss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5486400" cy="10515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F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50876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EF6C00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463040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E65100"/>
                </a:solidFill>
                <a:latin typeface="Calibri"/>
              </a:defRPr>
            </a:pPr>
            <a:r>
              <a:t>Slow Book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28800"/>
            <a:ext cx="47548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No digital catalog; students search shelves physically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651760"/>
            <a:ext cx="5486400" cy="10515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F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7889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EF6C00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43200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E65100"/>
                </a:solidFill>
                <a:latin typeface="Calibri"/>
              </a:defRPr>
            </a:pPr>
            <a:r>
              <a:t>No Real-Time Availability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108960"/>
            <a:ext cx="47548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Staff cannot instantly check if a book is available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2651760"/>
            <a:ext cx="5486400" cy="10515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F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7889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EF6C00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743200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E65100"/>
                </a:solidFill>
                <a:latin typeface="Calibri"/>
              </a:defRPr>
            </a:pPr>
            <a:r>
              <a:t>Error-Prone Fine Calculation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108960"/>
            <a:ext cx="47548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Manual computation of overdue fines leads to disputes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931920"/>
            <a:ext cx="5486400" cy="10515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F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EF6C00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023360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E65100"/>
                </a:solidFill>
                <a:latin typeface="Calibri"/>
              </a:defRPr>
            </a:pPr>
            <a:r>
              <a:t>No Reservation 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389120"/>
            <a:ext cx="47548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Students cannot reserve books in advance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931920"/>
            <a:ext cx="5486400" cy="10515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F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0690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EF6C00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023360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E65100"/>
                </a:solidFill>
                <a:latin typeface="Calibri"/>
              </a:defRPr>
            </a:pPr>
            <a:r>
              <a:t>Limited Reporting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4389120"/>
            <a:ext cx="47548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Generating usage reports requires manual data compilation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12080"/>
            <a:ext cx="5486400" cy="10515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F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534924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EF6C00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5303520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E65100"/>
                </a:solidFill>
                <a:latin typeface="Calibri"/>
              </a:defRPr>
            </a:pPr>
            <a:r>
              <a:t>Poor Communication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669280"/>
            <a:ext cx="47548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No automated notifications for due dates or availability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60" y="5212080"/>
            <a:ext cx="5486400" cy="10515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F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534924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EF6C00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5303520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E65100"/>
                </a:solidFill>
                <a:latin typeface="Calibri"/>
              </a:defRPr>
            </a:pPr>
            <a:r>
              <a:t>Scalability Issues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669280"/>
            <a:ext cx="47548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System cannot handle growing student population efficiently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Proposed System - SmartLib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BBBFF"/>
                </a:solidFill>
                <a:latin typeface="Calibri"/>
              </a:defRPr>
            </a:pPr>
            <a:r>
              <a:t>Key Modules &amp;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24242"/>
                </a:solidFill>
                <a:latin typeface="Calibri"/>
              </a:defRPr>
            </a:pPr>
            <a:r>
              <a:t>SmartLib is a web-based Library Management System designed to digitize and automate all core library operations.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26517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148840"/>
            <a:ext cx="2560320" cy="5029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94560"/>
            <a:ext cx="23774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User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88920"/>
            <a:ext cx="2286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Registration, login, roles</a:t>
            </a:r>
            <a:br/>
            <a:r>
              <a:t>(Student, Librarian, Admin)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2103120"/>
            <a:ext cx="26517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35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2148840"/>
            <a:ext cx="2560320" cy="50292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194560"/>
            <a:ext cx="23774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Catalog Management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788920"/>
            <a:ext cx="2286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Add, update, search books;</a:t>
            </a:r>
            <a:br/>
            <a:r>
              <a:t>categories &amp; ISBN tracking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103120"/>
            <a:ext cx="26517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148840"/>
            <a:ext cx="2560320" cy="502920"/>
          </a:xfrm>
          <a:prstGeom prst="rect">
            <a:avLst/>
          </a:prstGeom>
          <a:solidFill>
            <a:srgbClr val="0069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194560"/>
            <a:ext cx="23774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Borrowing &amp; Returning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788920"/>
            <a:ext cx="2286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Issue books, track due dates,</a:t>
            </a:r>
            <a:br/>
            <a:r>
              <a:t>process returns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2103120"/>
            <a:ext cx="26517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2148840"/>
            <a:ext cx="256032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94560"/>
            <a:ext cx="23774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Fine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788920"/>
            <a:ext cx="2286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Auto-calculate overdue fines,</a:t>
            </a:r>
            <a:br/>
            <a:r>
              <a:t>payment tracking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389120"/>
            <a:ext cx="26517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434840"/>
            <a:ext cx="2560320" cy="50292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480560"/>
            <a:ext cx="23774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Reservations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074920"/>
            <a:ext cx="2286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Reserve unavailable books,</a:t>
            </a:r>
            <a:br/>
            <a:r>
              <a:t>queue management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4389120"/>
            <a:ext cx="26517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83280" y="4434840"/>
            <a:ext cx="2560320" cy="5029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4480560"/>
            <a:ext cx="23774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Reports &amp; Analytics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5074920"/>
            <a:ext cx="2286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Usage stats, popular books,</a:t>
            </a:r>
            <a:br/>
            <a:r>
              <a:t>overdue reports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389120"/>
            <a:ext cx="26517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4434840"/>
            <a:ext cx="2560320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4480560"/>
            <a:ext cx="23774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Notifications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74920"/>
            <a:ext cx="2286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Email/SMS alerts for due dates,</a:t>
            </a:r>
            <a:br/>
            <a:r>
              <a:t>availability, fines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SWOT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486400" cy="24688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539496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120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7452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Automated &amp; efficient library operations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Real-time book availability tracking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User-friendly web interface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Centralized data management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80160"/>
            <a:ext cx="5486400" cy="246888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325880"/>
            <a:ext cx="5394960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71600"/>
            <a:ext cx="5120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7452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Requires stable internet connection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Initial training needed for staff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Development &amp; maintenance costs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Data migration from paper records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23360"/>
            <a:ext cx="5486400" cy="2468880"/>
          </a:xfrm>
          <a:prstGeom prst="roundRect">
            <a:avLst/>
          </a:prstGeom>
          <a:solidFill>
            <a:srgbClr val="E0F7FA"/>
          </a:solidFill>
          <a:ln w="25400">
            <a:solidFill>
              <a:srgbClr val="006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069080"/>
            <a:ext cx="5394960" cy="502920"/>
          </a:xfrm>
          <a:prstGeom prst="rect">
            <a:avLst/>
          </a:prstGeom>
          <a:solidFill>
            <a:srgbClr val="0069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5120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61772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Expand to multi-campus libraries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Integrate e-book &amp; digital resources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Mobile app development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AI-powered book recommendations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023360"/>
            <a:ext cx="5486400" cy="246888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F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069080"/>
            <a:ext cx="5394960" cy="50292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4114800"/>
            <a:ext cx="5120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61772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Cybersecurity &amp; data breach risks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Resistance to change from staff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Technology obsolescence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Budget constraints for upgrades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Feasibility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566928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0" cy="5486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FFFFFF"/>
                </a:solidFill>
                <a:latin typeface="Calibri"/>
              </a:defRPr>
            </a:pPr>
            <a:r>
              <a:t>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1732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A237E"/>
                </a:solidFill>
                <a:latin typeface="Calibri"/>
              </a:defRPr>
            </a:pPr>
            <a:r>
              <a:t>Technical Feasibility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65960"/>
            <a:ext cx="493776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Web technologies (HTML, CSS, JS) widely available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Open-source tools reduce dependency on vendors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Team has required development skills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280160"/>
            <a:ext cx="566928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371600"/>
            <a:ext cx="548640" cy="5486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37160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FFFFFF"/>
                </a:solidFill>
                <a:latin typeface="Calibri"/>
              </a:defRPr>
            </a:pPr>
            <a:r>
              <a:t>$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41732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E7D32"/>
                </a:solidFill>
                <a:latin typeface="Calibri"/>
              </a:defRPr>
            </a:pPr>
            <a:r>
              <a:t>Economic Feasibility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965960"/>
            <a:ext cx="493776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Low development cost using free/open-source tools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Reduces long-term labor costs for manual processes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ROI achieved within first year of deployment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023360"/>
            <a:ext cx="566928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114800"/>
            <a:ext cx="548640" cy="54864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1480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FFFFFF"/>
                </a:solidFill>
                <a:latin typeface="Calibri"/>
              </a:defRPr>
            </a:pPr>
            <a:r>
              <a:t>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6052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EF6C00"/>
                </a:solidFill>
                <a:latin typeface="Calibri"/>
              </a:defRPr>
            </a:pPr>
            <a:r>
              <a:t>Operational Feasibility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709160"/>
            <a:ext cx="493776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Intuitive UI minimizes training requirements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Phased rollout reduces disruption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Staff receptive to digital transformation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4023360"/>
            <a:ext cx="566928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4114800"/>
            <a:ext cx="548640" cy="5486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11480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FFFFFF"/>
                </a:solidFill>
                <a:latin typeface="Calibri"/>
              </a:defRPr>
            </a:pPr>
            <a:r>
              <a:t>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16052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6A1B9A"/>
                </a:solidFill>
                <a:latin typeface="Calibri"/>
              </a:defRPr>
            </a:pPr>
            <a:r>
              <a:t>Schedule Feasibility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709160"/>
            <a:ext cx="493776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14-week timeline with 7 Agile sprints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Milestones align with academic semester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Parallel development of independent modules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Project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577840" cy="141732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72768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508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A237E"/>
                </a:solidFill>
                <a:latin typeface="Calibri"/>
              </a:defRPr>
            </a:pPr>
            <a:r>
              <a:t>Time 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87452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Project must be completed within 14 weeks (one academic semester)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5577840" cy="141732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92240" y="1554480"/>
            <a:ext cx="457200" cy="45720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572768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508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A237E"/>
                </a:solidFill>
                <a:latin typeface="Calibri"/>
              </a:defRPr>
            </a:pPr>
            <a:r>
              <a:t>Budget Constraint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187452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Limited to university-allocated budget; must use free/open-source tools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063240"/>
            <a:ext cx="5577840" cy="141732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2004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A237E"/>
                </a:solidFill>
                <a:latin typeface="Calibri"/>
              </a:defRPr>
            </a:pPr>
            <a:r>
              <a:t>Technology Constraint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56616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Must use web technologies compatible with university infrastructure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3063240"/>
            <a:ext cx="5577840" cy="141732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0" y="3246120"/>
            <a:ext cx="457200" cy="45720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264408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2004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A237E"/>
                </a:solidFill>
                <a:latin typeface="Calibri"/>
              </a:defRPr>
            </a:pPr>
            <a:r>
              <a:t>Resource Constraint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356616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Team of 5 members with varying skill levels and availability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754880"/>
            <a:ext cx="5577840" cy="141732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0080" y="4937760"/>
            <a:ext cx="457200" cy="45720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956048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89204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A237E"/>
                </a:solidFill>
                <a:latin typeface="Calibri"/>
              </a:defRPr>
            </a:pPr>
            <a:r>
              <a:t>Scope Constraint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25780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System limited to single campus library; multi-branch is out of scope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4754880"/>
            <a:ext cx="5577840" cy="141732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92240" y="4937760"/>
            <a:ext cx="457200" cy="45720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956048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489204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A237E"/>
                </a:solidFill>
                <a:latin typeface="Calibri"/>
              </a:defRPr>
            </a:pPr>
            <a:r>
              <a:t>Security Constraint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525780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Must comply with university data protection policies for student records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Project Timeline - Gantt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BBBFF"/>
                </a:solidFill>
                <a:latin typeface="Calibri"/>
              </a:defRPr>
            </a:pPr>
            <a:r>
              <a:t>14-Week Sprint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9</a:t>
            </a:r>
          </a:p>
        </p:txBody>
      </p:sp>
      <p:pic>
        <p:nvPicPr>
          <p:cNvPr id="9" name="Picture 8" descr="gant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Methodology - Agile (Scrum)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BBBFF"/>
                </a:solidFill>
                <a:latin typeface="Calibri"/>
              </a:defRPr>
            </a:pPr>
            <a:r>
              <a:t>Iterative Development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80160"/>
            <a:ext cx="5029200" cy="274320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A237E"/>
                </a:solidFill>
                <a:latin typeface="Calibri"/>
              </a:defRPr>
            </a:pPr>
            <a:r>
              <a:t>Why Scrum?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4663440" cy="21945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Iterative &amp; incremental development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Flexibility to adapt to changing requirements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Frequent deliverables every 2 weeks (sprints)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Continuous feedback from stakeholders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Clear roles: Product Owner, Scrum Master, Dev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280160"/>
            <a:ext cx="5943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A237E"/>
                </a:solidFill>
                <a:latin typeface="Calibri"/>
              </a:defRPr>
            </a:pPr>
            <a:r>
              <a:t>Sprint Structure (7 Sprints)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828800"/>
            <a:ext cx="1188720" cy="45720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187452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Sprint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87452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Project Planning &amp; Requirements Gathering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2468880"/>
            <a:ext cx="1188720" cy="45720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251460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Sprint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5146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System Analysis &amp; Architecture Design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3108960"/>
            <a:ext cx="1188720" cy="45720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315468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Sprint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15468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Database Design &amp; Backend Development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3749040"/>
            <a:ext cx="1188720" cy="45720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79476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Sprint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794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User Management &amp; Catalog Module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0" y="4389120"/>
            <a:ext cx="1188720" cy="45720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44348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Sprint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43484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Borrowing, Fines &amp; Reservations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5029200"/>
            <a:ext cx="1188720" cy="45720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507492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Sprint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07492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Reports, Notifications &amp; UI Polish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5669280"/>
            <a:ext cx="1188720" cy="45720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571500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Sprint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7150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24242"/>
                </a:solidFill>
                <a:latin typeface="Calibri"/>
              </a:defRPr>
            </a:pPr>
            <a:r>
              <a:t>Integration Testing &amp; Deployment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389120"/>
            <a:ext cx="5029200" cy="19202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480560"/>
            <a:ext cx="46634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E7D32"/>
                </a:solidFill>
                <a:latin typeface="Calibri"/>
              </a:defRPr>
            </a:pPr>
            <a:r>
              <a:t>Key Scrum Practices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846320"/>
            <a:ext cx="4663440" cy="13716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Daily Stand-up Meetings (15 min)</a:t>
            </a:r>
          </a:p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Sprint Planning &amp; Sprint Review</a:t>
            </a:r>
          </a:p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Retrospectives after each sprint</a:t>
            </a:r>
          </a:p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Product Backlog &amp; Sprint Backlog management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Fact-Finding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BBBFF"/>
                </a:solidFill>
                <a:latin typeface="Calibri"/>
              </a:defRPr>
            </a:pPr>
            <a:r>
              <a:t>Data Collection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566928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5577840" cy="5029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5303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Calibri"/>
              </a:defRPr>
            </a:pPr>
            <a:r>
              <a:t>Interviews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12064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5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Conducted with librarians, students, and admin staff</a:t>
            </a:r>
          </a:p>
          <a:p>
            <a:pPr>
              <a:lnSpc>
                <a:spcPts val="1800"/>
              </a:lnSpc>
              <a:spcBef>
                <a:spcPts val="5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Gathered pain points and feature expectations</a:t>
            </a:r>
          </a:p>
          <a:p>
            <a:pPr>
              <a:lnSpc>
                <a:spcPts val="1800"/>
              </a:lnSpc>
              <a:spcBef>
                <a:spcPts val="5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Structured &amp; semi-structured format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566928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577840" cy="502920"/>
          </a:xfrm>
          <a:prstGeom prst="rect">
            <a:avLst/>
          </a:prstGeom>
          <a:solidFill>
            <a:srgbClr val="0069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463040"/>
            <a:ext cx="5303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Calibri"/>
              </a:defRPr>
            </a:pPr>
            <a:r>
              <a:t>Surveys / Questionnaires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011680"/>
            <a:ext cx="512064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5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Distributed to 200+ students online</a:t>
            </a:r>
          </a:p>
          <a:p>
            <a:pPr>
              <a:lnSpc>
                <a:spcPts val="1800"/>
              </a:lnSpc>
              <a:spcBef>
                <a:spcPts val="5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Quantitative data on usage patterns</a:t>
            </a:r>
          </a:p>
          <a:p>
            <a:pPr>
              <a:lnSpc>
                <a:spcPts val="1800"/>
              </a:lnSpc>
              <a:spcBef>
                <a:spcPts val="5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Rated importance of proposed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4023360"/>
            <a:ext cx="566928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4069080"/>
            <a:ext cx="557784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5303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Calibri"/>
              </a:defRPr>
            </a:pPr>
            <a:r>
              <a:t>Observation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63440"/>
            <a:ext cx="512064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5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Observed daily library operations on-site</a:t>
            </a:r>
          </a:p>
          <a:p>
            <a:pPr>
              <a:lnSpc>
                <a:spcPts val="1800"/>
              </a:lnSpc>
              <a:spcBef>
                <a:spcPts val="5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Identified bottlenecks in manual workflows</a:t>
            </a:r>
          </a:p>
          <a:p>
            <a:pPr>
              <a:lnSpc>
                <a:spcPts val="1800"/>
              </a:lnSpc>
              <a:spcBef>
                <a:spcPts val="5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Noted peak hours and resource usage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023360"/>
            <a:ext cx="566928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5577840" cy="5029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114800"/>
            <a:ext cx="5303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Calibri"/>
              </a:defRPr>
            </a:pPr>
            <a:r>
              <a:t>Document Analysis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663440"/>
            <a:ext cx="512064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5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Reviewed existing paper forms and logs</a:t>
            </a:r>
          </a:p>
          <a:p>
            <a:pPr>
              <a:lnSpc>
                <a:spcPts val="1800"/>
              </a:lnSpc>
              <a:spcBef>
                <a:spcPts val="5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Analyzed library policies and regulations</a:t>
            </a:r>
          </a:p>
          <a:p>
            <a:pPr>
              <a:lnSpc>
                <a:spcPts val="1800"/>
              </a:lnSpc>
              <a:spcBef>
                <a:spcPts val="500"/>
              </a:spcBef>
              <a:spcAft>
                <a:spcPts val="2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Studied similar systems for benchmarking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Functional 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097280" cy="457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54480" y="1280160"/>
            <a:ext cx="2743200" cy="457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280160"/>
            <a:ext cx="7406640" cy="457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32588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Requirement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325880"/>
            <a:ext cx="7406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737360"/>
            <a:ext cx="109728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54480" y="1737360"/>
            <a:ext cx="274320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737360"/>
            <a:ext cx="740664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783080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A237E"/>
                </a:solidFill>
                <a:latin typeface="Calibri"/>
              </a:defRPr>
            </a:pPr>
            <a:r>
              <a:t>FR-01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178308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User Registration &amp; Login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1783080"/>
            <a:ext cx="7223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Students, librarians, and admins can register and log in securely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12848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54480" y="2212848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2212848"/>
            <a:ext cx="7406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258568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A237E"/>
                </a:solidFill>
                <a:latin typeface="Calibri"/>
              </a:defRPr>
            </a:pPr>
            <a:r>
              <a:t>FR-02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2258568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Book Search &amp; Browse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258568"/>
            <a:ext cx="7223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Search catalog by title, author, ISBN, or category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688336"/>
            <a:ext cx="109728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54480" y="2688336"/>
            <a:ext cx="274320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80" y="2688336"/>
            <a:ext cx="740664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734056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A237E"/>
                </a:solidFill>
                <a:latin typeface="Calibri"/>
              </a:defRPr>
            </a:pPr>
            <a:r>
              <a:t>FR-03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2734056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Book Borrowing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2734056"/>
            <a:ext cx="7223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Students can borrow available books with due date tracking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163824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54480" y="3163824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97680" y="3163824"/>
            <a:ext cx="7406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209544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A237E"/>
                </a:solidFill>
                <a:latin typeface="Calibri"/>
              </a:defRPr>
            </a:pPr>
            <a:r>
              <a:t>FR-04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3209544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Book Returning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209544"/>
            <a:ext cx="7223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Process returns and update book availability in real-time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39312"/>
            <a:ext cx="109728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554480" y="3639312"/>
            <a:ext cx="274320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97680" y="3639312"/>
            <a:ext cx="740664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685032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A237E"/>
                </a:solidFill>
                <a:latin typeface="Calibri"/>
              </a:defRPr>
            </a:pPr>
            <a:r>
              <a:t>FR-05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45920" y="3685032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Fine Calculation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3685032"/>
            <a:ext cx="7223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Automatically calculate and display overdue fines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14800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554480" y="4114800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97680" y="4114800"/>
            <a:ext cx="7406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4160520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A237E"/>
                </a:solidFill>
                <a:latin typeface="Calibri"/>
              </a:defRPr>
            </a:pPr>
            <a:r>
              <a:t>FR-06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45920" y="416052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Book Reservation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4160520"/>
            <a:ext cx="7223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Reserve books that are currently borrowed by others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90288"/>
            <a:ext cx="109728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554480" y="4590288"/>
            <a:ext cx="274320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97680" y="4590288"/>
            <a:ext cx="740664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4636008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A237E"/>
                </a:solidFill>
                <a:latin typeface="Calibri"/>
              </a:defRPr>
            </a:pPr>
            <a:r>
              <a:t>FR-07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45920" y="4636008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User Profile Management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89120" y="4636008"/>
            <a:ext cx="7223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View/edit profile, borrowing history, and active fines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5065776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554480" y="5065776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7680" y="5065776"/>
            <a:ext cx="7406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5111496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A237E"/>
                </a:solidFill>
                <a:latin typeface="Calibri"/>
              </a:defRPr>
            </a:pPr>
            <a:r>
              <a:t>FR-08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45920" y="5111496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Admin Dashboard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9120" y="5111496"/>
            <a:ext cx="7223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Manage books, users, and view system-wide statistics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541264"/>
            <a:ext cx="109728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554480" y="5541264"/>
            <a:ext cx="274320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97680" y="5541264"/>
            <a:ext cx="7406640" cy="457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920" y="5586984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A237E"/>
                </a:solidFill>
                <a:latin typeface="Calibri"/>
              </a:defRPr>
            </a:pPr>
            <a:r>
              <a:t>FR-09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5920" y="5586984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Report Generation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89120" y="5586984"/>
            <a:ext cx="7223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Generate reports on borrowing trends, popular books, overdue items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6016752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54480" y="6016752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297680" y="6016752"/>
            <a:ext cx="7406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062472"/>
            <a:ext cx="1005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A237E"/>
                </a:solidFill>
                <a:latin typeface="Calibri"/>
              </a:defRPr>
            </a:pPr>
            <a:r>
              <a:t>FR-10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45920" y="6062472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Notifications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9120" y="6062472"/>
            <a:ext cx="7223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Send alerts for due dates, reservation availability, and fines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Non-Functional 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71600"/>
            <a:ext cx="27432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4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12121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50876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237E"/>
                </a:solidFill>
                <a:latin typeface="Calibri"/>
              </a:defRPr>
            </a:pPr>
            <a:r>
              <a:t>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65960"/>
            <a:ext cx="237744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Page load time &lt; 3 seconds</a:t>
            </a:r>
          </a:p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Support 500+ concurrent users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1371600"/>
            <a:ext cx="27432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46304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12121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150876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237E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1965960"/>
            <a:ext cx="237744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Encrypted passwords (bcrypt hashing)</a:t>
            </a:r>
          </a:p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Role-based access control (RBAC)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371600"/>
            <a:ext cx="27432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46304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12121"/>
                </a:solidFill>
                <a:latin typeface="Calibri"/>
              </a:defRPr>
            </a:pPr>
            <a:r>
              <a:t>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50876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237E"/>
                </a:solidFill>
                <a:latin typeface="Calibri"/>
              </a:defRPr>
            </a:pPr>
            <a:r>
              <a:t>Usability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965960"/>
            <a:ext cx="237744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Intuitive interface, minimal training</a:t>
            </a:r>
          </a:p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Responsive design for all devices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1371600"/>
            <a:ext cx="27432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146304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12121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150876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237E"/>
                </a:solidFill>
                <a:latin typeface="Calibri"/>
              </a:defRPr>
            </a:pPr>
            <a:r>
              <a:t>Reliability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965960"/>
            <a:ext cx="237744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99.5% uptime during academic hours</a:t>
            </a:r>
          </a:p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Automated daily backups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4023360"/>
            <a:ext cx="27432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1148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12121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1605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237E"/>
                </a:solidFill>
                <a:latin typeface="Calibri"/>
              </a:defRPr>
            </a:pPr>
            <a:r>
              <a:t>Scalability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237744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Handle 100,000+ book records</a:t>
            </a:r>
          </a:p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Support future multi-campus expansion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4023360"/>
            <a:ext cx="27432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41148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12121"/>
                </a:solidFill>
                <a:latin typeface="Calibri"/>
              </a:defRPr>
            </a:pPr>
            <a:r>
              <a:t>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40" y="41605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237E"/>
                </a:solidFill>
                <a:latin typeface="Calibri"/>
              </a:defRPr>
            </a:pPr>
            <a:r>
              <a:t>Maintainability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4617720"/>
            <a:ext cx="237744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Modular architecture for easy updates</a:t>
            </a:r>
          </a:p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Comprehensive code documentation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4023360"/>
            <a:ext cx="27432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41148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12121"/>
                </a:solidFill>
                <a:latin typeface="Calibri"/>
              </a:defRPr>
            </a:pPr>
            <a:r>
              <a:t>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41605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237E"/>
                </a:solidFill>
                <a:latin typeface="Calibri"/>
              </a:defRPr>
            </a:pPr>
            <a:r>
              <a:t>Compatibility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617720"/>
            <a:ext cx="237744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Cross-browser (Chrome, Firefox, Edge)</a:t>
            </a:r>
          </a:p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Mobile-responsive layout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4023360"/>
            <a:ext cx="27432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41148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12121"/>
                </a:solidFill>
                <a:latin typeface="Calibri"/>
              </a:defRPr>
            </a:pPr>
            <a:r>
              <a:t>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41605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237E"/>
                </a:solidFill>
                <a:latin typeface="Calibri"/>
              </a:defRPr>
            </a:pPr>
            <a:r>
              <a:t>Data Integrity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4617720"/>
            <a:ext cx="2377440" cy="1645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Transaction logging for all operations</a:t>
            </a:r>
          </a:p>
          <a:p>
            <a:pPr>
              <a:lnSpc>
                <a:spcPts val="1500"/>
              </a:lnSpc>
              <a:spcBef>
                <a:spcPts val="300"/>
              </a:spcBef>
              <a:spcAft>
                <a:spcPts val="1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t>•  Input validation on all forms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Context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BBBFF"/>
                </a:solidFill>
                <a:latin typeface="Calibri"/>
              </a:defRPr>
            </a:pPr>
            <a:r>
              <a:t>System Boundary &amp; External Entities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14</a:t>
            </a:r>
          </a:p>
        </p:txBody>
      </p:sp>
      <p:pic>
        <p:nvPicPr>
          <p:cNvPr id="9" name="Picture 8" descr="contex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Flow Diagram - Level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BBBFF"/>
                </a:solidFill>
                <a:latin typeface="Calibri"/>
              </a:defRPr>
            </a:pPr>
            <a:r>
              <a:t>High-Level Data 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15</a:t>
            </a:r>
          </a:p>
        </p:txBody>
      </p:sp>
      <p:pic>
        <p:nvPicPr>
          <p:cNvPr id="9" name="Picture 8" descr="dfd_leve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UML - Use Case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BBBFF"/>
                </a:solidFill>
                <a:latin typeface="Calibri"/>
              </a:defRPr>
            </a:pPr>
            <a:r>
              <a:t>Actors &amp; System Use Cases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16</a:t>
            </a:r>
          </a:p>
        </p:txBody>
      </p:sp>
      <p:pic>
        <p:nvPicPr>
          <p:cNvPr id="9" name="Picture 8" descr="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UML - Activity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BBBFF"/>
                </a:solidFill>
                <a:latin typeface="Calibri"/>
              </a:defRPr>
            </a:pPr>
            <a:r>
              <a:t>Borrow Book Process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17</a:t>
            </a:r>
          </a:p>
        </p:txBody>
      </p:sp>
      <p:pic>
        <p:nvPicPr>
          <p:cNvPr id="9" name="Picture 8" descr="activity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Entity Relationship Diagram (ERD)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BBBFF"/>
                </a:solidFill>
                <a:latin typeface="Calibri"/>
              </a:defRPr>
            </a:pPr>
            <a:r>
              <a:t>Database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18</a:t>
            </a:r>
          </a:p>
        </p:txBody>
      </p:sp>
      <p:pic>
        <p:nvPicPr>
          <p:cNvPr id="9" name="Picture 8" descr="er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Interface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BBBFF"/>
                </a:solidFill>
                <a:latin typeface="Calibri"/>
              </a:defRPr>
            </a:pPr>
            <a:r>
              <a:t>UI Mockups &amp; Screen Layouts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371600"/>
            <a:ext cx="3657600" cy="475488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ckup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3383280" cy="3840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4320" y="553212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237E"/>
                </a:solidFill>
                <a:latin typeface="Calibri"/>
              </a:defRPr>
            </a:pPr>
            <a:r>
              <a:t>Login Page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371600"/>
            <a:ext cx="3657600" cy="475488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ckup_book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508760"/>
            <a:ext cx="3383280" cy="3840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06240" y="553212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237E"/>
                </a:solidFill>
                <a:latin typeface="Calibri"/>
              </a:defRPr>
            </a:pPr>
            <a:r>
              <a:t>Book 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657600" cy="475488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ockup_student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508760"/>
            <a:ext cx="3383280" cy="3840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38160" y="553212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237E"/>
                </a:solidFill>
                <a:latin typeface="Calibri"/>
              </a:defRPr>
            </a:pPr>
            <a:r>
              <a:t>Student Dashboard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Development &amp;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BBBFF"/>
                </a:solidFill>
                <a:latin typeface="Calibri"/>
              </a:defRPr>
            </a:pPr>
            <a:r>
              <a:t>Technology Stack &amp;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80160"/>
            <a:ext cx="3657600" cy="292608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32918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A237E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3291840" cy="23774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HTML5 - Page structure &amp; semantics</a:t>
            </a:r>
          </a:p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CSS3 - Styling &amp; responsive design</a:t>
            </a:r>
          </a:p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JavaScript - Interactivity &amp; logic</a:t>
            </a:r>
          </a:p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LocalStorage - Client-side data persistence</a:t>
            </a:r>
          </a:p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Bootstrap - UI component framework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280160"/>
            <a:ext cx="3657600" cy="292608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71600"/>
            <a:ext cx="32918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E7D32"/>
                </a:solidFill>
                <a:latin typeface="Calibri"/>
              </a:defRPr>
            </a:pPr>
            <a:r>
              <a:t>Key Features Implemented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737360"/>
            <a:ext cx="3291840" cy="23774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User authentication (login/register)</a:t>
            </a:r>
          </a:p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Dynamic book catalog with search/filter</a:t>
            </a:r>
          </a:p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Borrow &amp; return workflow</a:t>
            </a:r>
          </a:p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Overdue fine auto-calculation</a:t>
            </a:r>
          </a:p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Reservation queue system</a:t>
            </a:r>
          </a:p>
          <a:p>
            <a:pPr>
              <a:lnSpc>
                <a:spcPts val="1600"/>
              </a:lnSpc>
              <a:spcBef>
                <a:spcPts val="600"/>
              </a:spcBef>
              <a:spcAft>
                <a:spcPts val="3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t>•  Admin dashboard with statistics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280160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A237E"/>
                </a:solidFill>
                <a:latin typeface="Calibri"/>
              </a:defRPr>
            </a:pPr>
            <a:r>
              <a:t>Application Screenshots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1737360"/>
            <a:ext cx="3474720" cy="146304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emo_screensho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828800"/>
            <a:ext cx="3200400" cy="10515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12480" y="2880360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A237E"/>
                </a:solidFill>
                <a:latin typeface="Calibri"/>
              </a:defRPr>
            </a:pPr>
            <a:r>
              <a:t>Home Page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3337560"/>
            <a:ext cx="3474720" cy="146304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emo_screenshot_cat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429000"/>
            <a:ext cx="3200400" cy="1051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0" y="4480560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A237E"/>
                </a:solidFill>
                <a:latin typeface="Calibri"/>
              </a:defRPr>
            </a:pPr>
            <a:r>
              <a:t>Book Catalog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4937760"/>
            <a:ext cx="3474720" cy="146304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emo_screenshot_myboo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5029200"/>
            <a:ext cx="3200400" cy="10515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12480" y="6080760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A237E"/>
                </a:solidFill>
                <a:latin typeface="Calibri"/>
              </a:defRPr>
            </a:pPr>
            <a:r>
              <a:t>My Books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80560"/>
            <a:ext cx="7589520" cy="18288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572000"/>
            <a:ext cx="72237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F6C00"/>
                </a:solidFill>
                <a:latin typeface="Calibri"/>
              </a:defRPr>
            </a:pPr>
            <a:r>
              <a:t>Live Demo Highlights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937760"/>
            <a:ext cx="7223760" cy="1280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Navigate the book catalog and search by title/author/category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Demonstrate the borrow/return workflow with due date tracking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Show fine calculation for overdue books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Admin dashboard: manage books, view statistics and reports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System Security &amp; 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BBBFF"/>
                </a:solidFill>
                <a:latin typeface="Calibri"/>
              </a:defRPr>
            </a:pPr>
            <a:r>
              <a:t>Protection &amp; Recovery Measures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9400"/>
            <a:ext cx="4572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BBBFF"/>
                </a:solidFill>
                <a:latin typeface="Calibri"/>
              </a:defRPr>
            </a:pPr>
            <a:r>
              <a:t>SmartLib -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57575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80160"/>
            <a:ext cx="5669280" cy="48463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303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62828"/>
                </a:solidFill>
                <a:latin typeface="Calibri"/>
              </a:defRPr>
            </a:pPr>
            <a:r>
              <a:t>Security Measures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5303520" cy="42976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User Authentication - Secure login with password hashing (bcrypt)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Role-Based Access Control (RBAC) - Student, Librarian, Admin permissions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Input Validation - Server-side and client-side validation on all forms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Session Management - Secure tokens with automatic timeout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Data Encryption - HTTPS/SSL for all data transmission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SQL Injection Prevention - Parameterized queries throughout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280160"/>
            <a:ext cx="5486400" cy="484632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371600"/>
            <a:ext cx="5120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A237E"/>
                </a:solidFill>
                <a:latin typeface="Calibri"/>
              </a:defRPr>
            </a:pPr>
            <a:r>
              <a:t>Backup &amp; Recovery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737360"/>
            <a:ext cx="5120640" cy="42976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Automated daily database backups at midnight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Weekly full system backups to off-site storage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Incremental backups every 6 hours during peak periods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Point-in-time recovery capability (up to 30 days)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Disaster recovery plan with &lt; 4 hour RTO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300"/>
              </a:spcAft>
              <a:defRPr sz="1500">
                <a:solidFill>
                  <a:srgbClr val="424242"/>
                </a:solidFill>
                <a:latin typeface="Calibri"/>
              </a:defRPr>
            </a:pPr>
            <a:r>
              <a:t>•  Regular backup restoration testing (monthly)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2651760"/>
            <a:ext cx="3017520" cy="36576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327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0">
                <a:solidFill>
                  <a:srgbClr val="BBDEFF"/>
                </a:solidFill>
                <a:latin typeface="Calibri"/>
              </a:defRPr>
            </a:pPr>
            <a:r>
              <a:t>Questions &amp;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3931920"/>
            <a:ext cx="2743200" cy="548640"/>
          </a:xfrm>
          <a:prstGeom prst="round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3977639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A237E"/>
                </a:solidFill>
                <a:latin typeface="Calibri"/>
              </a:defRPr>
            </a:pPr>
            <a:r>
              <a:t>SmartLib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AB00"/>
                </a:solidFill>
                <a:latin typeface="Calibri"/>
              </a:defRPr>
            </a:pPr>
            <a:r>
              <a:t>Presented by: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Member 1  |  Member 2  |  Member 3  |  Member 4  |  Member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0CAF9"/>
                </a:solidFill>
                <a:latin typeface="Calibri"/>
              </a:defRPr>
            </a:pPr>
            <a:r>
              <a:t>Software Engineering Group Assignment  |  April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